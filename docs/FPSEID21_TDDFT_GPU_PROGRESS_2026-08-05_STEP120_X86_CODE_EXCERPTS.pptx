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2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slides/charts/chart3.xml" ContentType="application/vnd.openxmlformats-officedocument.drawingml.chart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b2705a7a784a52" /><Relationship Type="http://schemas.openxmlformats.org/officeDocument/2006/relationships/extended-properties" Target="/docProps/app.xml" Id="R44021058ba644296" /><Relationship Type="http://schemas.openxmlformats.org/officeDocument/2006/relationships/officeDocument" Target="/ppt/presentation.xml" Id="R49388256a5c745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80ba737b9b44e9"/>
  </p:sldMasterIdLst>
  <p:notesMasterIdLst>
    <p:notesMasterId xmlns:r="http://schemas.openxmlformats.org/officeDocument/2006/relationships" r:id="R47446896ba704d54"/>
  </p:notesMasterIdLst>
  <p:sldIdLst>
    <p:sldId xmlns:r="http://schemas.openxmlformats.org/officeDocument/2006/relationships" id="256" r:id="R2ad397cebc294cbd"/>
    <p:sldId xmlns:r="http://schemas.openxmlformats.org/officeDocument/2006/relationships" id="257" r:id="Rd401cab09aa94f34"/>
    <p:sldId xmlns:r="http://schemas.openxmlformats.org/officeDocument/2006/relationships" id="258" r:id="R9044b44e4c8d4020"/>
    <p:sldId xmlns:r="http://schemas.openxmlformats.org/officeDocument/2006/relationships" id="259" r:id="R22c05f12718b451e"/>
    <p:sldId xmlns:r="http://schemas.openxmlformats.org/officeDocument/2006/relationships" id="260" r:id="R4f57706cb6094e9e"/>
    <p:sldId xmlns:r="http://schemas.openxmlformats.org/officeDocument/2006/relationships" id="261" r:id="R14582fcf71204864"/>
    <p:sldId xmlns:r="http://schemas.openxmlformats.org/officeDocument/2006/relationships" id="262" r:id="Rb1e79dad22984d5a"/>
    <p:sldId xmlns:r="http://schemas.openxmlformats.org/officeDocument/2006/relationships" id="263" r:id="Rd8a039be3784481c"/>
    <p:sldId xmlns:r="http://schemas.openxmlformats.org/officeDocument/2006/relationships" id="264" r:id="R8680853f927d49fd"/>
    <p:sldId xmlns:r="http://schemas.openxmlformats.org/officeDocument/2006/relationships" id="265" r:id="R4df293580ee84e15"/>
    <p:sldId xmlns:r="http://schemas.openxmlformats.org/officeDocument/2006/relationships" id="266" r:id="R0a308c33ed8d47ee"/>
    <p:sldId xmlns:r="http://schemas.openxmlformats.org/officeDocument/2006/relationships" id="267" r:id="Rda2efb3443c24ab5"/>
    <p:sldId xmlns:r="http://schemas.openxmlformats.org/officeDocument/2006/relationships" id="268" r:id="Ra90df5705cc44ec9"/>
    <p:sldId xmlns:r="http://schemas.openxmlformats.org/officeDocument/2006/relationships" id="269" r:id="R41320b1e20964dd5"/>
    <p:sldId xmlns:r="http://schemas.openxmlformats.org/officeDocument/2006/relationships" id="270" r:id="Rd6f44afccdd54cb4"/>
    <p:sldId xmlns:r="http://schemas.openxmlformats.org/officeDocument/2006/relationships" id="271" r:id="Rd4a198cae56f4e84"/>
    <p:sldId xmlns:r="http://schemas.openxmlformats.org/officeDocument/2006/relationships" id="272" r:id="Rc8a72ff0c9d14919"/>
    <p:sldId xmlns:r="http://schemas.openxmlformats.org/officeDocument/2006/relationships" id="273" r:id="R4f2a0b9a0b7d47ea"/>
    <p:sldId xmlns:r="http://schemas.openxmlformats.org/officeDocument/2006/relationships" id="274" r:id="Raab81bf84ba14d33"/>
    <p:sldId xmlns:r="http://schemas.openxmlformats.org/officeDocument/2006/relationships" id="275" r:id="Rf4a9e356b1334746"/>
    <p:sldId xmlns:r="http://schemas.openxmlformats.org/officeDocument/2006/relationships" id="276" r:id="R2e9b272092564b43"/>
    <p:sldId xmlns:r="http://schemas.openxmlformats.org/officeDocument/2006/relationships" id="277" r:id="R8ba37f880e444d85"/>
    <p:sldId xmlns:r="http://schemas.openxmlformats.org/officeDocument/2006/relationships" id="278" r:id="R26c7485a5d104c4a"/>
    <p:sldId xmlns:r="http://schemas.openxmlformats.org/officeDocument/2006/relationships" id="279" r:id="R2e21414a247b4a67"/>
    <p:sldId xmlns:r="http://schemas.openxmlformats.org/officeDocument/2006/relationships" id="280" r:id="R8c18278d15af43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5c0c339cfe4cf5" /><Relationship Type="http://schemas.openxmlformats.org/officeDocument/2006/relationships/slideMaster" Target="/ppt/slideMasters/slideMaster1.xml" Id="Ra380ba737b9b44e9" /><Relationship Type="http://schemas.openxmlformats.org/officeDocument/2006/relationships/notesMaster" Target="/ppt/notesMasters/notesMaster1.xml" Id="R47446896ba704d54" /><Relationship Type="http://schemas.openxmlformats.org/officeDocument/2006/relationships/presProps" Target="/ppt/presProps.xml" Id="R052f4fd10832431c" /><Relationship Type="http://schemas.openxmlformats.org/officeDocument/2006/relationships/tableStyles" Target="/ppt/tableStyles.xml" Id="R0693d362e7d94fde" /><Relationship Type="http://schemas.openxmlformats.org/officeDocument/2006/relationships/slide" Target="/ppt/slides/slide1.xml" Id="R2ad397cebc294cbd" /><Relationship Type="http://schemas.openxmlformats.org/officeDocument/2006/relationships/slide" Target="/ppt/slides/slide2.xml" Id="Rd401cab09aa94f34" /><Relationship Type="http://schemas.openxmlformats.org/officeDocument/2006/relationships/slide" Target="/ppt/slides/slide3.xml" Id="R9044b44e4c8d4020" /><Relationship Type="http://schemas.openxmlformats.org/officeDocument/2006/relationships/slide" Target="/ppt/slides/slide4.xml" Id="R22c05f12718b451e" /><Relationship Type="http://schemas.openxmlformats.org/officeDocument/2006/relationships/slide" Target="/ppt/slides/slide5.xml" Id="R4f57706cb6094e9e" /><Relationship Type="http://schemas.openxmlformats.org/officeDocument/2006/relationships/slide" Target="/ppt/slides/slide6.xml" Id="R14582fcf71204864" /><Relationship Type="http://schemas.openxmlformats.org/officeDocument/2006/relationships/slide" Target="/ppt/slides/slide7.xml" Id="Rb1e79dad22984d5a" /><Relationship Type="http://schemas.openxmlformats.org/officeDocument/2006/relationships/slide" Target="/ppt/slides/slide8.xml" Id="Rd8a039be3784481c" /><Relationship Type="http://schemas.openxmlformats.org/officeDocument/2006/relationships/slide" Target="/ppt/slides/slide9.xml" Id="R8680853f927d49fd" /><Relationship Type="http://schemas.openxmlformats.org/officeDocument/2006/relationships/slide" Target="/ppt/slides/slide10.xml" Id="R4df293580ee84e15" /><Relationship Type="http://schemas.openxmlformats.org/officeDocument/2006/relationships/slide" Target="/ppt/slides/slide11.xml" Id="R0a308c33ed8d47ee" /><Relationship Type="http://schemas.openxmlformats.org/officeDocument/2006/relationships/slide" Target="/ppt/slides/slide12.xml" Id="Rda2efb3443c24ab5" /><Relationship Type="http://schemas.openxmlformats.org/officeDocument/2006/relationships/slide" Target="/ppt/slides/slide13.xml" Id="Ra90df5705cc44ec9" /><Relationship Type="http://schemas.openxmlformats.org/officeDocument/2006/relationships/slide" Target="/ppt/slides/slide14.xml" Id="R41320b1e20964dd5" /><Relationship Type="http://schemas.openxmlformats.org/officeDocument/2006/relationships/slide" Target="/ppt/slides/slide15.xml" Id="Rd6f44afccdd54cb4" /><Relationship Type="http://schemas.openxmlformats.org/officeDocument/2006/relationships/slide" Target="/ppt/slides/slide16.xml" Id="Rd4a198cae56f4e84" /><Relationship Type="http://schemas.openxmlformats.org/officeDocument/2006/relationships/slide" Target="/ppt/slides/slide17.xml" Id="Rc8a72ff0c9d14919" /><Relationship Type="http://schemas.openxmlformats.org/officeDocument/2006/relationships/slide" Target="/ppt/slides/slide18.xml" Id="R4f2a0b9a0b7d47ea" /><Relationship Type="http://schemas.openxmlformats.org/officeDocument/2006/relationships/slide" Target="/ppt/slides/slide19.xml" Id="Raab81bf84ba14d33" /><Relationship Type="http://schemas.openxmlformats.org/officeDocument/2006/relationships/slide" Target="/ppt/slides/slide20.xml" Id="Rf4a9e356b1334746" /><Relationship Type="http://schemas.openxmlformats.org/officeDocument/2006/relationships/slide" Target="/ppt/slides/slide21.xml" Id="R2e9b272092564b43" /><Relationship Type="http://schemas.openxmlformats.org/officeDocument/2006/relationships/slide" Target="/ppt/slides/slide22.xml" Id="R8ba37f880e444d85" /><Relationship Type="http://schemas.openxmlformats.org/officeDocument/2006/relationships/slide" Target="/ppt/slides/slide23.xml" Id="R26c7485a5d104c4a" /><Relationship Type="http://schemas.openxmlformats.org/officeDocument/2006/relationships/slide" Target="/ppt/slides/slide24.xml" Id="R2e21414a247b4a67" /><Relationship Type="http://schemas.openxmlformats.org/officeDocument/2006/relationships/slide" Target="/ppt/slides/slide25.xml" Id="R8c18278d15af43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2c2f8a70c645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fa591ea5934d80" /><Relationship Type="http://schemas.openxmlformats.org/officeDocument/2006/relationships/notesMaster" Target="/ppt/notesMasters/notesMaster1.xml" Id="R82577ba99bc847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ac7a2527724ec9" /><Relationship Type="http://schemas.openxmlformats.org/officeDocument/2006/relationships/notesMaster" Target="/ppt/notesMasters/notesMaster1.xml" Id="R9b0a0490bc494d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b0309b92f64656" /><Relationship Type="http://schemas.openxmlformats.org/officeDocument/2006/relationships/notesMaster" Target="/ppt/notesMasters/notesMaster1.xml" Id="R44d28be6685c4a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0342ecd86745e8" /><Relationship Type="http://schemas.openxmlformats.org/officeDocument/2006/relationships/notesMaster" Target="/ppt/notesMasters/notesMaster1.xml" Id="R3dbcb3d774984d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449b98166942b8" /><Relationship Type="http://schemas.openxmlformats.org/officeDocument/2006/relationships/notesMaster" Target="/ppt/notesMasters/notesMaster1.xml" Id="R28749f25916d44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d727a46d1ed483c" /><Relationship Type="http://schemas.openxmlformats.org/officeDocument/2006/relationships/notesMaster" Target="/ppt/notesMasters/notesMaster1.xml" Id="R3c33811f4f0344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123330cc004e1b" /><Relationship Type="http://schemas.openxmlformats.org/officeDocument/2006/relationships/notesMaster" Target="/ppt/notesMasters/notesMaster1.xml" Id="R8d6455c76fe946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bea728095f14c84" /><Relationship Type="http://schemas.openxmlformats.org/officeDocument/2006/relationships/notesMaster" Target="/ppt/notesMasters/notesMaster1.xml" Id="R6124bd24cd5b42b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b209cac72854b67" /><Relationship Type="http://schemas.openxmlformats.org/officeDocument/2006/relationships/notesMaster" Target="/ppt/notesMasters/notesMaster1.xml" Id="Rafa9dcc45ab34ad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171fa4df6814270" /><Relationship Type="http://schemas.openxmlformats.org/officeDocument/2006/relationships/notesMaster" Target="/ppt/notesMasters/notesMaster1.xml" Id="R615f1fa24747439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9e7244c18364b58" /><Relationship Type="http://schemas.openxmlformats.org/officeDocument/2006/relationships/notesMaster" Target="/ppt/notesMasters/notesMaster1.xml" Id="Rac7054b0fd6045d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dfe47be78874988" /><Relationship Type="http://schemas.openxmlformats.org/officeDocument/2006/relationships/notesMaster" Target="/ppt/notesMasters/notesMaster1.xml" Id="R9f773770208d4d9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ed6fd46d51c47dd" /><Relationship Type="http://schemas.openxmlformats.org/officeDocument/2006/relationships/notesMaster" Target="/ppt/notesMasters/notesMaster1.xml" Id="R2ac0d1868e384c6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07359c6b9b844bd" /><Relationship Type="http://schemas.openxmlformats.org/officeDocument/2006/relationships/notesMaster" Target="/ppt/notesMasters/notesMaster1.xml" Id="Rbfcc4900cedb449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ea432f720a84b82" /><Relationship Type="http://schemas.openxmlformats.org/officeDocument/2006/relationships/notesMaster" Target="/ppt/notesMasters/notesMaster1.xml" Id="Rffe87ff90cf940d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74edc45f6f74016" /><Relationship Type="http://schemas.openxmlformats.org/officeDocument/2006/relationships/notesMaster" Target="/ppt/notesMasters/notesMaster1.xml" Id="R98265eb8110849c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b63a228beac4db2" /><Relationship Type="http://schemas.openxmlformats.org/officeDocument/2006/relationships/notesMaster" Target="/ppt/notesMasters/notesMaster1.xml" Id="Rc9e9a934e1f44e8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ddc4650ae06459c" /><Relationship Type="http://schemas.openxmlformats.org/officeDocument/2006/relationships/notesMaster" Target="/ppt/notesMasters/notesMaster1.xml" Id="R4056acf3e536441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88703aed48c4284" /><Relationship Type="http://schemas.openxmlformats.org/officeDocument/2006/relationships/notesMaster" Target="/ppt/notesMasters/notesMaster1.xml" Id="R3b6e9796ab614eb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e2068e41d3748c3" /><Relationship Type="http://schemas.openxmlformats.org/officeDocument/2006/relationships/notesMaster" Target="/ppt/notesMasters/notesMaster1.xml" Id="R78ce76edcfbe468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e61f2ce003d43c2" /><Relationship Type="http://schemas.openxmlformats.org/officeDocument/2006/relationships/notesMaster" Target="/ppt/notesMasters/notesMaster1.xml" Id="R29cf7e70fb8345f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dc5acb2e6ea4b90" /><Relationship Type="http://schemas.openxmlformats.org/officeDocument/2006/relationships/notesMaster" Target="/ppt/notesMasters/notesMaster1.xml" Id="R8aab5eee1943419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8ae318d2b9a4f43" /><Relationship Type="http://schemas.openxmlformats.org/officeDocument/2006/relationships/notesMaster" Target="/ppt/notesMasters/notesMaster1.xml" Id="R2e5db1ee7025475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ca22bf08db3418e" /><Relationship Type="http://schemas.openxmlformats.org/officeDocument/2006/relationships/notesMaster" Target="/ppt/notesMasters/notesMaster1.xml" Id="Ree16adeb1b6e4a8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110b411ff0945d4" /><Relationship Type="http://schemas.openxmlformats.org/officeDocument/2006/relationships/notesMaster" Target="/ppt/notesMasters/notesMaster1.xml" Id="R36447f29106d44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GPU kernelの追加だけでなく、配列常駐、FFT batch化、同期削減を一体で進めた成果を説明する。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docs/POWERPOINT_GPU_IMPLEMENTATION_SUMMARY_JA.md</a:t>
            </a:r>
          </a:p>
          <a:p xmlns:a="http://schemas.openxmlformats.org/drawingml/2006/main">
            <a:r>
              <a:t>- docs/PERFORMANCE_BASELINE.md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A100はStep 107、H100はStep 115。採用済み数値sourceはc46cfa9である。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docs/PERFORMANCE_BASELINE.md</a:t>
            </a:r>
          </a:p>
          <a:p xmlns:a="http://schemas.openxmlformats.org/drawingml/2006/main">
            <a:r>
              <a:t>- docs/HANDOFF.md</a:t>
            </a:r>
          </a:p>
          <a:p xmlns:a="http://schemas.openxmlformats.org/drawingml/2006/main">
            <a:r>
              <a:t>- docs/PROGRESS_REPORT_2026-07-31_JA.md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最新HEADを自動的に正式baselineとせず、数値source、測定revision、ハードウェア系列を分けて管理している。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docs/VALIDATION_WORKFLOW.md</a:t>
            </a:r>
          </a:p>
          <a:p xmlns:a="http://schemas.openxmlformats.org/drawingml/2006/main">
            <a:r>
              <a:t>- docs/PERFORMANCE_BASELINE.md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FPSEID21/tddft_2022October/tmevl10_Avec_v4.f</a:t>
            </a:r>
          </a:p>
          <a:p xmlns:a="http://schemas.openxmlformats.org/drawingml/2006/main">
            <a:r>
              <a:t>- FPSEID21/tddft_2022October/frprmn_tm12_check_Vext_Avec_v4.f</a:t>
            </a:r>
          </a:p>
          <a:p xmlns:a="http://schemas.openxmlformats.org/drawingml/2006/main">
            <a:r>
              <a:t>- FPSEID21/tddft_2022October/electf4_Vext_Avec.f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FPSEID21/tddft_2022October/tmevl10_Avec_v4.f</a:t>
            </a:r>
          </a:p>
          <a:p xmlns:a="http://schemas.openxmlformats.org/drawingml/2006/main">
            <a:r>
              <a:t>- FPSEID21/tddft_2022October/frprmn_tm12_check_Vext_Avec_v4.f</a:t>
            </a:r>
          </a:p>
          <a:p xmlns:a="http://schemas.openxmlformats.org/drawingml/2006/main">
            <a:r>
              <a:t>- FPSEID21/tddft_2022October/fft_cufft.f</a:t>
            </a:r>
          </a:p>
          <a:p xmlns:a="http://schemas.openxmlformats.org/drawingml/2006/main">
            <a:r>
              <a:t>- FPSEID21/tddft_2022October/vpj_gen.f</a:t>
            </a:r>
          </a:p>
          <a:p xmlns:a="http://schemas.openxmlformats.org/drawingml/2006/main">
            <a:r>
              <a:t>- FPSEID21/tddft_2022October/lib4_ASL_2_check_Vext_SXACE.f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その後に追加されたcompute siteはStep 78候補と必ずしも1対1対応しない。したがって39-26をそのまま13件の実装backlogとは扱わない。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docs/PERFORMANCE_BASELINE.md</a:t>
            </a:r>
          </a:p>
          <a:p xmlns:a="http://schemas.openxmlformats.org/drawingml/2006/main">
            <a:r>
              <a:t>- docs/EXPERIMENT_LOG.md (Step 78)</a:t>
            </a:r>
          </a:p>
          <a:p xmlns:a="http://schemas.openxmlformats.org/drawingml/2006/main">
            <a:r>
              <a:t>- tools/report_tddft_source_gpu_index.sh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実装説明ページに採用ソースを直接掲載。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FPSEID21/tddft_2022October/fft_cufft.f</a:t>
            </a:r>
          </a:p>
          <a:p xmlns:a="http://schemas.openxmlformats.org/drawingml/2006/main">
            <a:r>
              <a:t>- FPSEID21/tddft_2022October/fpseid_cufft_wrap.c</a:t>
            </a:r>
          </a:p>
          <a:p xmlns:a="http://schemas.openxmlformats.org/drawingml/2006/main">
            <a:r>
              <a:t>- FPSEID21/tddft_2022October/fft_fftw.f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実装説明ページに採用ソースを直接掲載。原子適用順とreverse phaseの逆順は維持。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FPSEID21/tddft_2022October/tmevl10_Avec_v4.f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実装説明ページに採用ソースを直接掲載。CPU/FFTW側のcoefcp経路は#ifndef _OPENACCで保持。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FPSEID21/tddft_2022October/frprmn_tm12_check_Vext_Avec_v4.f</a:t>
            </a:r>
          </a:p>
          <a:p xmlns:a="http://schemas.openxmlformats.org/drawingml/2006/main">
            <a:r>
              <a:t>- FPSEID21/tddft_2022October/electf4_Vext_Avec.f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実装説明ページに採用ソースを直接掲載。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FPSEID21/tddft_2022October/frprmn_tm12_check_Vext_Avec_v4.f</a:t>
            </a:r>
          </a:p>
          <a:p xmlns:a="http://schemas.openxmlformats.org/drawingml/2006/main">
            <a:r>
              <a:t>- FPSEID21/tddft_2022October/tmevl10_Avec_v4.f</a:t>
            </a:r>
          </a:p>
          <a:p xmlns:a="http://schemas.openxmlformats.org/drawingml/2006/main">
            <a:r>
              <a:t>- FPSEID21/tddft_2022October/pspw_tm11_Vext_Avec_v4_alloc.f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診断runは含めず、A100の採用系列だけを表示している。Step 107は限定COEF常駐の効果。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docs/EXPERIMENT_LOG.md</a:t>
            </a:r>
          </a:p>
          <a:p xmlns:a="http://schemas.openxmlformats.org/drawingml/2006/main">
            <a:r>
              <a:t>- docs/PERFORMANCE_BASELINE.md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docs/PERFORMANCE_BASELINE.md</a:t>
            </a:r>
          </a:p>
          <a:p xmlns:a="http://schemas.openxmlformats.org/drawingml/2006/main">
            <a:r>
              <a:t>- docs/STEP120_XEON_GENERATION_SWEEPS.md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採否は正しさだけでなく、同一条件の3回中央値とrun幅を見て判断した。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docs/EXPERIMENT_LOG.md</a:t>
            </a:r>
          </a:p>
          <a:p xmlns:a="http://schemas.openxmlformats.org/drawingml/2006/main">
            <a:r>
              <a:t>- docs/HANDOFF.md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 116は現行数値source c46cfa9の診断であり、profiler wallは正式baselineではない。A100/H100ともnormal checkとrelaxed compareをPASS。融合kernelのaggregate時間は8.254秒／3.185秒でH100が約2.59倍短い。一方、両GPUともGrid 32 × Block 256、Achieved Occupancy 12.50%であり、tutorial入力の並列幅不足を確認した。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docs/EXPERIMENT_LOG.md (Step 116 A100/H100)</a:t>
            </a:r>
          </a:p>
          <a:p xmlns:a="http://schemas.openxmlformats.org/drawingml/2006/main">
            <a:r>
              <a:t>- docs/PERFORMANCE_BASELINE.md</a:t>
            </a:r>
          </a:p>
          <a:p xmlns:a="http://schemas.openxmlformats.org/drawingml/2006/main">
            <a:r>
              <a:t>- docs/HANDOFF.md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 116のA100/H100 current-source profile取得は完了。MPSとGPU側MPI rank増加は調査のみで終了し、実行対象にしない。次はproduction入力と正解referenceの準備が必要。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docs/HANDOFF.md</a:t>
            </a:r>
          </a:p>
          <a:p xmlns:a="http://schemas.openxmlformats.org/drawingml/2006/main">
            <a:r>
              <a:t>- docs/EXPERIMENT_LOG.md (Step 116)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 116はA100 revision 9e67ad0、H100 revision ac71452で測定し、数値sourceはいずれもc46cfa9。文書・検証・x86測定支援は別commitとして管理する。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docs/HANDOFF.md</a:t>
            </a:r>
          </a:p>
          <a:p xmlns:a="http://schemas.openxmlformats.org/drawingml/2006/main">
            <a:r>
              <a:t>- docs/PERFORMANCE_BASELINE.md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各説明ページの短縮ファイル名を正式なsource pathへ対応させる索引。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FPSEID21/tddft_2022October/</a:t>
            </a:r>
          </a:p>
          <a:p xmlns:a="http://schemas.openxmlformats.org/drawingml/2006/main">
            <a:r>
              <a:t>- tools/run_tddft_x86_8468_8592_sweep.sh</a:t>
            </a:r>
          </a:p>
          <a:p xmlns:a="http://schemas.openxmlformats.org/drawingml/2006/main">
            <a:r>
              <a:t>- docs/POWERPOINT_GPU_IMPLEMENTATION_SUMMARY_JA.md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コードは説明用に宣言と変更のない箇所を省略している。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FPSEID21/tddft_2022October/fft_cufft.f</a:t>
            </a:r>
          </a:p>
          <a:p xmlns:a="http://schemas.openxmlformats.org/drawingml/2006/main">
            <a:r>
              <a:t>- FPSEID21/tddft_2022October/fft_fftw.f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PowerPoint上でコードは通常のテキストボックスとして編集できる。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FPSEID21/tddft_2022October/tmevl10_Avec_v4.f</a:t>
            </a:r>
          </a:p>
          <a:p xmlns:a="http://schemas.openxmlformats.org/drawingml/2006/main">
            <a:r>
              <a:t>- FPSEID21/tddft_2022October/fft_cufft.f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forward/reverseの数値順序を維持したkernel融合である。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FPSEID21/tddft_2022October/tmevl10_Avec_v4.f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authorityを明確にしたうえでGPU経路だけ不要処理を外した。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FPSEID21/tddft_2022October/frprmn_tm12_check_Vext_Avec_v4.f</a:t>
            </a:r>
          </a:p>
          <a:p xmlns:a="http://schemas.openxmlformats.org/drawingml/2006/main">
            <a:r>
              <a:t>- docs/tddft_gpu_progress_summary_ja.md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移し替えやすさを優先したシンプルな編集可能構成である。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docs/POWERPOINT_GPU_IMPLEMENTATION_SUMMARY_JA.md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更新時はPowerPointだけでなく、これら正本文書も同時に確認する。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docs/PERFORMANCE_BASELINE.md</a:t>
            </a:r>
          </a:p>
          <a:p xmlns:a="http://schemas.openxmlformats.org/drawingml/2006/main">
            <a:r>
              <a:t>- docs/EXPERIMENT_LOG.md</a:t>
            </a:r>
          </a:p>
          <a:p xmlns:a="http://schemas.openxmlformats.org/drawingml/2006/main">
            <a:r>
              <a:t>- docs/HANDOFF.md</a:t>
            </a:r>
          </a:p>
          <a:p xmlns:a="http://schemas.openxmlformats.org/drawingml/2006/main">
            <a:r>
              <a:t>- docs/tddft_gpu_progress_summary_ja.md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docs/STEP120_XEON_GENERATION_SWEEPS.md</a:t>
            </a:r>
          </a:p>
          <a:p xmlns:a="http://schemas.openxmlformats.org/drawingml/2006/main">
            <a:r>
              <a:t>- docs/PERFORMANCE_BASELINE.md</a:t>
            </a:r>
          </a:p>
          <a:p xmlns:a="http://schemas.openxmlformats.org/drawingml/2006/main">
            <a:r>
              <a:t>- tools/run_tddft_x86_8468_8592_sweep.sh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docs/STEP119_X86_TIMER_TREE.md</a:t>
            </a:r>
          </a:p>
          <a:p xmlns:a="http://schemas.openxmlformats.org/drawingml/2006/main">
            <a:r>
              <a:t>- docs/STEP120_XEON_GENERATION_SWEEPS.md</a:t>
            </a:r>
          </a:p>
          <a:p xmlns:a="http://schemas.openxmlformats.org/drawingml/2006/main">
            <a:r>
              <a:t>- FPSEID21/tddft_2022October/mod_timer.f90</a:t>
            </a:r>
          </a:p>
          <a:p xmlns:a="http://schemas.openxmlformats.org/drawingml/2006/main">
            <a:r>
              <a:t>Inclusive rank-0 samples; paths and call counts are identical across the three CPU trees.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585d8d070643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aa4473c9ca431b" /><Relationship Type="http://schemas.openxmlformats.org/officeDocument/2006/relationships/slideLayout" Target="/ppt/slideLayouts/slideLayout1.xml" Id="Rf52acbf00cfb43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2acbf00cfb43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9bc29d8faa4705" /><Relationship Type="http://schemas.openxmlformats.org/officeDocument/2006/relationships/notesSlide" Target="/ppt/notesSlides/notesSlide1.xml" Id="R69672f1a0e8344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096dde9b244f6f" /><Relationship Type="http://schemas.openxmlformats.org/officeDocument/2006/relationships/notesSlide" Target="/ppt/notesSlides/notesSlide2.xml" Id="R9df71cc8622b47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6c3b427a454296" /><Relationship Type="http://schemas.openxmlformats.org/officeDocument/2006/relationships/notesSlide" Target="/ppt/notesSlides/notesSlide3.xml" Id="R047b0ebaa19c4b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4e75a9fda14428" /><Relationship Type="http://schemas.openxmlformats.org/officeDocument/2006/relationships/notesSlide" Target="/ppt/notesSlides/notesSlide4.xml" Id="R06c207ab789d48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5aae3883674cab" /><Relationship Type="http://schemas.openxmlformats.org/officeDocument/2006/relationships/notesSlide" Target="/ppt/notesSlides/notesSlide5.xml" Id="R27b710dd808541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94835634a4af2" /><Relationship Type="http://schemas.openxmlformats.org/officeDocument/2006/relationships/notesSlide" Target="/ppt/notesSlides/notesSlide6.xml" Id="Rd4eb05b9af134ab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a63d1e52d1454d" /><Relationship Type="http://schemas.openxmlformats.org/officeDocument/2006/relationships/notesSlide" Target="/ppt/notesSlides/notesSlide7.xml" Id="Rac0eb1afd4844d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7594ade05746fb" /><Relationship Type="http://schemas.openxmlformats.org/officeDocument/2006/relationships/notesSlide" Target="/ppt/notesSlides/notesSlide8.xml" Id="R8b9c8ce87cf445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50dee38bc847f0" /><Relationship Type="http://schemas.openxmlformats.org/officeDocument/2006/relationships/notesSlide" Target="/ppt/notesSlides/notesSlide9.xml" Id="R907a9cb3e436409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ca35bf5ee74805" /><Relationship Type="http://schemas.openxmlformats.org/officeDocument/2006/relationships/notesSlide" Target="/ppt/notesSlides/notesSlide10.xml" Id="R71631b48c55844c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82028ad59e4305" /><Relationship Type="http://schemas.openxmlformats.org/officeDocument/2006/relationships/chart" Target="/ppt/slides/charts/chart1.xml" Id="R7edc2274154f4ce3" /><Relationship Type="http://schemas.openxmlformats.org/officeDocument/2006/relationships/notesSlide" Target="/ppt/notesSlides/notesSlide11.xml" Id="R6fc56795626049d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9e88c72ba84497" /><Relationship Type="http://schemas.openxmlformats.org/officeDocument/2006/relationships/notesSlide" Target="/ppt/notesSlides/notesSlide12.xml" Id="Rb334f277241f437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cfe5621f24073" /><Relationship Type="http://schemas.openxmlformats.org/officeDocument/2006/relationships/notesSlide" Target="/ppt/notesSlides/notesSlide13.xml" Id="Rb30ee4847c57405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0deb39c309482f" /><Relationship Type="http://schemas.openxmlformats.org/officeDocument/2006/relationships/chart" Target="/ppt/slides/charts/chart2.xml" Id="R174ce7825a9d475b" /><Relationship Type="http://schemas.openxmlformats.org/officeDocument/2006/relationships/notesSlide" Target="/ppt/notesSlides/notesSlide14.xml" Id="R35de8546603b410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75986dab164faf" /><Relationship Type="http://schemas.openxmlformats.org/officeDocument/2006/relationships/notesSlide" Target="/ppt/notesSlides/notesSlide15.xml" Id="R7a04f868e4a9436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46d3baad2146d8" /><Relationship Type="http://schemas.openxmlformats.org/officeDocument/2006/relationships/notesSlide" Target="/ppt/notesSlides/notesSlide16.xml" Id="R42aedcd26006461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e9dfcd87784e8f" /><Relationship Type="http://schemas.openxmlformats.org/officeDocument/2006/relationships/notesSlide" Target="/ppt/notesSlides/notesSlide17.xml" Id="R113519b9c08446d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7171be57954e19" /><Relationship Type="http://schemas.openxmlformats.org/officeDocument/2006/relationships/notesSlide" Target="/ppt/notesSlides/notesSlide18.xml" Id="R1123bc3adb64436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2793d778084a0e" /><Relationship Type="http://schemas.openxmlformats.org/officeDocument/2006/relationships/notesSlide" Target="/ppt/notesSlides/notesSlide19.xml" Id="R15e0963e2d24452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3e5192fedf4fcc" /><Relationship Type="http://schemas.openxmlformats.org/officeDocument/2006/relationships/notesSlide" Target="/ppt/notesSlides/notesSlide20.xml" Id="R608d2474b05447c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5e84950cbb4d54" /><Relationship Type="http://schemas.openxmlformats.org/officeDocument/2006/relationships/notesSlide" Target="/ppt/notesSlides/notesSlide21.xml" Id="R0cdd21d114f743b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80df8df57a460b" /><Relationship Type="http://schemas.openxmlformats.org/officeDocument/2006/relationships/notesSlide" Target="/ppt/notesSlides/notesSlide22.xml" Id="Ra969186d47cd4fa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607944464e41c8" /><Relationship Type="http://schemas.openxmlformats.org/officeDocument/2006/relationships/notesSlide" Target="/ppt/notesSlides/notesSlide23.xml" Id="R7fef156c458f4f4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f94c4659e4e8d" /><Relationship Type="http://schemas.openxmlformats.org/officeDocument/2006/relationships/notesSlide" Target="/ppt/notesSlides/notesSlide24.xml" Id="Rfe427d28a1c04ce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77945faa42443c" /><Relationship Type="http://schemas.openxmlformats.org/officeDocument/2006/relationships/chart" Target="/ppt/slides/charts/chart3.xml" Id="R375a33927410474c" /><Relationship Type="http://schemas.openxmlformats.org/officeDocument/2006/relationships/notesSlide" Target="/ppt/notesSlides/notesSlide25.xml" Id="R29809ad0720a491c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100-step wall (秒)</c:v>
          </c:tx>
          <c:spPr>
            <a:ln xmlns:a="http://schemas.openxmlformats.org/drawingml/2006/main" w="38100">
              <a:solidFill>
                <a:srgbClr val="1769AA"/>
              </a:solidFill>
              <a:prstDash val="solid"/>
            </a:ln>
          </c:spPr>
          <c:marker>
            <c:symbol val="circle"/>
            <c:size val="8"/>
          </c:marker>
          <c:cat>
            <c:numLit>
              <c:formatCode>General</c:formatCode>
              <c:ptCount val="11"/>
              <c:pt idx="0">
                <c:v>21</c:v>
              </c:pt>
              <c:pt idx="1">
                <c:v>25</c:v>
              </c:pt>
              <c:pt idx="2">
                <c:v>33</c:v>
              </c:pt>
              <c:pt idx="3">
                <c:v>37</c:v>
              </c:pt>
              <c:pt idx="4">
                <c:v>52</c:v>
              </c:pt>
              <c:pt idx="5">
                <c:v>57</c:v>
              </c:pt>
              <c:pt idx="6">
                <c:v>80</c:v>
              </c:pt>
              <c:pt idx="7">
                <c:v>86</c:v>
              </c:pt>
              <c:pt idx="8">
                <c:v>99</c:v>
              </c:pt>
              <c:pt idx="9">
                <c:v>102</c:v>
              </c:pt>
              <c:pt idx="10">
                <c:v>107</c:v>
              </c:pt>
            </c:numLit>
          </c:cat>
          <c:val>
            <c:numLit>
              <c:formatCode>0.000</c:formatCode>
              <c:ptCount val="11"/>
              <c:pt idx="0">
                <c:v>146.54</c:v>
              </c:pt>
              <c:pt idx="1">
                <c:v>130.608</c:v>
              </c:pt>
              <c:pt idx="2">
                <c:v>116.125</c:v>
              </c:pt>
              <c:pt idx="3">
                <c:v>108.096</c:v>
              </c:pt>
              <c:pt idx="4">
                <c:v>73.437</c:v>
              </c:pt>
              <c:pt idx="5">
                <c:v>71.291</c:v>
              </c:pt>
              <c:pt idx="6">
                <c:v>67.421</c:v>
              </c:pt>
              <c:pt idx="7">
                <c:v>66.502</c:v>
              </c:pt>
              <c:pt idx="8">
                <c:v>64.302</c:v>
              </c:pt>
              <c:pt idx="9">
                <c:v>63.839</c:v>
              </c:pt>
              <c:pt idx="10">
                <c:v>63.214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1F2937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667085"/>
                    </a:solidFill>
                  </a:rPr>
                  <a:t>Logical step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667085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60"/>
          <c:min val="5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667085"/>
                    </a:solidFill>
                  </a:rPr>
                  <a:t>実行時間（秒）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667085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Step 116 kernel時間（秒）</c:v>
          </c:tx>
          <c:spPr>
            <a:solidFill xmlns:a="http://schemas.openxmlformats.org/drawingml/2006/main">
              <a:srgbClr val="1769AA"/>
            </a:solidFill>
          </c:spPr>
          <c:cat>
            <c:strLit>
              <c:ptCount val="4"/>
              <c:pt idx="0">
                <c:v>A100 NL</c:v>
              </c:pt>
              <c:pt idx="1">
                <c:v>H100 NL</c:v>
              </c:pt>
              <c:pt idx="2">
                <c:v>A100 VPJ</c:v>
              </c:pt>
              <c:pt idx="3">
                <c:v>H100 VPJ</c:v>
              </c:pt>
            </c:strLit>
          </c:cat>
          <c:val>
            <c:numLit>
              <c:formatCode>0.000</c:formatCode>
              <c:ptCount val="4"/>
              <c:pt idx="0">
                <c:v>8.254</c:v>
              </c:pt>
              <c:pt idx="1">
                <c:v>3.185</c:v>
              </c:pt>
              <c:pt idx="2">
                <c:v>1.565</c:v>
              </c:pt>
              <c:pt idx="3">
                <c:v>0.718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F293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E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F2937"/>
                </a:solidFill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Xeon 6980P</c:v>
          </c:tx>
          <c:spPr>
            <a:solidFill xmlns:a="http://schemas.openxmlformats.org/drawingml/2006/main">
              <a:srgbClr val="1769AA"/>
            </a:solidFill>
          </c:spPr>
          <c:cat>
            <c:strLit>
              <c:ptCount val="7"/>
              <c:pt idx="0">
                <c:v>force</c:v>
              </c:pt>
              <c:pt idx="1">
                <c:v>S2 FFT</c:v>
              </c:pt>
              <c:pt idx="2">
                <c:v>nonlocal</c:v>
              </c:pt>
              <c:pt idx="3">
                <c:v>tmevl_s2</c:v>
              </c:pt>
              <c:pt idx="4">
                <c:v>tmevl_total</c:v>
              </c:pt>
              <c:pt idx="5">
                <c:v>frprmn</c:v>
              </c:pt>
              <c:pt idx="6">
                <c:v>step total</c:v>
              </c:pt>
            </c:strLit>
          </c:cat>
          <c:val>
            <c:numLit>
              <c:formatCode>General</c:formatCode>
              <c:ptCount val="7"/>
              <c:pt idx="0">
                <c:v>0.572</c:v>
              </c:pt>
              <c:pt idx="1">
                <c:v>2.096</c:v>
              </c:pt>
              <c:pt idx="2">
                <c:v>5.51</c:v>
              </c:pt>
              <c:pt idx="3">
                <c:v>7.616</c:v>
              </c:pt>
              <c:pt idx="4">
                <c:v>10.386</c:v>
              </c:pt>
              <c:pt idx="5">
                <c:v>15.864</c:v>
              </c:pt>
              <c:pt idx="6">
                <c:v>16.478</c:v>
              </c:pt>
            </c:numLit>
          </c:val>
        </c:ser>
        <c:ser>
          <c:idx val="1"/>
          <c:order val="1"/>
          <c:tx>
            <c:v>Xeon 8468</c:v>
          </c:tx>
          <c:spPr>
            <a:solidFill xmlns:a="http://schemas.openxmlformats.org/drawingml/2006/main">
              <a:srgbClr val="C26A00"/>
            </a:solidFill>
          </c:spPr>
          <c:cat>
            <c:strLit>
              <c:ptCount val="7"/>
              <c:pt idx="0">
                <c:v>force</c:v>
              </c:pt>
              <c:pt idx="1">
                <c:v>S2 FFT</c:v>
              </c:pt>
              <c:pt idx="2">
                <c:v>nonlocal</c:v>
              </c:pt>
              <c:pt idx="3">
                <c:v>tmevl_s2</c:v>
              </c:pt>
              <c:pt idx="4">
                <c:v>tmevl_total</c:v>
              </c:pt>
              <c:pt idx="5">
                <c:v>frprmn</c:v>
              </c:pt>
              <c:pt idx="6">
                <c:v>step total</c:v>
              </c:pt>
            </c:strLit>
          </c:cat>
          <c:val>
            <c:numLit>
              <c:formatCode>General</c:formatCode>
              <c:ptCount val="7"/>
              <c:pt idx="0">
                <c:v>0.698</c:v>
              </c:pt>
              <c:pt idx="1">
                <c:v>3.513</c:v>
              </c:pt>
              <c:pt idx="2">
                <c:v>6.746</c:v>
              </c:pt>
              <c:pt idx="3">
                <c:v>10.27</c:v>
              </c:pt>
              <c:pt idx="4">
                <c:v>13.234</c:v>
              </c:pt>
              <c:pt idx="5">
                <c:v>19.869</c:v>
              </c:pt>
              <c:pt idx="6">
                <c:v>20.62</c:v>
              </c:pt>
            </c:numLit>
          </c:val>
        </c:ser>
        <c:ser>
          <c:idx val="2"/>
          <c:order val="2"/>
          <c:tx>
            <c:v>Xeon 8592+</c:v>
          </c:tx>
          <c:spPr>
            <a:solidFill xmlns:a="http://schemas.openxmlformats.org/drawingml/2006/main">
              <a:srgbClr val="2E7D32"/>
            </a:solidFill>
          </c:spPr>
          <c:cat>
            <c:strLit>
              <c:ptCount val="7"/>
              <c:pt idx="0">
                <c:v>force</c:v>
              </c:pt>
              <c:pt idx="1">
                <c:v>S2 FFT</c:v>
              </c:pt>
              <c:pt idx="2">
                <c:v>nonlocal</c:v>
              </c:pt>
              <c:pt idx="3">
                <c:v>tmevl_s2</c:v>
              </c:pt>
              <c:pt idx="4">
                <c:v>tmevl_total</c:v>
              </c:pt>
              <c:pt idx="5">
                <c:v>frprmn</c:v>
              </c:pt>
              <c:pt idx="6">
                <c:v>step total</c:v>
              </c:pt>
            </c:strLit>
          </c:cat>
          <c:val>
            <c:numLit>
              <c:formatCode>General</c:formatCode>
              <c:ptCount val="7"/>
              <c:pt idx="0">
                <c:v>0.699</c:v>
              </c:pt>
              <c:pt idx="1">
                <c:v>3.1</c:v>
              </c:pt>
              <c:pt idx="2">
                <c:v>6.275</c:v>
              </c:pt>
              <c:pt idx="3">
                <c:v>9.388</c:v>
              </c:pt>
              <c:pt idx="4">
                <c:v>12.527</c:v>
              </c:pt>
              <c:pt idx="5">
                <c:v>18.923</c:v>
              </c:pt>
              <c:pt idx="6">
                <c:v>19.669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F2937"/>
                  </a:solidFill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334155"/>
                </a:solidFill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475569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ccent-bar">
            <a:extLst xmlns:a="http://schemas.openxmlformats.org/drawingml/2006/main">
              <a:ext uri="{FF2B5EF4-FFF2-40B4-BE49-F238E27FC236}">
                <a16:creationId xmlns:a16="http://schemas.microsoft.com/office/drawing/2014/main" id="{A7E1FDBF-1A06-455F-B5A7-2AB9497C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97790E37-37E2-47E1-953A-255B905D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28750"/>
            <a:ext cx="981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7324D"/>
                </a:solidFill>
              </a:defRPr>
            </a:pPr>
            <a:r>
              <a:rPr sz="3900" b="1">
                <a:solidFill>
                  <a:srgbClr val="17324D"/>
                </a:solidFill>
              </a:rPr>
              <a:t>FPSEID21 TDDFTの</a:t>
            </a:r>
          </a:p>
          <a:p xmlns:a="http://schemas.openxmlformats.org/drawingml/2006/main">
            <a:pPr algn="l">
              <a:buNone/>
              <a:defRPr sz="3900" b="1">
                <a:solidFill>
                  <a:srgbClr val="17324D"/>
                </a:solidFill>
              </a:defRPr>
            </a:pPr>
            <a:r>
              <a:rPr sz="3900" b="1">
                <a:solidFill>
                  <a:srgbClr val="17324D"/>
                </a:solidFill>
              </a:rPr>
              <a:t>OpenACC／cuFFTによるGPU化</a:t>
            </a:r>
          </a:p>
        </p:txBody>
      </p:sp>
      <p:sp>
        <p:nvSpPr>
          <p:cNvPr id="3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12481F63-8713-4B3A-AB1E-F809D1AC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主要計算のGPU化、データ常駐化、各プラットフォームの性能評価</a:t>
            </a:r>
          </a:p>
        </p:txBody>
      </p:sp>
      <p:sp>
        <p:nvSpPr>
          <p:cNvPr id="4" name="deck-date">
            <a:extLst xmlns:a="http://schemas.openxmlformats.org/drawingml/2006/main">
              <a:ext uri="{FF2B5EF4-FFF2-40B4-BE49-F238E27FC236}">
                <a16:creationId xmlns:a16="http://schemas.microsoft.com/office/drawing/2014/main" id="{249D71A4-B3A2-4FAA-B97C-823ADA50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2026年8月4日</a:t>
            </a:r>
          </a:p>
        </p:txBody>
      </p:sp>
      <p:sp>
        <p:nvSpPr>
          <p:cNvPr id="5" name="deck-scope">
            <a:extLst xmlns:a="http://schemas.openxmlformats.org/drawingml/2006/main">
              <a:ext uri="{FF2B5EF4-FFF2-40B4-BE49-F238E27FC236}">
                <a16:creationId xmlns:a16="http://schemas.microsoft.com/office/drawing/2014/main" id="{CD76A86E-8583-4CFE-84A9-D84752D2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69AA"/>
                </a:solidFill>
              </a:defRPr>
            </a:pPr>
            <a:r>
              <a:rPr sz="1275" b="1">
                <a:solidFill>
                  <a:srgbClr val="1769AA"/>
                </a:solidFill>
              </a:rPr>
              <a:t>Si111-H｜TDDFT 100 steps｜diagnostic OFF</a:t>
            </a:r>
          </a:p>
        </p:txBody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5E2EE30-DD44-4A8C-AA85-D3B8608F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534D4EC1-8B60-43D8-B026-A4E99FA3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626225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820225F-31DB-408E-B483-D3411DF3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2E3C5F7-53F0-4404-9C3D-870E83A9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主要な時間発展処理をGPUへ移し、A100で約2.32倍高速化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6820995-D072-4946-8A30-45D8172C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a100-value">
            <a:extLst xmlns:a="http://schemas.openxmlformats.org/drawingml/2006/main">
              <a:ext uri="{FF2B5EF4-FFF2-40B4-BE49-F238E27FC236}">
                <a16:creationId xmlns:a16="http://schemas.microsoft.com/office/drawing/2014/main" id="{2D1C57EF-370D-4669-9848-5A312DA7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69AA"/>
                </a:solidFill>
              </a:defRPr>
            </a:pPr>
            <a:r>
              <a:rPr sz="2850" b="1">
                <a:solidFill>
                  <a:srgbClr val="1769AA"/>
                </a:solidFill>
              </a:rPr>
              <a:t>63.214秒</a:t>
            </a:r>
          </a:p>
        </p:txBody>
      </p:sp>
      <p:sp>
        <p:nvSpPr>
          <p:cNvPr id="5" name="a100-label">
            <a:extLst xmlns:a="http://schemas.openxmlformats.org/drawingml/2006/main">
              <a:ext uri="{FF2B5EF4-FFF2-40B4-BE49-F238E27FC236}">
                <a16:creationId xmlns:a16="http://schemas.microsoft.com/office/drawing/2014/main" id="{115B1310-E8A1-4E25-B2FB-F3DE4271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1932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A100｜1 GPU × 1 MPI × OMP 1</a:t>
            </a:r>
          </a:p>
        </p:txBody>
      </p:sp>
      <p:sp>
        <p:nvSpPr>
          <p:cNvPr id="6" name="h100-value">
            <a:extLst xmlns:a="http://schemas.openxmlformats.org/drawingml/2006/main">
              <a:ext uri="{FF2B5EF4-FFF2-40B4-BE49-F238E27FC236}">
                <a16:creationId xmlns:a16="http://schemas.microsoft.com/office/drawing/2014/main" id="{8D004629-7C5D-4E30-9045-4A77C9BA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6687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2D9CDB"/>
                </a:solidFill>
              </a:defRPr>
            </a:pPr>
            <a:r>
              <a:rPr sz="2850" b="1">
                <a:solidFill>
                  <a:srgbClr val="2D9CDB"/>
                </a:solidFill>
              </a:rPr>
              <a:t>34.109秒</a:t>
            </a:r>
          </a:p>
        </p:txBody>
      </p:sp>
      <p:sp>
        <p:nvSpPr>
          <p:cNvPr id="7" name="h100-label">
            <a:extLst xmlns:a="http://schemas.openxmlformats.org/drawingml/2006/main">
              <a:ext uri="{FF2B5EF4-FFF2-40B4-BE49-F238E27FC236}">
                <a16:creationId xmlns:a16="http://schemas.microsoft.com/office/drawing/2014/main" id="{D324F732-0D7F-4139-B606-45EAA713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1932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H100｜1 GPU × 1 MPI × OMP 1</a:t>
            </a:r>
          </a:p>
        </p:txBody>
      </p:sp>
      <p:sp>
        <p:nvSpPr>
          <p:cNvPr id="8" name="coverage-value">
            <a:extLst xmlns:a="http://schemas.openxmlformats.org/drawingml/2006/main">
              <a:ext uri="{FF2B5EF4-FFF2-40B4-BE49-F238E27FC236}">
                <a16:creationId xmlns:a16="http://schemas.microsoft.com/office/drawing/2014/main" id="{C0B2C281-445D-4F99-B011-CB8EA836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6687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2E7D32"/>
                </a:solidFill>
              </a:defRPr>
            </a:pPr>
            <a:r>
              <a:rPr sz="2850" b="1">
                <a:solidFill>
                  <a:srgbClr val="2E7D32"/>
                </a:solidFill>
              </a:rPr>
              <a:t>26 / 39</a:t>
            </a:r>
          </a:p>
        </p:txBody>
      </p:sp>
      <p:sp>
        <p:nvSpPr>
          <p:cNvPr id="9" name="coverage-label">
            <a:extLst xmlns:a="http://schemas.openxmlformats.org/drawingml/2006/main">
              <a:ext uri="{FF2B5EF4-FFF2-40B4-BE49-F238E27FC236}">
                <a16:creationId xmlns:a16="http://schemas.microsoft.com/office/drawing/2014/main" id="{ABF889CB-0295-47FD-89CA-4404639D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1932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GPU化候補箇所</a:t>
            </a:r>
          </a:p>
        </p:txBody>
      </p:sp>
      <p:sp>
        <p:nvSpPr>
          <p:cNvPr id="10" name="outcome-box">
            <a:extLst xmlns:a="http://schemas.openxmlformats.org/drawingml/2006/main">
              <a:ext uri="{FF2B5EF4-FFF2-40B4-BE49-F238E27FC236}">
                <a16:creationId xmlns:a16="http://schemas.microsoft.com/office/drawing/2014/main" id="{09A4AAC5-23C2-4E19-8C40-72138B4D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10096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outcome-list">
            <a:extLst xmlns:a="http://schemas.openxmlformats.org/drawingml/2006/main">
              <a:ext uri="{FF2B5EF4-FFF2-40B4-BE49-F238E27FC236}">
                <a16:creationId xmlns:a16="http://schemas.microsoft.com/office/drawing/2014/main" id="{626ED5E3-124C-4449-8DCF-CB12664C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933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A100: 146.540秒から63.214秒へ短縮（約56.9%短縮）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H100: 最新の採用済み数値経路で3回測定の正式baselineを確立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GPU: 1 GPU × 1 MPI rank × OMP 1／x86: 32 MPI × 8 OMP = 256 threads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全正式baselineで計算結果の正常性を確認</a:t>
            </a:r>
          </a:p>
        </p:txBody>
      </p:sp>
      <p:sp>
        <p:nvSpPr>
          <p:cNvPr id="1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3980A5D-9414-4B3C-9FCD-9A371ECE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13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4261E085-2940-41C6-B5AA-CCAAED57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515726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3882BEC-0A8F-402E-BF60-8B50E2FD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55D85AC-2986-4A15-88FF-F04686E0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性能だけでなく、数値一致とCPU経路を採用条件にした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C2EA8C3-72AA-4936-94BF-A41F4DFF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validation-left">
            <a:extLst xmlns:a="http://schemas.openxmlformats.org/drawingml/2006/main">
              <a:ext uri="{FF2B5EF4-FFF2-40B4-BE49-F238E27FC236}">
                <a16:creationId xmlns:a16="http://schemas.microsoft.com/office/drawing/2014/main" id="{788A0E55-DCC4-40D6-9F6E-A434C71F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5048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数式、配列shape、projector適用順を維持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逐次ia更新とreverse適用順を維持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CPU/FFTW版を継続してbuild・実行可能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診断機能をOFFにして性能測定</a:t>
            </a:r>
          </a:p>
        </p:txBody>
      </p:sp>
      <p:sp>
        <p:nvSpPr>
          <p:cNvPr id="5" name="validation-right">
            <a:extLst xmlns:a="http://schemas.openxmlformats.org/drawingml/2006/main">
              <a:ext uri="{FF2B5EF4-FFF2-40B4-BE49-F238E27FC236}">
                <a16:creationId xmlns:a16="http://schemas.microsoft.com/office/drawing/2014/main" id="{CB0E5238-EDD3-4A89-82DC-D7C6CEB1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4857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同一条件で3回実行し中央値で評価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normal checkとrelaxed compareを必須化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run-to-run rangeも記録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効果のない変更は記録後にrevert</a:t>
            </a:r>
          </a:p>
        </p:txBody>
      </p:sp>
      <p:sp>
        <p:nvSpPr>
          <p:cNvPr id="6" name="validation-callout">
            <a:extLst xmlns:a="http://schemas.openxmlformats.org/drawingml/2006/main">
              <a:ext uri="{FF2B5EF4-FFF2-40B4-BE49-F238E27FC236}">
                <a16:creationId xmlns:a16="http://schemas.microsoft.com/office/drawing/2014/main" id="{470B4A8A-377D-4966-ACCC-5FA8590A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57750"/>
            <a:ext cx="9334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7" name="validation-callout-text">
            <a:extLst xmlns:a="http://schemas.openxmlformats.org/drawingml/2006/main">
              <a:ext uri="{FF2B5EF4-FFF2-40B4-BE49-F238E27FC236}">
                <a16:creationId xmlns:a16="http://schemas.microsoft.com/office/drawing/2014/main" id="{7C8E7162-35A4-4AC3-8671-8AD19927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95875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A100・H100・x86は独立したbaseline系列として管理</a:t>
            </a:r>
          </a:p>
        </p:txBody>
      </p:sp>
      <p:sp>
        <p:nvSpPr>
          <p:cNvPr id="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6CCDC45-B2BD-43D3-82BE-A799E9D5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9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20884CB2-851B-4CB3-8D9E-B05BC3C8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719407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CEBB870-5741-4F59-A659-9592350C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76AACE-6A9E-4F82-BBBB-2C7FF4EE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GPU上で処理を連結し、Host往復を減らした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7E6A9A9-E4A1-4663-A974-466D7061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arrow-0">
            <a:extLst xmlns:a="http://schemas.openxmlformats.org/drawingml/2006/main">
              <a:ext uri="{FF2B5EF4-FFF2-40B4-BE49-F238E27FC236}">
                <a16:creationId xmlns:a16="http://schemas.microsoft.com/office/drawing/2014/main" id="{BEE9F067-35B6-4BD7-BFC5-3F9DF211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638425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769AA"/>
                </a:solidFill>
              </a:defRPr>
            </a:pPr>
            <a:r>
              <a:rPr sz="2550" b="1">
                <a:solidFill>
                  <a:srgbClr val="1769AA"/>
                </a:solidFill>
              </a:rPr>
              <a:t>→</a:t>
            </a:r>
          </a:p>
        </p:txBody>
      </p:sp>
      <p:sp>
        <p:nvSpPr>
          <p:cNvPr id="5" name="arrow-1">
            <a:extLst xmlns:a="http://schemas.openxmlformats.org/drawingml/2006/main">
              <a:ext uri="{FF2B5EF4-FFF2-40B4-BE49-F238E27FC236}">
                <a16:creationId xmlns:a16="http://schemas.microsoft.com/office/drawing/2014/main" id="{67E388A5-ADCD-4F8C-9557-FF527049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638425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769AA"/>
                </a:solidFill>
              </a:defRPr>
            </a:pPr>
            <a:r>
              <a:rPr sz="2550" b="1">
                <a:solidFill>
                  <a:srgbClr val="1769AA"/>
                </a:solidFill>
              </a:rPr>
              <a:t>→</a:t>
            </a:r>
          </a:p>
        </p:txBody>
      </p:sp>
      <p:sp>
        <p:nvSpPr>
          <p:cNvPr id="6" name="arrow-2">
            <a:extLst xmlns:a="http://schemas.openxmlformats.org/drawingml/2006/main">
              <a:ext uri="{FF2B5EF4-FFF2-40B4-BE49-F238E27FC236}">
                <a16:creationId xmlns:a16="http://schemas.microsoft.com/office/drawing/2014/main" id="{8A48BE09-E587-4BF3-A5BC-5C3A22BE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38425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769AA"/>
                </a:solidFill>
              </a:defRPr>
            </a:pPr>
            <a:r>
              <a:rPr sz="2550" b="1">
                <a:solidFill>
                  <a:srgbClr val="1769AA"/>
                </a:solidFill>
              </a:rPr>
              <a:t>→</a:t>
            </a:r>
          </a:p>
        </p:txBody>
      </p:sp>
      <p:sp>
        <p:nvSpPr>
          <p:cNvPr id="7" name="arrow-3">
            <a:extLst xmlns:a="http://schemas.openxmlformats.org/drawingml/2006/main">
              <a:ext uri="{FF2B5EF4-FFF2-40B4-BE49-F238E27FC236}">
                <a16:creationId xmlns:a16="http://schemas.microsoft.com/office/drawing/2014/main" id="{00DBC945-6864-4099-8D79-5D6BF9AD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38425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769AA"/>
                </a:solidFill>
              </a:defRPr>
            </a:pPr>
            <a:r>
              <a:rPr sz="2550" b="1">
                <a:solidFill>
                  <a:srgbClr val="1769AA"/>
                </a:solidFill>
              </a:rPr>
              <a:t>→</a:t>
            </a:r>
          </a:p>
        </p:txBody>
      </p:sp>
      <p:sp>
        <p:nvSpPr>
          <p:cNvPr id="8" name="node-75">
            <a:extLst xmlns:a="http://schemas.openxmlformats.org/drawingml/2006/main">
              <a:ext uri="{FF2B5EF4-FFF2-40B4-BE49-F238E27FC236}">
                <a16:creationId xmlns:a16="http://schemas.microsoft.com/office/drawing/2014/main" id="{74B4813C-9BE6-4615-B682-DB67F4FC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1619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9" name="node-label-75">
            <a:extLst xmlns:a="http://schemas.openxmlformats.org/drawingml/2006/main">
              <a:ext uri="{FF2B5EF4-FFF2-40B4-BE49-F238E27FC236}">
                <a16:creationId xmlns:a16="http://schemas.microsoft.com/office/drawing/2014/main" id="{66469664-269F-4FAA-B273-2EECFC0B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24125"/>
            <a:ext cx="1390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Host入力</a:t>
            </a:r>
          </a:p>
        </p:txBody>
      </p:sp>
      <p:sp>
        <p:nvSpPr>
          <p:cNvPr id="10" name="node-315">
            <a:extLst xmlns:a="http://schemas.openxmlformats.org/drawingml/2006/main">
              <a:ext uri="{FF2B5EF4-FFF2-40B4-BE49-F238E27FC236}">
                <a16:creationId xmlns:a16="http://schemas.microsoft.com/office/drawing/2014/main" id="{3467B2F4-A0B8-4FB7-8CA7-7CE207ED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238375"/>
            <a:ext cx="1619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11" name="node-label-315">
            <a:extLst xmlns:a="http://schemas.openxmlformats.org/drawingml/2006/main">
              <a:ext uri="{FF2B5EF4-FFF2-40B4-BE49-F238E27FC236}">
                <a16:creationId xmlns:a16="http://schemas.microsoft.com/office/drawing/2014/main" id="{78792F84-2EBE-4CBC-960E-7AC66DD7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524125"/>
            <a:ext cx="1390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GPU常駐配列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P・COEF・metadata</a:t>
            </a:r>
          </a:p>
        </p:txBody>
      </p:sp>
      <p:sp>
        <p:nvSpPr>
          <p:cNvPr id="12" name="node-610">
            <a:extLst xmlns:a="http://schemas.openxmlformats.org/drawingml/2006/main">
              <a:ext uri="{FF2B5EF4-FFF2-40B4-BE49-F238E27FC236}">
                <a16:creationId xmlns:a16="http://schemas.microsoft.com/office/drawing/2014/main" id="{B7E80C4E-95A5-4EDB-8DC2-751D780E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38375"/>
            <a:ext cx="1619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13" name="node-label-610">
            <a:extLst xmlns:a="http://schemas.openxmlformats.org/drawingml/2006/main">
              <a:ext uri="{FF2B5EF4-FFF2-40B4-BE49-F238E27FC236}">
                <a16:creationId xmlns:a16="http://schemas.microsoft.com/office/drawing/2014/main" id="{8F232531-CAF1-47E8-9125-29D3312A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524125"/>
            <a:ext cx="1390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OpenACC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kernel</a:t>
            </a:r>
          </a:p>
        </p:txBody>
      </p:sp>
      <p:sp>
        <p:nvSpPr>
          <p:cNvPr id="14" name="node-840">
            <a:extLst xmlns:a="http://schemas.openxmlformats.org/drawingml/2006/main">
              <a:ext uri="{FF2B5EF4-FFF2-40B4-BE49-F238E27FC236}">
                <a16:creationId xmlns:a16="http://schemas.microsoft.com/office/drawing/2014/main" id="{46FBE626-88A4-44EA-AA99-88D2C58E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38375"/>
            <a:ext cx="1619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15" name="node-label-840">
            <a:extLst xmlns:a="http://schemas.openxmlformats.org/drawingml/2006/main">
              <a:ext uri="{FF2B5EF4-FFF2-40B4-BE49-F238E27FC236}">
                <a16:creationId xmlns:a16="http://schemas.microsoft.com/office/drawing/2014/main" id="{6C793C00-7D66-4B60-8AA5-77B13781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24125"/>
            <a:ext cx="1390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cuFFT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batch</a:t>
            </a:r>
          </a:p>
        </p:txBody>
      </p:sp>
      <p:sp>
        <p:nvSpPr>
          <p:cNvPr id="16" name="node-1070">
            <a:extLst xmlns:a="http://schemas.openxmlformats.org/drawingml/2006/main">
              <a:ext uri="{FF2B5EF4-FFF2-40B4-BE49-F238E27FC236}">
                <a16:creationId xmlns:a16="http://schemas.microsoft.com/office/drawing/2014/main" id="{D1A71EB8-DD99-447F-B10B-A566DEF7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38375"/>
            <a:ext cx="1619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17" name="node-label-1070">
            <a:extLst xmlns:a="http://schemas.openxmlformats.org/drawingml/2006/main">
              <a:ext uri="{FF2B5EF4-FFF2-40B4-BE49-F238E27FC236}">
                <a16:creationId xmlns:a16="http://schemas.microsoft.com/office/drawing/2014/main" id="{EBFB9537-D3EA-47CE-B9B8-4E124526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524125"/>
            <a:ext cx="1390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MPI／Host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境界</a:t>
            </a:r>
          </a:p>
        </p:txBody>
      </p:sp>
      <p:sp>
        <p:nvSpPr>
          <p:cNvPr id="18" name="architecture-compute">
            <a:extLst xmlns:a="http://schemas.openxmlformats.org/drawingml/2006/main">
              <a:ext uri="{FF2B5EF4-FFF2-40B4-BE49-F238E27FC236}">
                <a16:creationId xmlns:a16="http://schemas.microsoft.com/office/drawing/2014/main" id="{8CB10F88-0AB2-4E8C-844B-C9978743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計算｜主要loopをOpenACC化</a:t>
            </a:r>
          </a:p>
        </p:txBody>
      </p:sp>
      <p:sp>
        <p:nvSpPr>
          <p:cNvPr id="19" name="architecture-data">
            <a:extLst xmlns:a="http://schemas.openxmlformats.org/drawingml/2006/main">
              <a:ext uri="{FF2B5EF4-FFF2-40B4-BE49-F238E27FC236}">
                <a16:creationId xmlns:a16="http://schemas.microsoft.com/office/drawing/2014/main" id="{A9C9C221-3DB4-4057-A616-8A8EBAC1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38625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データ｜外側routineがmappingを所有</a:t>
            </a:r>
          </a:p>
        </p:txBody>
      </p:sp>
      <p:sp>
        <p:nvSpPr>
          <p:cNvPr id="20" name="architecture-fft">
            <a:extLst xmlns:a="http://schemas.openxmlformats.org/drawingml/2006/main">
              <a:ext uri="{FF2B5EF4-FFF2-40B4-BE49-F238E27FC236}">
                <a16:creationId xmlns:a16="http://schemas.microsoft.com/office/drawing/2014/main" id="{C80A06E1-1185-422D-9817-07E0F2FB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38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FFT｜device pointerをcuFFTへ直接渡す</a:t>
            </a:r>
          </a:p>
        </p:txBody>
      </p:sp>
      <p:sp>
        <p:nvSpPr>
          <p:cNvPr id="21" name="architecture-note">
            <a:extLst xmlns:a="http://schemas.openxmlformats.org/drawingml/2006/main">
              <a:ext uri="{FF2B5EF4-FFF2-40B4-BE49-F238E27FC236}">
                <a16:creationId xmlns:a16="http://schemas.microsoft.com/office/drawing/2014/main" id="{1B4F080C-9284-402F-B59E-9BC97309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91125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C26A00"/>
                </a:solidFill>
              </a:defRPr>
            </a:pPr>
            <a:r>
              <a:rPr sz="1875" b="1">
                <a:solidFill>
                  <a:srgbClr val="C26A00"/>
                </a:solidFill>
              </a:rPr>
              <a:t>Host consumer／MPI境界だけで同期｜実装: tmevl10 / frprmn / electf4（対応: p.17）</a:t>
            </a:r>
          </a:p>
        </p:txBody>
      </p:sp>
      <p:sp>
        <p:nvSpPr>
          <p:cNvPr id="2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A4227A0-A440-423F-A512-1B860FDB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23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FA86FF09-BCBD-46E5-8DBD-45DB6933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097126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9BEC2D0-7B89-42B8-9992-576C0ED7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B2DA1DD-53E5-49EC-8182-41E9E56C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時間発展ループの主要領域をGPU化した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4161864-F892-4D95-B9D8-501B8195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coverage-area-0">
            <a:extLst xmlns:a="http://schemas.openxmlformats.org/drawingml/2006/main">
              <a:ext uri="{FF2B5EF4-FFF2-40B4-BE49-F238E27FC236}">
                <a16:creationId xmlns:a16="http://schemas.microsoft.com/office/drawing/2014/main" id="{9A7D5026-BFE1-41AF-924B-A288671A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049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9AA"/>
                </a:solidFill>
              </a:defRPr>
            </a:pPr>
            <a:r>
              <a:rPr sz="1650" b="1">
                <a:solidFill>
                  <a:srgbClr val="1769AA"/>
                </a:solidFill>
              </a:rPr>
              <a:t>S2局所項</a:t>
            </a:r>
          </a:p>
        </p:txBody>
      </p:sp>
      <p:sp>
        <p:nvSpPr>
          <p:cNvPr id="5" name="coverage-detail-0">
            <a:extLst xmlns:a="http://schemas.openxmlformats.org/drawingml/2006/main">
              <a:ext uri="{FF2B5EF4-FFF2-40B4-BE49-F238E27FC236}">
                <a16:creationId xmlns:a16="http://schemas.microsoft.com/office/drawing/2014/main" id="{004229BE-E8C8-4E63-B2BC-115D223F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scatter・potential・cuFFT・gather  [tmevl10 / fft_cufft]</a:t>
            </a:r>
          </a:p>
        </p:txBody>
      </p:sp>
      <p:sp>
        <p:nvSpPr>
          <p:cNvPr id="6" name="coverage-rule-0">
            <a:extLst xmlns:a="http://schemas.openxmlformats.org/drawingml/2006/main">
              <a:ext uri="{FF2B5EF4-FFF2-40B4-BE49-F238E27FC236}">
                <a16:creationId xmlns:a16="http://schemas.microsoft.com/office/drawing/2014/main" id="{60FBB61F-19A5-4B25-966E-D1D60823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7" name="coverage-area-1">
            <a:extLst xmlns:a="http://schemas.openxmlformats.org/drawingml/2006/main">
              <a:ext uri="{FF2B5EF4-FFF2-40B4-BE49-F238E27FC236}">
                <a16:creationId xmlns:a16="http://schemas.microsoft.com/office/drawing/2014/main" id="{5194CBD9-E61F-41E4-9C7D-6D420C55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9AA"/>
                </a:solidFill>
              </a:defRPr>
            </a:pPr>
            <a:r>
              <a:rPr sz="1650" b="1">
                <a:solidFill>
                  <a:srgbClr val="1769AA"/>
                </a:solidFill>
              </a:rPr>
              <a:t>非局所項</a:t>
            </a:r>
          </a:p>
        </p:txBody>
      </p:sp>
      <p:sp>
        <p:nvSpPr>
          <p:cNvPr id="8" name="coverage-detail-1">
            <a:extLst xmlns:a="http://schemas.openxmlformats.org/drawingml/2006/main">
              <a:ext uri="{FF2B5EF4-FFF2-40B4-BE49-F238E27FC236}">
                <a16:creationId xmlns:a16="http://schemas.microsoft.com/office/drawing/2014/main" id="{65091AAC-AFE4-4FD1-931D-82DDB11B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907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projector dot・係数更新・kernel融合  [tmevl10]</a:t>
            </a:r>
          </a:p>
        </p:txBody>
      </p:sp>
      <p:sp>
        <p:nvSpPr>
          <p:cNvPr id="9" name="coverage-rule-1">
            <a:extLst xmlns:a="http://schemas.openxmlformats.org/drawingml/2006/main">
              <a:ext uri="{FF2B5EF4-FFF2-40B4-BE49-F238E27FC236}">
                <a16:creationId xmlns:a16="http://schemas.microsoft.com/office/drawing/2014/main" id="{F08AC915-A5E3-4BCA-9E53-D2878AF2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0" name="coverage-area-2">
            <a:extLst xmlns:a="http://schemas.openxmlformats.org/drawingml/2006/main">
              <a:ext uri="{FF2B5EF4-FFF2-40B4-BE49-F238E27FC236}">
                <a16:creationId xmlns:a16="http://schemas.microsoft.com/office/drawing/2014/main" id="{1ED62902-666B-4A1C-BAB0-2ED9D22E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9AA"/>
                </a:solidFill>
              </a:defRPr>
            </a:pPr>
            <a:r>
              <a:rPr sz="1650" b="1">
                <a:solidFill>
                  <a:srgbClr val="1769AA"/>
                </a:solidFill>
              </a:rPr>
              <a:t>電荷密度</a:t>
            </a:r>
          </a:p>
        </p:txBody>
      </p:sp>
      <p:sp>
        <p:nvSpPr>
          <p:cNvPr id="11" name="coverage-detail-2">
            <a:extLst xmlns:a="http://schemas.openxmlformats.org/drawingml/2006/main">
              <a:ext uri="{FF2B5EF4-FFF2-40B4-BE49-F238E27FC236}">
                <a16:creationId xmlns:a16="http://schemas.microsoft.com/office/drawing/2014/main" id="{AAC12408-8E4C-46E1-84A4-D1BD6EBE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765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resident COEF再構築・batch FFT  [frprmn / fft_cufft]</a:t>
            </a:r>
          </a:p>
        </p:txBody>
      </p:sp>
      <p:sp>
        <p:nvSpPr>
          <p:cNvPr id="12" name="coverage-rule-2">
            <a:extLst xmlns:a="http://schemas.openxmlformats.org/drawingml/2006/main">
              <a:ext uri="{FF2B5EF4-FFF2-40B4-BE49-F238E27FC236}">
                <a16:creationId xmlns:a16="http://schemas.microsoft.com/office/drawing/2014/main" id="{355E5F17-1C93-4B4A-B253-1839380C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3" name="coverage-area-3">
            <a:extLst xmlns:a="http://schemas.openxmlformats.org/drawingml/2006/main">
              <a:ext uri="{FF2B5EF4-FFF2-40B4-BE49-F238E27FC236}">
                <a16:creationId xmlns:a16="http://schemas.microsoft.com/office/drawing/2014/main" id="{D10CCF95-EBBB-4CC2-8AE7-F28323CA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9AA"/>
                </a:solidFill>
              </a:defRPr>
            </a:pPr>
            <a:r>
              <a:rPr sz="1650" b="1">
                <a:solidFill>
                  <a:srgbClr val="1769AA"/>
                </a:solidFill>
              </a:rPr>
              <a:t>FRPRMN</a:t>
            </a:r>
          </a:p>
        </p:txBody>
      </p:sp>
      <p:sp>
        <p:nvSpPr>
          <p:cNvPr id="14" name="coverage-detail-3">
            <a:extLst xmlns:a="http://schemas.openxmlformats.org/drawingml/2006/main">
              <a:ext uri="{FF2B5EF4-FFF2-40B4-BE49-F238E27FC236}">
                <a16:creationId xmlns:a16="http://schemas.microsoft.com/office/drawing/2014/main" id="{D64D111E-EE68-4943-9D25-15B58153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623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COEF/COEF0常駐・同期削減・再利用  [frprmn]</a:t>
            </a:r>
          </a:p>
        </p:txBody>
      </p:sp>
      <p:sp>
        <p:nvSpPr>
          <p:cNvPr id="15" name="coverage-rule-3">
            <a:extLst xmlns:a="http://schemas.openxmlformats.org/drawingml/2006/main">
              <a:ext uri="{FF2B5EF4-FFF2-40B4-BE49-F238E27FC236}">
                <a16:creationId xmlns:a16="http://schemas.microsoft.com/office/drawing/2014/main" id="{9B78A0DC-D4D8-4A97-AA03-EFD08958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576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6" name="coverage-area-4">
            <a:extLst xmlns:a="http://schemas.openxmlformats.org/drawingml/2006/main">
              <a:ext uri="{FF2B5EF4-FFF2-40B4-BE49-F238E27FC236}">
                <a16:creationId xmlns:a16="http://schemas.microsoft.com/office/drawing/2014/main" id="{7C9AE2A0-005D-427E-A375-6392C180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9AA"/>
                </a:solidFill>
              </a:defRPr>
            </a:pPr>
            <a:r>
              <a:rPr sz="1650" b="1">
                <a:solidFill>
                  <a:srgbClr val="1769AA"/>
                </a:solidFill>
              </a:rPr>
              <a:t>potential</a:t>
            </a:r>
          </a:p>
        </p:txBody>
      </p:sp>
      <p:sp>
        <p:nvSpPr>
          <p:cNvPr id="17" name="coverage-detail-4">
            <a:extLst xmlns:a="http://schemas.openxmlformats.org/drawingml/2006/main">
              <a:ext uri="{FF2B5EF4-FFF2-40B4-BE49-F238E27FC236}">
                <a16:creationId xmlns:a16="http://schemas.microsoft.com/office/drawing/2014/main" id="{1C75F922-FE68-4798-989F-0C3BAA43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481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VPJ・LOCPOT・交換相関・EWALD  [vpj_gen / lib4_ASL_2]</a:t>
            </a:r>
          </a:p>
        </p:txBody>
      </p:sp>
      <p:sp>
        <p:nvSpPr>
          <p:cNvPr id="18" name="coverage-rule-4">
            <a:extLst xmlns:a="http://schemas.openxmlformats.org/drawingml/2006/main">
              <a:ext uri="{FF2B5EF4-FFF2-40B4-BE49-F238E27FC236}">
                <a16:creationId xmlns:a16="http://schemas.microsoft.com/office/drawing/2014/main" id="{674E0758-7AA9-4681-A7F9-5FA325FE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434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9" name="coverage-area-5">
            <a:extLst xmlns:a="http://schemas.openxmlformats.org/drawingml/2006/main">
              <a:ext uri="{FF2B5EF4-FFF2-40B4-BE49-F238E27FC236}">
                <a16:creationId xmlns:a16="http://schemas.microsoft.com/office/drawing/2014/main" id="{99B4374A-55F7-4056-BBBA-F8F04E1D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339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9AA"/>
                </a:solidFill>
              </a:defRPr>
            </a:pPr>
            <a:r>
              <a:rPr sz="1650" b="1">
                <a:solidFill>
                  <a:srgbClr val="1769AA"/>
                </a:solidFill>
              </a:rPr>
              <a:t>HLOCAL</a:t>
            </a:r>
          </a:p>
        </p:txBody>
      </p:sp>
      <p:sp>
        <p:nvSpPr>
          <p:cNvPr id="20" name="coverage-detail-5">
            <a:extLst xmlns:a="http://schemas.openxmlformats.org/drawingml/2006/main">
              <a:ext uri="{FF2B5EF4-FFF2-40B4-BE49-F238E27FC236}">
                <a16:creationId xmlns:a16="http://schemas.microsoft.com/office/drawing/2014/main" id="{953F7893-2CF2-4A0B-8ED1-9C2FBCB4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9339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zeroからFFT・multiply・gatherまで連結  [tmevl10]</a:t>
            </a:r>
          </a:p>
        </p:txBody>
      </p:sp>
      <p:sp>
        <p:nvSpPr>
          <p:cNvPr id="21" name="coverage-rule-5">
            <a:extLst xmlns:a="http://schemas.openxmlformats.org/drawingml/2006/main">
              <a:ext uri="{FF2B5EF4-FFF2-40B4-BE49-F238E27FC236}">
                <a16:creationId xmlns:a16="http://schemas.microsoft.com/office/drawing/2014/main" id="{A17AB232-D817-4D92-9205-BBDA6D0B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2" name="coverage-callout">
            <a:extLst xmlns:a="http://schemas.openxmlformats.org/drawingml/2006/main">
              <a:ext uri="{FF2B5EF4-FFF2-40B4-BE49-F238E27FC236}">
                <a16:creationId xmlns:a16="http://schemas.microsoft.com/office/drawing/2014/main" id="{D60A32E2-91CD-4F60-988C-88CCC949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72125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2025" b="1">
                <a:solidFill>
                  <a:srgbClr val="2E7D32"/>
                </a:solidFill>
              </a:defRPr>
            </a:pPr>
            <a:r>
              <a:rPr sz="2025" b="1">
                <a:solidFill>
                  <a:srgbClr val="2E7D32"/>
                </a:solidFill>
              </a:rPr>
              <a:t>26 / 39箇所 = 約66.7%</a:t>
            </a:r>
          </a:p>
        </p:txBody>
      </p:sp>
      <p:sp>
        <p:nvSpPr>
          <p:cNvPr id="2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26DC4BF-4878-4E37-B519-63AA30DC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2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8B3480D4-E053-42C3-B0CB-79D436EF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329789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DF63616-9ADF-4221-8A8B-B4EA6337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GPU化候補の読み方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2DF7286-640D-4B6E-97D5-A46372F7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26/39の残り13は固定された実装待ちリストではない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2E3322D-1CFA-44B2-9C11-5C7A5EA6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C26E16B-A14E-4B01-9D5A-AC5F1F68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C2364F2C-99B1-46A8-874F-E5780149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t>6</a:t>
            </a:r>
          </a:p>
        </p:txBody>
      </p:sp>
      <p:sp>
        <p:nvSpPr>
          <p:cNvPr id="6" name="gap-definition">
            <a:extLst xmlns:a="http://schemas.openxmlformats.org/drawingml/2006/main">
              <a:ext uri="{FF2B5EF4-FFF2-40B4-BE49-F238E27FC236}">
                <a16:creationId xmlns:a16="http://schemas.microsoft.com/office/drawing/2014/main" id="{69BDEB70-2D5C-4FA4-9A59-F4A5440D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C26A00"/>
                </a:solidFill>
              </a:defRPr>
            </a:pPr>
            <a:r>
              <a:rPr sz="1575" b="1">
                <a:solidFill>
                  <a:srgbClr val="C26A00"/>
                </a:solidFill>
              </a:rPr>
              <a:t>残り13相当 = 暫定indexの算術差。現在のsourceに1対1で対応する13個のbacklogではない。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523875" y="1952625"/>
          <a:ext xmlns:a="http://schemas.openxmlformats.org/drawingml/2006/main" cx="11144250" cy="3476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476500"/>
                <a:gridCol w="3429000"/>
                <a:gridCol w="5238750"/>
              </a:tblGrid>
              <a:tr h="49666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区分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主な候補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GPU化しない／残している理由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69AA"/>
                          </a:solidFill>
                        </a:rPr>
                        <a:t>memory中心の小loop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density smoothing・配列copy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演算量よりmapping・同期・転送costが大きい</a:t>
                      </a:r>
                    </a:p>
                  </a:txBody>
                  <a:tcPr marL="91440" marR="91440" marT="45720" marB="45720"/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69AA"/>
                          </a:solidFill>
                        </a:rPr>
                        <a:t>predictor／履歴更新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VG0～VG5・VGOLD・interpolation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分岐とHost authorityがあり、一括offloadで回帰</a:t>
                      </a:r>
                    </a:p>
                  </a:txBody>
                  <a:tcPr marL="91440" marR="91440" marT="45720" marB="45720"/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69AA"/>
                          </a:solidFill>
                        </a:rPr>
                        <a:t>potential／E-field境界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VG・VPLT・VEXT組立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直後のHost consumerによりD2Hが必要</a:t>
                      </a:r>
                    </a:p>
                  </a:txBody>
                  <a:tcPr marL="91440" marR="91440" marT="45720" marB="45720"/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69AA"/>
                          </a:solidFill>
                        </a:rPr>
                        <a:t>reduction／行列処理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energy・CMAT・収束判定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演算順序・MPI riskに対して改善上限が小さい</a:t>
                      </a:r>
                    </a:p>
                  </a:txBody>
                  <a:tcPr marL="91440" marR="91440" marT="45720" marB="45720"/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69AA"/>
                          </a:solidFill>
                        </a:rPr>
                        <a:t>producer／非活性経路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EXTAU・GGA G2VXC2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GPU生成は回帰、GGA経路はSi111-Hで非活性</a:t>
                      </a:r>
                    </a:p>
                  </a:txBody>
                  <a:tcPr marL="91440" marR="91440" marT="45720" marB="45720"/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69AA"/>
                          </a:solidFill>
                        </a:rPr>
                        <a:t>正常だが不採用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SEPPOTF batch・追加kernel融合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checkはPASSしたが正式baselineより遅い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8" name="gap-footnote">
            <a:extLst xmlns:a="http://schemas.openxmlformats.org/drawingml/2006/main">
              <a:ext uri="{FF2B5EF4-FFF2-40B4-BE49-F238E27FC236}">
                <a16:creationId xmlns:a16="http://schemas.microsoft.com/office/drawing/2014/main" id="{7094BA1E-3832-443C-B4D9-CDE92958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1500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母数39 = Step 80採用済み19 site + Step 78で一時offloadしてrevertした20 site</a:t>
            </a:r>
          </a:p>
        </p:txBody>
      </p:sp>
    </p:spTree>
    <p:extLst>
      <p:ext uri="{BB962C8B-B14F-4D97-AF65-F5344CB8AC3E}">
        <p14:creationId xmlns:p14="http://schemas.microsoft.com/office/powerpoint/2010/main" val="19651008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5027C90-892B-414C-A068-537121EF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94FEA70-B8F9-4923-AD8F-736D31CF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device pointerとbatch化でFFT前後の転送を削減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915E371-1D52-42E3-B0C3-E2CCCD7D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fft-before">
            <a:extLst xmlns:a="http://schemas.openxmlformats.org/drawingml/2006/main">
              <a:ext uri="{FF2B5EF4-FFF2-40B4-BE49-F238E27FC236}">
                <a16:creationId xmlns:a16="http://schemas.microsoft.com/office/drawing/2014/main" id="{7651817A-1708-4229-91D7-D03BF883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95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fft-before-title">
            <a:extLst xmlns:a="http://schemas.openxmlformats.org/drawingml/2006/main">
              <a:ext uri="{FF2B5EF4-FFF2-40B4-BE49-F238E27FC236}">
                <a16:creationId xmlns:a16="http://schemas.microsoft.com/office/drawing/2014/main" id="{40F1BCFE-A6EA-460B-850D-4EF1C696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7085"/>
                </a:solidFill>
              </a:defRPr>
            </a:pPr>
            <a:r>
              <a:rPr sz="1350" b="1">
                <a:solidFill>
                  <a:srgbClr val="667085"/>
                </a:solidFill>
              </a:rPr>
              <a:t>変更前</a:t>
            </a:r>
          </a:p>
        </p:txBody>
      </p:sp>
      <p:sp>
        <p:nvSpPr>
          <p:cNvPr id="6" name="fft-before-flow">
            <a:extLst xmlns:a="http://schemas.openxmlformats.org/drawingml/2006/main">
              <a:ext uri="{FF2B5EF4-FFF2-40B4-BE49-F238E27FC236}">
                <a16:creationId xmlns:a16="http://schemas.microsoft.com/office/drawing/2014/main" id="{FBA51FE9-D362-4729-9DDF-9619E357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Host → H2D → cuFFT → D2H → Host</a:t>
            </a:r>
          </a:p>
        </p:txBody>
      </p:sp>
      <p:sp>
        <p:nvSpPr>
          <p:cNvPr id="7" name="fft-after">
            <a:extLst xmlns:a="http://schemas.openxmlformats.org/drawingml/2006/main">
              <a:ext uri="{FF2B5EF4-FFF2-40B4-BE49-F238E27FC236}">
                <a16:creationId xmlns:a16="http://schemas.microsoft.com/office/drawing/2014/main" id="{FF003D6F-4FCB-4CAC-8D09-779C120C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495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8" name="fft-after-title">
            <a:extLst xmlns:a="http://schemas.openxmlformats.org/drawingml/2006/main">
              <a:ext uri="{FF2B5EF4-FFF2-40B4-BE49-F238E27FC236}">
                <a16:creationId xmlns:a16="http://schemas.microsoft.com/office/drawing/2014/main" id="{FAC21263-3DE5-4B13-9C42-AB2B2071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621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9AA"/>
                </a:solidFill>
              </a:defRPr>
            </a:pPr>
            <a:r>
              <a:rPr sz="1350" b="1">
                <a:solidFill>
                  <a:srgbClr val="1769AA"/>
                </a:solidFill>
              </a:rPr>
              <a:t>変更後</a:t>
            </a:r>
          </a:p>
        </p:txBody>
      </p:sp>
      <p:sp>
        <p:nvSpPr>
          <p:cNvPr id="9" name="fft-after-flow">
            <a:extLst xmlns:a="http://schemas.openxmlformats.org/drawingml/2006/main">
              <a:ext uri="{FF2B5EF4-FFF2-40B4-BE49-F238E27FC236}">
                <a16:creationId xmlns:a16="http://schemas.microsoft.com/office/drawing/2014/main" id="{AEC9919F-3B3F-436A-9A77-9A63F022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4312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Device配列 → cuFFT → Device配列</a:t>
            </a:r>
          </a:p>
        </p:txBody>
      </p:sp>
      <p:sp>
        <p:nvSpPr>
          <p:cNvPr id="10" name="fft-bullets">
            <a:extLst xmlns:a="http://schemas.openxmlformats.org/drawingml/2006/main">
              <a:ext uri="{FF2B5EF4-FFF2-40B4-BE49-F238E27FC236}">
                <a16:creationId xmlns:a16="http://schemas.microsoft.com/office/drawing/2014/main" id="{0D6FCCA1-1406-4844-AC7F-C6A30050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38500"/>
            <a:ext cx="666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1F2937"/>
                </a:solidFill>
              </a:defRPr>
            </a:pPr>
            <a:r>
              <a:rPr sz="863" b="0">
                <a:solidFill>
                  <a:srgbClr val="1F2937"/>
                </a:solidFill>
              </a:rPr>
              <a:t>SOURCE: fft_cufft.f / FFT3BX_fftwASL_ACC</a:t>
            </a:r>
          </a:p>
          <a:p xmlns:a="http://schemas.openxmlformats.org/drawingml/2006/main">
            <a:pPr algn="l">
              <a:buNone/>
              <a:defRPr sz="863" b="0">
                <a:solidFill>
                  <a:srgbClr val="1F2937"/>
                </a:solidFill>
              </a:defRPr>
            </a:pPr>
            <a:r>
              <a:rPr sz="863" b="0">
                <a:solidFill>
                  <a:srgbClr val="1F2937"/>
                </a:solidFill>
              </a:rPr>
              <a:t>      call start_timer('fft_wrapper')</a:t>
            </a:r>
          </a:p>
          <a:p xmlns:a="http://schemas.openxmlformats.org/drawingml/2006/main">
            <a:pPr algn="l">
              <a:buNone/>
              <a:defRPr sz="863" b="0">
                <a:solidFill>
                  <a:srgbClr val="1F2937"/>
                </a:solidFill>
              </a:defRPr>
            </a:pPr>
            <a:r>
              <a:rPr sz="863" b="0">
                <a:solidFill>
                  <a:srgbClr val="1F2937"/>
                </a:solidFill>
              </a:rPr>
              <a:t>!$acc host_data use_device(RHOG)</a:t>
            </a:r>
          </a:p>
          <a:p xmlns:a="http://schemas.openxmlformats.org/drawingml/2006/main">
            <a:pPr algn="l">
              <a:buNone/>
              <a:defRPr sz="863" b="0">
                <a:solidFill>
                  <a:srgbClr val="1F2937"/>
                </a:solidFill>
              </a:defRPr>
            </a:pPr>
            <a:r>
              <a:rPr sz="863" b="0">
                <a:solidFill>
                  <a:srgbClr val="1F2937"/>
                </a:solidFill>
              </a:rPr>
              <a:t>      call fpseid_cufft_exec_device(plancbp,RHOG,NG,1,ierr)</a:t>
            </a:r>
          </a:p>
          <a:p xmlns:a="http://schemas.openxmlformats.org/drawingml/2006/main">
            <a:pPr algn="l">
              <a:buNone/>
              <a:defRPr sz="863" b="0">
                <a:solidFill>
                  <a:srgbClr val="1F2937"/>
                </a:solidFill>
              </a:defRPr>
            </a:pPr>
            <a:r>
              <a:rPr sz="863" b="0">
                <a:solidFill>
                  <a:srgbClr val="1F2937"/>
                </a:solidFill>
              </a:rPr>
              <a:t>!$acc end host_data</a:t>
            </a:r>
          </a:p>
          <a:p xmlns:a="http://schemas.openxmlformats.org/drawingml/2006/main">
            <a:pPr algn="l">
              <a:buNone/>
              <a:defRPr sz="863" b="0">
                <a:solidFill>
                  <a:srgbClr val="1F2937"/>
                </a:solidFill>
              </a:defRPr>
            </a:pPr>
            <a:r>
              <a:rPr sz="863" b="0">
                <a:solidFill>
                  <a:srgbClr val="1F2937"/>
                </a:solidFill>
              </a:rPr>
              <a:t>      call stop_timer('fft_wrapper')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/>
            </a:r>
          </a:p>
          <a:p xmlns:a="http://schemas.openxmlformats.org/drawingml/2006/main">
            <a:pPr algn="l">
              <a:buNone/>
              <a:defRPr sz="863" b="0">
                <a:solidFill>
                  <a:srgbClr val="1F2937"/>
                </a:solidFill>
              </a:defRPr>
            </a:pPr>
            <a:r>
              <a:rPr sz="863" b="0">
                <a:solidFill>
                  <a:srgbClr val="1F2937"/>
                </a:solidFill>
              </a:rPr>
              <a:t>SOURCE: fft_cufft.f / FFT3BX_fftwASL_ACC_BATCH</a:t>
            </a:r>
          </a:p>
          <a:p xmlns:a="http://schemas.openxmlformats.org/drawingml/2006/main">
            <a:pPr algn="l">
              <a:buNone/>
              <a:defRPr sz="863" b="0">
                <a:solidFill>
                  <a:srgbClr val="1F2937"/>
                </a:solidFill>
              </a:defRPr>
            </a:pPr>
            <a:r>
              <a:rPr sz="863" b="0">
                <a:solidFill>
                  <a:srgbClr val="1F2937"/>
                </a:solidFill>
              </a:rPr>
              <a:t>!$acc host_data use_device(RHOG)</a:t>
            </a:r>
          </a:p>
          <a:p xmlns:a="http://schemas.openxmlformats.org/drawingml/2006/main">
            <a:pPr algn="l">
              <a:buNone/>
              <a:defRPr sz="863" b="0">
                <a:solidFill>
                  <a:srgbClr val="1F2937"/>
                </a:solidFill>
              </a:defRPr>
            </a:pPr>
            <a:r>
              <a:rPr sz="863" b="0">
                <a:solidFill>
                  <a:srgbClr val="1F2937"/>
                </a:solidFill>
              </a:rPr>
              <a:t>      call fpseid_cufft_exec_device_batch(RHOG,NG,NBATCH,1,ierr)</a:t>
            </a:r>
          </a:p>
          <a:p xmlns:a="http://schemas.openxmlformats.org/drawingml/2006/main">
            <a:pPr algn="l">
              <a:buNone/>
              <a:defRPr sz="863" b="0">
                <a:solidFill>
                  <a:srgbClr val="1F2937"/>
                </a:solidFill>
              </a:defRPr>
            </a:pPr>
            <a:r>
              <a:rPr sz="863" b="0">
                <a:solidFill>
                  <a:srgbClr val="1F2937"/>
                </a:solidFill>
              </a:rPr>
              <a:t>!$acc end host_data</a:t>
            </a:r>
          </a:p>
        </p:txBody>
      </p:sp>
      <p:sp>
        <p:nvSpPr>
          <p:cNvPr id="11" name="fft-s2-value">
            <a:extLst xmlns:a="http://schemas.openxmlformats.org/drawingml/2006/main">
              <a:ext uri="{FF2B5EF4-FFF2-40B4-BE49-F238E27FC236}">
                <a16:creationId xmlns:a16="http://schemas.microsoft.com/office/drawing/2014/main" id="{3C235F2B-E697-43D1-AAB6-1D486848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333750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69AA"/>
                </a:solidFill>
              </a:defRPr>
            </a:pPr>
            <a:r>
              <a:rPr sz="2850" b="1">
                <a:solidFill>
                  <a:srgbClr val="1769AA"/>
                </a:solidFill>
              </a:rPr>
              <a:t>22.480 → 5.030秒</a:t>
            </a:r>
          </a:p>
        </p:txBody>
      </p:sp>
      <p:sp>
        <p:nvSpPr>
          <p:cNvPr id="12" name="fft-s2-label">
            <a:extLst xmlns:a="http://schemas.openxmlformats.org/drawingml/2006/main">
              <a:ext uri="{FF2B5EF4-FFF2-40B4-BE49-F238E27FC236}">
                <a16:creationId xmlns:a16="http://schemas.microsoft.com/office/drawing/2014/main" id="{758879EE-DD62-40A4-BB98-0DA8254F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88620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s2_fft_local</a:t>
            </a:r>
          </a:p>
        </p:txBody>
      </p:sp>
      <p:sp>
        <p:nvSpPr>
          <p:cNvPr id="13" name="fft-rho-value">
            <a:extLst xmlns:a="http://schemas.openxmlformats.org/drawingml/2006/main">
              <a:ext uri="{FF2B5EF4-FFF2-40B4-BE49-F238E27FC236}">
                <a16:creationId xmlns:a16="http://schemas.microsoft.com/office/drawing/2014/main" id="{AFA7CD48-88B4-4EE9-8E5C-13B62DF1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524375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2E7D32"/>
                </a:solidFill>
              </a:defRPr>
            </a:pPr>
            <a:r>
              <a:rPr sz="2850" b="1">
                <a:solidFill>
                  <a:srgbClr val="2E7D32"/>
                </a:solidFill>
              </a:rPr>
              <a:t>14.510 → 0.730秒</a:t>
            </a:r>
          </a:p>
        </p:txBody>
      </p:sp>
      <p:sp>
        <p:nvSpPr>
          <p:cNvPr id="14" name="fft-rho-label">
            <a:extLst xmlns:a="http://schemas.openxmlformats.org/drawingml/2006/main">
              <a:ext uri="{FF2B5EF4-FFF2-40B4-BE49-F238E27FC236}">
                <a16:creationId xmlns:a16="http://schemas.microsoft.com/office/drawing/2014/main" id="{0A6D10F1-2EDE-45F7-BA49-669AC8CE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76825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frprmn_rhoofk</a:t>
            </a:r>
          </a:p>
        </p:txBody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A0E6D20-CE0A-48BB-B80F-D9CF5B60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565C91B1-310A-4F04-95B5-1EA85A36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275206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BECB8CE-6902-41F5-8D5E-F3290B92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FA9A5AC-8B9A-4C72-A720-2FFB04E3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非局所projectorはkernel融合で起動回数を減らした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0490E77-E03F-4F45-83D0-F673DB03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nonlocal-list">
            <a:extLst xmlns:a="http://schemas.openxmlformats.org/drawingml/2006/main">
              <a:ext uri="{FF2B5EF4-FFF2-40B4-BE49-F238E27FC236}">
                <a16:creationId xmlns:a16="http://schemas.microsoft.com/office/drawing/2014/main" id="{0714B813-1504-460D-9100-D3A3E073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6191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F2937"/>
                </a:solidFill>
              </a:defRPr>
            </a:pPr>
            <a:r>
              <a:rPr sz="788" b="0">
                <a:solidFill>
                  <a:srgbClr val="1F2937"/>
                </a:solidFill>
              </a:rPr>
              <a:t>SOURCE: tmevl10_Avec_v4.f / exnlp_gemm_body_fused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F2937"/>
                </a:solidFill>
              </a:defRPr>
            </a:pPr>
            <a:r>
              <a:rPr sz="788" b="0">
                <a:solidFill>
                  <a:srgbClr val="1F2937"/>
                </a:solidFill>
              </a:rPr>
              <a:t>!$acc parallel loop gang vector_length(256)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F2937"/>
                </a:solidFill>
              </a:defRPr>
            </a:pPr>
            <a:r>
              <a:rPr sz="788" b="0">
                <a:solidFill>
                  <a:srgbClr val="1F2937"/>
                </a:solidFill>
              </a:rPr>
              <a:t>!$acc&amp; present(coef(1:ng2q,1:nbndloc),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F2937"/>
                </a:solidFill>
              </a:defRPr>
            </a:pPr>
            <a:r>
              <a:rPr sz="788" b="0">
                <a:solidFill>
                  <a:srgbClr val="1F2937"/>
                </a:solidFill>
              </a:rPr>
              <a:t>!$acc&amp; work1(1:ngwork,1:loopcnt),cfac(1:loopcnt),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F2937"/>
                </a:solidFill>
              </a:defRPr>
            </a:pPr>
            <a:r>
              <a:rPr sz="788" b="0">
                <a:solidFill>
                  <a:srgbClr val="1F2937"/>
                </a:solidFill>
              </a:rPr>
              <a:t>!$acc&amp; ngnl(1:loopcnt)) private(ia,ja,sr,si,ar,ai,br,bi,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F2937"/>
                </a:solidFill>
              </a:defRPr>
            </a:pPr>
            <a:r>
              <a:rPr sz="788" b="0">
                <a:solidFill>
                  <a:srgbClr val="1F2937"/>
                </a:solidFill>
              </a:rPr>
              <a:t>!$acc&amp; cr,ci,ctr,cti)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F2937"/>
                </a:solidFill>
              </a:defRPr>
            </a:pPr>
            <a:r>
              <a:rPr sz="788" b="0">
                <a:solidFill>
                  <a:srgbClr val="1F2937"/>
                </a:solidFill>
              </a:rPr>
              <a:t>      do iib = 1, nbndloc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F2937"/>
                </a:solidFill>
              </a:defRPr>
            </a:pPr>
            <a:r>
              <a:rPr sz="788" b="0">
                <a:solidFill>
                  <a:srgbClr val="1F2937"/>
                </a:solidFill>
              </a:rPr>
              <a:t>!$acc loop seq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F2937"/>
                </a:solidFill>
              </a:defRPr>
            </a:pPr>
            <a:r>
              <a:rPr sz="788" b="0">
                <a:solidFill>
                  <a:srgbClr val="1F2937"/>
                </a:solidFill>
              </a:rPr>
              <a:t>         do ia = 1, loopcnt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F2937"/>
                </a:solidFill>
              </a:defRPr>
            </a:pPr>
            <a:r>
              <a:rPr sz="788" b="0">
                <a:solidFill>
                  <a:srgbClr val="1F2937"/>
                </a:solidFill>
              </a:rPr>
              <a:t>            ja = ia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F2937"/>
                </a:solidFill>
              </a:defRPr>
            </a:pPr>
            <a:r>
              <a:rPr sz="788" b="0">
                <a:solidFill>
                  <a:srgbClr val="1F2937"/>
                </a:solidFill>
              </a:rPr>
              <a:t>            if (reverse_order) ja = loopcnt-ia+1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F2937"/>
                </a:solidFill>
              </a:defRPr>
            </a:pPr>
            <a:r>
              <a:rPr sz="788" b="0">
                <a:solidFill>
                  <a:srgbClr val="1F2937"/>
                </a:solidFill>
              </a:rPr>
              <a:t>            sr = 0.d0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F2937"/>
                </a:solidFill>
              </a:defRPr>
            </a:pPr>
            <a:r>
              <a:rPr sz="788" b="0">
                <a:solidFill>
                  <a:srgbClr val="1F2937"/>
                </a:solidFill>
              </a:rPr>
              <a:t>            si = 0.d0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F2937"/>
                </a:solidFill>
              </a:defRPr>
            </a:pPr>
            <a:r>
              <a:rPr sz="788" b="0">
                <a:solidFill>
                  <a:srgbClr val="1F2937"/>
                </a:solidFill>
              </a:rPr>
              <a:t>!$acc loop vector reduction(+:sr,si)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F2937"/>
                </a:solidFill>
              </a:defRPr>
            </a:pPr>
            <a:r>
              <a:rPr sz="788" b="0">
                <a:solidFill>
                  <a:srgbClr val="1F2937"/>
                </a:solidFill>
              </a:rPr>
              <a:t>            do ig = 1, ngnl(ja)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F2937"/>
                </a:solidFill>
              </a:defRPr>
            </a:pPr>
            <a:r>
              <a:rPr sz="788" b="0">
                <a:solidFill>
                  <a:srgbClr val="1F2937"/>
                </a:solidFill>
              </a:rPr>
              <a:t>               ar = dble(coef(ig,iib))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F2937"/>
                </a:solidFill>
              </a:defRPr>
            </a:pPr>
            <a:r>
              <a:rPr sz="788" b="0">
                <a:solidFill>
                  <a:srgbClr val="1F2937"/>
                </a:solidFill>
              </a:rPr>
              <a:t>               ai = dimag(coef(ig,iib))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F2937"/>
                </a:solidFill>
              </a:defRPr>
            </a:pPr>
            <a:r>
              <a:rPr sz="788" b="0">
                <a:solidFill>
                  <a:srgbClr val="1F2937"/>
                </a:solidFill>
              </a:rPr>
              <a:t>               br = dble(work1(ig,ja))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F2937"/>
                </a:solidFill>
              </a:defRPr>
            </a:pPr>
            <a:r>
              <a:rPr sz="788" b="0">
                <a:solidFill>
                  <a:srgbClr val="1F2937"/>
                </a:solidFill>
              </a:rPr>
              <a:t>               bi = dimag(work1(ig,ja))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F2937"/>
                </a:solidFill>
              </a:defRPr>
            </a:pPr>
            <a:r>
              <a:rPr sz="788" b="0">
                <a:solidFill>
                  <a:srgbClr val="1F2937"/>
                </a:solidFill>
              </a:rPr>
              <a:t>               sr = sr + ar*br - ai*bi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F2937"/>
                </a:solidFill>
              </a:defRPr>
            </a:pPr>
            <a:r>
              <a:rPr sz="788" b="0">
                <a:solidFill>
                  <a:srgbClr val="1F2937"/>
                </a:solidFill>
              </a:rPr>
              <a:t>               si = si + ar*bi + ai*br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F2937"/>
                </a:solidFill>
              </a:defRPr>
            </a:pPr>
            <a:r>
              <a:rPr sz="788" b="0">
                <a:solidFill>
                  <a:srgbClr val="1F2937"/>
                </a:solidFill>
              </a:rPr>
              <a:t>            end do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F2937"/>
                </a:solidFill>
              </a:defRPr>
            </a:pPr>
            <a:r>
              <a:rPr sz="788" b="0">
                <a:solidFill>
                  <a:srgbClr val="1F2937"/>
                </a:solidFill>
              </a:rPr>
              <a:t>            [...]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F2937"/>
                </a:solidFill>
              </a:defRPr>
            </a:pPr>
            <a:r>
              <a:rPr sz="788" b="0">
                <a:solidFill>
                  <a:srgbClr val="1F2937"/>
                </a:solidFill>
              </a:rPr>
              <a:t>!$acc loop vector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F2937"/>
                </a:solidFill>
              </a:defRPr>
            </a:pPr>
            <a:r>
              <a:rPr sz="788" b="0">
                <a:solidFill>
                  <a:srgbClr val="1F2937"/>
                </a:solidFill>
              </a:rPr>
              <a:t>            do ig = 1, ngnl(ja)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F2937"/>
                </a:solidFill>
              </a:defRPr>
            </a:pPr>
            <a:r>
              <a:rPr sz="788" b="0">
                <a:solidFill>
                  <a:srgbClr val="1F2937"/>
                </a:solidFill>
              </a:rPr>
              <a:t>               coef(ig,iib) = coef(ig,iib)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F2937"/>
                </a:solidFill>
              </a:defRPr>
            </a:pPr>
            <a:r>
              <a:rPr sz="788" b="0">
                <a:solidFill>
                  <a:srgbClr val="1F2937"/>
                </a:solidFill>
              </a:rPr>
              <a:t>     &amp;         + dcmplx(ctr*br + cti*bi, cti*br - ctr*bi)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F2937"/>
                </a:solidFill>
              </a:defRPr>
            </a:pPr>
            <a:r>
              <a:rPr sz="788" b="0">
                <a:solidFill>
                  <a:srgbClr val="1F2937"/>
                </a:solidFill>
              </a:rPr>
              <a:t>            end do</a:t>
            </a:r>
          </a:p>
        </p:txBody>
      </p:sp>
      <p:sp>
        <p:nvSpPr>
          <p:cNvPr id="5" name="nonlocal-launch-value">
            <a:extLst xmlns:a="http://schemas.openxmlformats.org/drawingml/2006/main">
              <a:ext uri="{FF2B5EF4-FFF2-40B4-BE49-F238E27FC236}">
                <a16:creationId xmlns:a16="http://schemas.microsoft.com/office/drawing/2014/main" id="{44B3331F-A327-4B3F-A67D-90CB281F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52625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69AA"/>
                </a:solidFill>
              </a:defRPr>
            </a:pPr>
            <a:r>
              <a:rPr sz="2850" b="1">
                <a:solidFill>
                  <a:srgbClr val="1769AA"/>
                </a:solidFill>
              </a:rPr>
              <a:t>453,120 → 9,440回</a:t>
            </a:r>
          </a:p>
        </p:txBody>
      </p:sp>
      <p:sp>
        <p:nvSpPr>
          <p:cNvPr id="6" name="nonlocal-launch-label">
            <a:extLst xmlns:a="http://schemas.openxmlformats.org/drawingml/2006/main">
              <a:ext uri="{FF2B5EF4-FFF2-40B4-BE49-F238E27FC236}">
                <a16:creationId xmlns:a16="http://schemas.microsoft.com/office/drawing/2014/main" id="{E24B4F87-C055-4D2B-A2C8-FE65297E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05075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kernel起動回数</a:t>
            </a:r>
          </a:p>
        </p:txBody>
      </p:sp>
      <p:sp>
        <p:nvSpPr>
          <p:cNvPr id="7" name="nonlocal-time-value">
            <a:extLst xmlns:a="http://schemas.openxmlformats.org/drawingml/2006/main">
              <a:ext uri="{FF2B5EF4-FFF2-40B4-BE49-F238E27FC236}">
                <a16:creationId xmlns:a16="http://schemas.microsoft.com/office/drawing/2014/main" id="{013389F3-0F55-4F32-8239-710BB12D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76625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2E7D32"/>
                </a:solidFill>
              </a:defRPr>
            </a:pPr>
            <a:r>
              <a:rPr sz="2850" b="1">
                <a:solidFill>
                  <a:srgbClr val="2E7D32"/>
                </a:solidFill>
              </a:rPr>
              <a:t>18.370 → 8.440秒</a:t>
            </a:r>
          </a:p>
        </p:txBody>
      </p:sp>
      <p:sp>
        <p:nvSpPr>
          <p:cNvPr id="8" name="nonlocal-time-label">
            <a:extLst xmlns:a="http://schemas.openxmlformats.org/drawingml/2006/main">
              <a:ext uri="{FF2B5EF4-FFF2-40B4-BE49-F238E27FC236}">
                <a16:creationId xmlns:a16="http://schemas.microsoft.com/office/drawing/2014/main" id="{2664661D-7950-49B5-831E-5A46D7E5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29075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exnlp_gemm_dot</a:t>
            </a:r>
          </a:p>
        </p:txBody>
      </p:sp>
      <p:sp>
        <p:nvSpPr>
          <p:cNvPr id="9" name="nonlocal-note-box">
            <a:extLst xmlns:a="http://schemas.openxmlformats.org/drawingml/2006/main">
              <a:ext uri="{FF2B5EF4-FFF2-40B4-BE49-F238E27FC236}">
                <a16:creationId xmlns:a16="http://schemas.microsoft.com/office/drawing/2014/main" id="{A86EEA64-8FAF-4E04-A557-D506EFBD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0"/>
            <a:ext cx="990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C26A00"/>
            </a:solidFill>
            <a:prstDash val="solid"/>
          </a:ln>
        </p:spPr>
      </p:sp>
      <p:sp>
        <p:nvSpPr>
          <p:cNvPr id="10" name="nonlocal-note">
            <a:extLst xmlns:a="http://schemas.openxmlformats.org/drawingml/2006/main">
              <a:ext uri="{FF2B5EF4-FFF2-40B4-BE49-F238E27FC236}">
                <a16:creationId xmlns:a16="http://schemas.microsoft.com/office/drawing/2014/main" id="{9C42F417-EDE6-42AF-B44E-384102C0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245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C26A00"/>
                </a:solidFill>
              </a:defRPr>
            </a:pPr>
            <a:r>
              <a:rPr sz="1725" b="1">
                <a:solidFill>
                  <a:srgbClr val="C26A00"/>
                </a:solidFill>
              </a:rPr>
              <a:t>原子適用順とreverse phaseの逆順は維持｜実装: tmevl10_Avec_v4.f（p.17 / 20）</a:t>
            </a:r>
          </a:p>
        </p:txBody>
      </p:sp>
      <p:sp>
        <p:nvSpPr>
          <p:cNvPr id="1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F09637D-7973-4A1B-BAA0-C87DF11E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1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7416732-7F83-4450-9C3B-0F1B3AB6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5561786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92A9F36-C0F8-447B-91CA-A75C06E1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504737-D9C7-455E-8F9F-8CAE32CE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FRPRMNとpotential処理をGPU内でつないだ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5C0552E-235C-43A9-B1D1-F39B9EC4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frprmn-list">
            <a:extLst xmlns:a="http://schemas.openxmlformats.org/drawingml/2006/main">
              <a:ext uri="{FF2B5EF4-FFF2-40B4-BE49-F238E27FC236}">
                <a16:creationId xmlns:a16="http://schemas.microsoft.com/office/drawing/2014/main" id="{38E7B7AC-D231-4697-838B-23AF64BC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7429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1F2937"/>
                </a:solidFill>
              </a:defRPr>
            </a:pPr>
            <a:r>
              <a:rPr sz="863" b="0">
                <a:solidFill>
                  <a:srgbClr val="1F2937"/>
                </a:solidFill>
              </a:rPr>
              <a:t>SOURCE: frprmn_tm12_check_Vext_Avec_v4.f</a:t>
            </a:r>
          </a:p>
          <a:p xmlns:a="http://schemas.openxmlformats.org/drawingml/2006/main">
            <a:pPr algn="l">
              <a:buNone/>
              <a:defRPr sz="863" b="0">
                <a:solidFill>
                  <a:srgbClr val="1F2937"/>
                </a:solidFill>
              </a:defRPr>
            </a:pPr>
            <a:r>
              <a:rPr sz="863" b="0">
                <a:solidFill>
                  <a:srgbClr val="1F2937"/>
                </a:solidFill>
              </a:rPr>
              <a:t>      if (iscf.eq.1) then</a:t>
            </a:r>
          </a:p>
          <a:p xmlns:a="http://schemas.openxmlformats.org/drawingml/2006/main">
            <a:pPr algn="l">
              <a:buNone/>
              <a:defRPr sz="863" b="0">
                <a:solidFill>
                  <a:srgbClr val="1F2937"/>
                </a:solidFill>
              </a:defRPr>
            </a:pPr>
            <a:r>
              <a:rPr sz="863" b="0">
                <a:solidFill>
                  <a:srgbClr val="1F2937"/>
                </a:solidFill>
              </a:rPr>
              <a:t>#ifdef _OPENACC</a:t>
            </a:r>
          </a:p>
          <a:p xmlns:a="http://schemas.openxmlformats.org/drawingml/2006/main">
            <a:pPr algn="l">
              <a:buNone/>
              <a:defRPr sz="863" b="0">
                <a:solidFill>
                  <a:srgbClr val="1F2937"/>
                </a:solidFill>
              </a:defRPr>
            </a:pPr>
            <a:r>
              <a:rPr sz="863" b="0">
                <a:solidFill>
                  <a:srgbClr val="1F2937"/>
                </a:solidFill>
              </a:rPr>
              <a:t>!$acc enter data create(COEF0(1:NG2Q,1:MXBND,1:NUMKQ))</a:t>
            </a:r>
          </a:p>
          <a:p xmlns:a="http://schemas.openxmlformats.org/drawingml/2006/main">
            <a:pPr algn="l">
              <a:buNone/>
              <a:defRPr sz="863" b="0">
                <a:solidFill>
                  <a:srgbClr val="1F2937"/>
                </a:solidFill>
              </a:defRPr>
            </a:pPr>
            <a:r>
              <a:rPr sz="863" b="0">
                <a:solidFill>
                  <a:srgbClr val="1F2937"/>
                </a:solidFill>
              </a:rPr>
              <a:t>!$acc parallel loop collapse(3)</a:t>
            </a:r>
          </a:p>
          <a:p xmlns:a="http://schemas.openxmlformats.org/drawingml/2006/main">
            <a:pPr algn="l">
              <a:buNone/>
              <a:defRPr sz="863" b="0">
                <a:solidFill>
                  <a:srgbClr val="1F2937"/>
                </a:solidFill>
              </a:defRPr>
            </a:pPr>
            <a:r>
              <a:rPr sz="863" b="0">
                <a:solidFill>
                  <a:srgbClr val="1F2937"/>
                </a:solidFill>
              </a:rPr>
              <a:t>!$acc&amp; present(COEF(1:NG2Q,1:MXBND,1:NUMKQ),</a:t>
            </a:r>
          </a:p>
          <a:p xmlns:a="http://schemas.openxmlformats.org/drawingml/2006/main">
            <a:pPr algn="l">
              <a:buNone/>
              <a:defRPr sz="863" b="0">
                <a:solidFill>
                  <a:srgbClr val="1F2937"/>
                </a:solidFill>
              </a:defRPr>
            </a:pPr>
            <a:r>
              <a:rPr sz="863" b="0">
                <a:solidFill>
                  <a:srgbClr val="1F2937"/>
                </a:solidFill>
              </a:rPr>
              <a:t>!$acc&amp; COEF0(1:NG2Q,1:MXBND,1:NUMKQ))</a:t>
            </a:r>
          </a:p>
          <a:p xmlns:a="http://schemas.openxmlformats.org/drawingml/2006/main">
            <a:pPr algn="l">
              <a:buNone/>
              <a:defRPr sz="863" b="0">
                <a:solidFill>
                  <a:srgbClr val="1F2937"/>
                </a:solidFill>
              </a:defRPr>
            </a:pPr>
            <a:r>
              <a:rPr sz="863" b="0">
                <a:solidFill>
                  <a:srgbClr val="1F2937"/>
                </a:solidFill>
              </a:rPr>
              <a:t>       do ik0=1,numkq</a:t>
            </a:r>
          </a:p>
          <a:p xmlns:a="http://schemas.openxmlformats.org/drawingml/2006/main">
            <a:pPr algn="l">
              <a:buNone/>
              <a:defRPr sz="863" b="0">
                <a:solidFill>
                  <a:srgbClr val="1F2937"/>
                </a:solidFill>
              </a:defRPr>
            </a:pPr>
            <a:r>
              <a:rPr sz="863" b="0">
                <a:solidFill>
                  <a:srgbClr val="1F2937"/>
                </a:solidFill>
              </a:rPr>
              <a:t>        do ib=1,nblng</a:t>
            </a:r>
          </a:p>
          <a:p xmlns:a="http://schemas.openxmlformats.org/drawingml/2006/main">
            <a:pPr algn="l">
              <a:buNone/>
              <a:defRPr sz="863" b="0">
                <a:solidFill>
                  <a:srgbClr val="1F2937"/>
                </a:solidFill>
              </a:defRPr>
            </a:pPr>
            <a:r>
              <a:rPr sz="863" b="0">
                <a:solidFill>
                  <a:srgbClr val="1F2937"/>
                </a:solidFill>
              </a:rPr>
              <a:t>         do ig=1,ng2q</a:t>
            </a:r>
          </a:p>
          <a:p xmlns:a="http://schemas.openxmlformats.org/drawingml/2006/main">
            <a:pPr algn="l">
              <a:buNone/>
              <a:defRPr sz="863" b="0">
                <a:solidFill>
                  <a:srgbClr val="1F2937"/>
                </a:solidFill>
              </a:defRPr>
            </a:pPr>
            <a:r>
              <a:rPr sz="863" b="0">
                <a:solidFill>
                  <a:srgbClr val="1F2937"/>
                </a:solidFill>
              </a:rPr>
              <a:t>          COEF0(ig,ib,ik0)=COEF(ig,ib,ik0)</a:t>
            </a:r>
          </a:p>
          <a:p xmlns:a="http://schemas.openxmlformats.org/drawingml/2006/main">
            <a:pPr algn="l">
              <a:buNone/>
              <a:defRPr sz="863" b="0">
                <a:solidFill>
                  <a:srgbClr val="1F2937"/>
                </a:solidFill>
              </a:defRPr>
            </a:pPr>
            <a:r>
              <a:rPr sz="863" b="0">
                <a:solidFill>
                  <a:srgbClr val="1F2937"/>
                </a:solidFill>
              </a:rPr>
              <a:t>         enddo</a:t>
            </a:r>
          </a:p>
          <a:p xmlns:a="http://schemas.openxmlformats.org/drawingml/2006/main">
            <a:pPr algn="l">
              <a:buNone/>
              <a:defRPr sz="863" b="0">
                <a:solidFill>
                  <a:srgbClr val="1F2937"/>
                </a:solidFill>
              </a:defRPr>
            </a:pPr>
            <a:r>
              <a:rPr sz="863" b="0">
                <a:solidFill>
                  <a:srgbClr val="1F2937"/>
                </a:solidFill>
              </a:rPr>
              <a:t>        enddo</a:t>
            </a:r>
          </a:p>
          <a:p xmlns:a="http://schemas.openxmlformats.org/drawingml/2006/main">
            <a:pPr algn="l">
              <a:buNone/>
              <a:defRPr sz="863" b="0">
                <a:solidFill>
                  <a:srgbClr val="1F2937"/>
                </a:solidFill>
              </a:defRPr>
            </a:pPr>
            <a:r>
              <a:rPr sz="863" b="0">
                <a:solidFill>
                  <a:srgbClr val="1F2937"/>
                </a:solidFill>
              </a:rPr>
              <a:t>       enddo</a:t>
            </a:r>
          </a:p>
          <a:p xmlns:a="http://schemas.openxmlformats.org/drawingml/2006/main">
            <a:pPr algn="l">
              <a:buNone/>
              <a:defRPr sz="863" b="0">
                <a:solidFill>
                  <a:srgbClr val="1F2937"/>
                </a:solidFill>
              </a:defRPr>
            </a:pPr>
            <a:r>
              <a:rPr sz="863" b="0">
                <a:solidFill>
                  <a:srgbClr val="1F2937"/>
                </a:solidFill>
              </a:rPr>
              <a:t>#else</a:t>
            </a:r>
          </a:p>
          <a:p xmlns:a="http://schemas.openxmlformats.org/drawingml/2006/main">
            <a:pPr algn="l">
              <a:buNone/>
              <a:defRPr sz="863" b="0">
                <a:solidFill>
                  <a:srgbClr val="1F2937"/>
                </a:solidFill>
              </a:defRPr>
            </a:pPr>
            <a:r>
              <a:rPr sz="863" b="0">
                <a:solidFill>
                  <a:srgbClr val="1F2937"/>
                </a:solidFill>
              </a:rPr>
              <a:t>!$acc enter data copyin(COEF(1:NG2Q,1:MXBND,1:NUMKQ),</a:t>
            </a:r>
          </a:p>
          <a:p xmlns:a="http://schemas.openxmlformats.org/drawingml/2006/main">
            <a:pPr algn="l">
              <a:buNone/>
              <a:defRPr sz="863" b="0">
                <a:solidFill>
                  <a:srgbClr val="1F2937"/>
                </a:solidFill>
              </a:defRPr>
            </a:pPr>
            <a:r>
              <a:rPr sz="863" b="0">
                <a:solidFill>
                  <a:srgbClr val="1F2937"/>
                </a:solidFill>
              </a:rPr>
              <a:t>!$acc&amp; COEF0(1:NG2Q,1:MXBND,1:NUMKQ))</a:t>
            </a:r>
          </a:p>
          <a:p xmlns:a="http://schemas.openxmlformats.org/drawingml/2006/main">
            <a:pPr algn="l">
              <a:buNone/>
              <a:defRPr sz="863" b="0">
                <a:solidFill>
                  <a:srgbClr val="1F2937"/>
                </a:solidFill>
              </a:defRPr>
            </a:pPr>
            <a:r>
              <a:rPr sz="863" b="0">
                <a:solidFill>
                  <a:srgbClr val="1F2937"/>
                </a:solidFill>
              </a:rPr>
              <a:t>#endif</a:t>
            </a:r>
          </a:p>
          <a:p xmlns:a="http://schemas.openxmlformats.org/drawingml/2006/main">
            <a:pPr algn="l">
              <a:buNone/>
              <a:defRPr sz="863" b="0">
                <a:solidFill>
                  <a:srgbClr val="1F2937"/>
                </a:solidFill>
              </a:defRPr>
            </a:pPr>
            <a:r>
              <a:rPr sz="863" b="0">
                <a:solidFill>
                  <a:srgbClr val="1F2937"/>
                </a:solidFill>
              </a:rPr>
              <a:t>      endif</a:t>
            </a:r>
          </a:p>
        </p:txBody>
      </p:sp>
      <p:sp>
        <p:nvSpPr>
          <p:cNvPr id="5" name="vpj-value">
            <a:extLst xmlns:a="http://schemas.openxmlformats.org/drawingml/2006/main">
              <a:ext uri="{FF2B5EF4-FFF2-40B4-BE49-F238E27FC236}">
                <a16:creationId xmlns:a16="http://schemas.microsoft.com/office/drawing/2014/main" id="{D9F9B0BE-BB51-4058-B1F0-712CEBF9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6687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2E7D32"/>
                </a:solidFill>
              </a:defRPr>
            </a:pPr>
            <a:r>
              <a:rPr sz="2325" b="1">
                <a:solidFill>
                  <a:srgbClr val="2E7D32"/>
                </a:solidFill>
              </a:rPr>
              <a:t>36.130 → 1.800秒</a:t>
            </a:r>
          </a:p>
        </p:txBody>
      </p:sp>
      <p:sp>
        <p:nvSpPr>
          <p:cNvPr id="6" name="vpj-label">
            <a:extLst xmlns:a="http://schemas.openxmlformats.org/drawingml/2006/main">
              <a:ext uri="{FF2B5EF4-FFF2-40B4-BE49-F238E27FC236}">
                <a16:creationId xmlns:a16="http://schemas.microsoft.com/office/drawing/2014/main" id="{73CB0216-64F1-451D-BB76-5EDFFB1D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19325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VPJ積分</a:t>
            </a:r>
          </a:p>
        </p:txBody>
      </p:sp>
      <p:sp>
        <p:nvSpPr>
          <p:cNvPr id="7" name="locpot-value">
            <a:extLst xmlns:a="http://schemas.openxmlformats.org/drawingml/2006/main">
              <a:ext uri="{FF2B5EF4-FFF2-40B4-BE49-F238E27FC236}">
                <a16:creationId xmlns:a16="http://schemas.microsoft.com/office/drawing/2014/main" id="{13EF716A-0806-4CE9-A300-9653E889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0037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1769AA"/>
                </a:solidFill>
              </a:defRPr>
            </a:pPr>
            <a:r>
              <a:rPr sz="2325" b="1">
                <a:solidFill>
                  <a:srgbClr val="1769AA"/>
                </a:solidFill>
              </a:rPr>
              <a:t>2.765 → 0.305秒</a:t>
            </a:r>
          </a:p>
        </p:txBody>
      </p:sp>
      <p:sp>
        <p:nvSpPr>
          <p:cNvPr id="8" name="locpot-label">
            <a:extLst xmlns:a="http://schemas.openxmlformats.org/drawingml/2006/main">
              <a:ext uri="{FF2B5EF4-FFF2-40B4-BE49-F238E27FC236}">
                <a16:creationId xmlns:a16="http://schemas.microsoft.com/office/drawing/2014/main" id="{CA9519AE-3535-4A02-BF81-239A79E3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552825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LOCPOT</a:t>
            </a:r>
          </a:p>
        </p:txBody>
      </p:sp>
      <p:sp>
        <p:nvSpPr>
          <p:cNvPr id="9" name="restore-value">
            <a:extLst xmlns:a="http://schemas.openxmlformats.org/drawingml/2006/main">
              <a:ext uri="{FF2B5EF4-FFF2-40B4-BE49-F238E27FC236}">
                <a16:creationId xmlns:a16="http://schemas.microsoft.com/office/drawing/2014/main" id="{A0D4E12D-F42E-4F90-82B8-CAD8A650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3387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2D9CDB"/>
                </a:solidFill>
              </a:defRPr>
            </a:pPr>
            <a:r>
              <a:rPr sz="2325" b="1">
                <a:solidFill>
                  <a:srgbClr val="2D9CDB"/>
                </a:solidFill>
              </a:rPr>
              <a:t>2.159 → 0.003秒</a:t>
            </a:r>
          </a:p>
        </p:txBody>
      </p:sp>
      <p:sp>
        <p:nvSpPr>
          <p:cNvPr id="10" name="restore-label">
            <a:extLst xmlns:a="http://schemas.openxmlformats.org/drawingml/2006/main">
              <a:ext uri="{FF2B5EF4-FFF2-40B4-BE49-F238E27FC236}">
                <a16:creationId xmlns:a16="http://schemas.microsoft.com/office/drawing/2014/main" id="{F9C807AB-B4FB-42EF-8D0D-A0389AD7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886325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不要なHost復元</a:t>
            </a:r>
          </a:p>
        </p:txBody>
      </p:sp>
      <p:sp>
        <p:nvSpPr>
          <p:cNvPr id="11" name="frprmn-note-box">
            <a:extLst xmlns:a="http://schemas.openxmlformats.org/drawingml/2006/main">
              <a:ext uri="{FF2B5EF4-FFF2-40B4-BE49-F238E27FC236}">
                <a16:creationId xmlns:a16="http://schemas.microsoft.com/office/drawing/2014/main" id="{E44EAFA4-32C7-4B00-88DB-DA4DD598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981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12" name="frprmn-note">
            <a:extLst xmlns:a="http://schemas.openxmlformats.org/drawingml/2006/main">
              <a:ext uri="{FF2B5EF4-FFF2-40B4-BE49-F238E27FC236}">
                <a16:creationId xmlns:a16="http://schemas.microsoft.com/office/drawing/2014/main" id="{D44A038E-3843-4C29-86DD-EF0A897A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591175"/>
            <a:ext cx="914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正式改善は限定COEF常駐｜実装: frprmn / electf4 / vpj_gen / lib4_ASL_2（p.17）</a:t>
            </a:r>
          </a:p>
        </p:txBody>
      </p:sp>
      <p:sp>
        <p:nvSpPr>
          <p:cNvPr id="1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C803DF2-42DA-4FD0-B45E-F4A2DE13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1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65D7E17D-91F3-4045-9C02-3CABCB45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1021544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A30AF6B-3F89-4CDC-8D1B-0D64FA3E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6977C0B-4FC2-4AE5-AA3C-5FD28257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データ常駐化がGPU化の実効性を高めた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8D2D60E-0563-4E80-9606-E0373876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5" name="residency-results">
            <a:extLst xmlns:a="http://schemas.openxmlformats.org/drawingml/2006/main">
              <a:ext uri="{FF2B5EF4-FFF2-40B4-BE49-F238E27FC236}">
                <a16:creationId xmlns:a16="http://schemas.microsoft.com/office/drawing/2014/main" id="{8CEDA84D-1847-40A5-B6DF-FA715334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COEF D2H 944回を削除　｜　必須同期を約103回へ集約　｜　metadata copyinをloop外へ</a:t>
            </a:r>
          </a:p>
        </p:txBody>
      </p:sp>
      <p:sp>
        <p:nvSpPr>
          <p:cNvPr id="6" name="residency-memory">
            <a:extLst xmlns:a="http://schemas.openxmlformats.org/drawingml/2006/main">
              <a:ext uri="{FF2B5EF4-FFF2-40B4-BE49-F238E27FC236}">
                <a16:creationId xmlns:a16="http://schemas.microsoft.com/office/drawing/2014/main" id="{3593F2C5-26A0-4D29-B711-5B2051A4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76262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769AA"/>
                </a:solidFill>
              </a:defRPr>
            </a:pPr>
            <a:r>
              <a:rPr sz="1500" b="0">
                <a:solidFill>
                  <a:srgbClr val="1769AA"/>
                </a:solidFill>
              </a:rPr>
              <a:t>上記は説明用pseudo codeではなく、採用ソースのOpenACC directiveを直接抜粋</a:t>
            </a:r>
          </a:p>
        </p:txBody>
      </p:sp>
      <p:sp>
        <p:nvSpPr>
          <p:cNvPr id="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2C78EFE-93C7-4172-8F46-80469C32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F5E36F13-209E-4767-BE19-703056A5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10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762000" y="1524000"/>
          <a:ext xmlns:a="http://schemas.openxmlformats.org/drawingml/2006/main" cx="106680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8334375"/>
              </a:tblGrid>
              <a:tr h="657225"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</a:rPr>
                        <a:t>対象 / source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</a:rPr>
                        <a:t>採用ソースにある実コード（抜粋）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57225">
                <a:tc>
                  <a:txBody>
                    <a:bodyPr anchor="ctr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</a:rPr>
                        <a:t>COEF</a:t>
                      </a:r>
                    </a:p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</a:rPr>
                        <a:t>frprmn:1535</a:t>
                      </a:r>
                    </a:p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</a:rPr>
                        <a:t>alloc:1727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788" b="0">
                          <a:solidFill>
                            <a:srgbClr val="1F2937"/>
                          </a:solidFill>
                        </a:rPr>
                        <a:t>!$acc enter data copyin(COEF(1:NG2Q,1:MXBND,1:NUMKQ))</a:t>
                      </a:r>
                    </a:p>
                    <a:p>
                      <a:pPr algn="l"/>
                      <a:r>
                        <a:rPr sz="788" b="0">
                          <a:solidFill>
                            <a:srgbClr val="1F2937"/>
                          </a:solidFill>
                        </a:rPr>
                        <a:t>!$acc exit data delete(COEF(1:NG2Q,1:MXBND2,1:NUMKQ))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anchor="ctr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</a:rPr>
                        <a:t>COEF0</a:t>
                      </a:r>
                    </a:p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</a:rPr>
                        <a:t>frprmn:1614–1636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788" b="0">
                          <a:solidFill>
                            <a:srgbClr val="1F2937"/>
                          </a:solidFill>
                        </a:rPr>
                        <a:t>!$acc enter data create(COEF0(1:NG2Q,1:MXBND,1:NUMKQ))</a:t>
                      </a:r>
                    </a:p>
                    <a:p>
                      <a:pPr algn="l"/>
                      <a:r>
                        <a:rPr sz="788" b="0">
                          <a:solidFill>
                            <a:srgbClr val="1F2937"/>
                          </a:solidFill>
                        </a:rPr>
                        <a:t>!$acc parallel loop collapse(3)</a:t>
                      </a:r>
                    </a:p>
                    <a:p>
                      <a:pPr algn="l"/>
                      <a:r>
                        <a:rPr sz="788" b="0">
                          <a:solidFill>
                            <a:srgbClr val="1F2937"/>
                          </a:solidFill>
                        </a:rPr>
                        <a:t>!$acc&amp; present(COEF(1:NG2Q,1:MXBND,1:NUMKQ),</a:t>
                      </a:r>
                    </a:p>
                    <a:p>
                      <a:pPr algn="l"/>
                      <a:r>
                        <a:rPr sz="788" b="0">
                          <a:solidFill>
                            <a:srgbClr val="1F2937"/>
                          </a:solidFill>
                        </a:rPr>
                        <a:t>!$acc&amp; COEF0(1:NG2Q,1:MXBND,1:NUMKQ))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</a:tr>
              <a:tr h="657225">
                <a:tc>
                  <a:txBody>
                    <a:bodyPr anchor="ctr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</a:rPr>
                        <a:t>nonlocal staging</a:t>
                      </a:r>
                    </a:p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</a:rPr>
                        <a:t>tmevl10:1824–1825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788" b="0">
                          <a:solidFill>
                            <a:srgbClr val="1F2937"/>
                          </a:solidFill>
                        </a:rPr>
                        <a:t>!$acc enter data create(work2_(1:ngwork,1:loopcnt),</a:t>
                      </a:r>
                    </a:p>
                    <a:p>
                      <a:pPr algn="l"/>
                      <a:r>
                        <a:rPr sz="788" b="0">
                          <a:solidFill>
                            <a:srgbClr val="1F2937"/>
                          </a:solidFill>
                        </a:rPr>
                        <a:t>!$acc&amp; cfac_(1:loopcnt),ngnl_(1:loopcnt))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anchor="ctr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</a:rPr>
                        <a:t>static metadata</a:t>
                      </a:r>
                    </a:p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</a:rPr>
                        <a:t>pspw:1053–1057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788" b="0">
                          <a:solidFill>
                            <a:srgbClr val="1F2937"/>
                          </a:solidFill>
                        </a:rPr>
                        <a:t>!$acc enter data copyin(J2G(1:NG2Q,1:NUMKQ),</a:t>
                      </a:r>
                    </a:p>
                    <a:p>
                      <a:pPr algn="l"/>
                      <a:r>
                        <a:rPr sz="788" b="0">
                          <a:solidFill>
                            <a:srgbClr val="1F2937"/>
                          </a:solidFill>
                        </a:rPr>
                        <a:t>!$acc&amp; OCC(1:NBNDQ,1:NUMKQ),RAD(1:MESHQ,1:NTYQ),</a:t>
                      </a:r>
                    </a:p>
                    <a:p>
                      <a:pPr algn="l"/>
                      <a:r>
                        <a:rPr sz="788" b="0">
                          <a:solidFill>
                            <a:srgbClr val="1F2937"/>
                          </a:solidFill>
                        </a:rPr>
                        <a:t>!$acc&amp; PSPOT(1:MESHQ,1:ISPD,1:NTYQ),</a:t>
                      </a:r>
                    </a:p>
                    <a:p>
                      <a:pPr algn="l"/>
                      <a:r>
                        <a:rPr sz="788" b="0">
                          <a:solidFill>
                            <a:srgbClr val="1F2937"/>
                          </a:solidFill>
                        </a:rPr>
                        <a:t>!$acc&amp; PSPOT2(1:MESHQ,1:ISPD,1:NTYQ),</a:t>
                      </a:r>
                    </a:p>
                    <a:p>
                      <a:pPr algn="l"/>
                      <a:r>
                        <a:rPr sz="788" b="0">
                          <a:solidFill>
                            <a:srgbClr val="1F2937"/>
                          </a:solidFill>
                        </a:rPr>
                        <a:t>!$acc&amp; PHIL(1:MESHQ,1:4,1:NTYQ))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08932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B2EBB83-8947-46F6-B1C8-0C109788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24B4F8-D8CC-46B1-B502-D8A297DA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A100では段階的に63.214秒まで短縮した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CBCE21F-6A66-4825-8C69-2C72C4CA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762000" y="1476375"/>
          <a:ext xmlns:a="http://schemas.openxmlformats.org/drawingml/2006/main" cx="106680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edc2274154f4ce3"/>
          </a:graphicData>
        </a:graphic>
      </p:graphicFrame>
      <p:sp>
        <p:nvSpPr>
          <p:cNvPr id="5" name="progress-result">
            <a:extLst xmlns:a="http://schemas.openxmlformats.org/drawingml/2006/main">
              <a:ext uri="{FF2B5EF4-FFF2-40B4-BE49-F238E27FC236}">
                <a16:creationId xmlns:a16="http://schemas.microsoft.com/office/drawing/2014/main" id="{1BEA4B77-362D-4396-86E7-58FD4304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197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146.540秒 → 63.214秒　｜　約2.32倍　｜　約56.9%短縮</a:t>
            </a:r>
          </a:p>
        </p:txBody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18BF519-2DB9-4546-968C-D1C79BCF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33B3A1E7-AD27-414E-B8E7-C1C9F200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475008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3A79E99-B12A-4B2C-85A4-5D2C7A6B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A8DED02-4F5A-4528-8BB8-565B4F8B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5系列の正式baselineを独立して管理する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F3D3246-B4BB-474F-B375-92709765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5" name="platform-note">
            <a:extLst xmlns:a="http://schemas.openxmlformats.org/drawingml/2006/main">
              <a:ext uri="{FF2B5EF4-FFF2-40B4-BE49-F238E27FC236}">
                <a16:creationId xmlns:a16="http://schemas.microsoft.com/office/drawing/2014/main" id="{2895AECB-066A-4839-AD24-92295202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9625"/>
            <a:ext cx="10287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platform-note-text">
            <a:extLst xmlns:a="http://schemas.openxmlformats.org/drawingml/2006/main">
              <a:ext uri="{FF2B5EF4-FFF2-40B4-BE49-F238E27FC236}">
                <a16:creationId xmlns:a16="http://schemas.microsoft.com/office/drawing/2014/main" id="{584BB144-B5D2-4D36-982A-5AF9CA6F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905375"/>
            <a:ext cx="962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CPU系列は2 socket / full-core、GPU系列は1 GPU。装置数が異なるためwallの直接比較ではない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6980P・8468・8592+は独立baseline。全runでnormal / relaxed / strict validationを通過</a:t>
            </a:r>
          </a:p>
        </p:txBody>
      </p:sp>
      <p:sp>
        <p:nvSpPr>
          <p:cNvPr id="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8CDEAA4-22B7-4D5E-828F-78457EE4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GPU化｜2026-08-05</a:t>
            </a:r>
          </a:p>
        </p:txBody>
      </p:sp>
      <p:sp>
        <p:nvSpPr>
          <p:cNvPr id="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C3183B65-87AC-475E-9653-BAEFA5EF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12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23875" y="1476375"/>
          <a:ext xmlns:a="http://schemas.openxmlformats.org/drawingml/2006/main" cx="111442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619625"/>
                <a:gridCol w="1381125"/>
                <a:gridCol w="1190625"/>
                <a:gridCol w="1571625"/>
              </a:tblGrid>
              <a:tr h="47625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プラットフォーム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実行構成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中央値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range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正常性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7625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F2937"/>
                          </a:solidFill>
                        </a:rPr>
                        <a:t>NVIDIA A100-PCIE-40GB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F2937"/>
                          </a:solidFill>
                        </a:rPr>
                        <a:t>OpenACC/cuFFT、1 GPU × 1 MPI × OMP 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F2937"/>
                          </a:solidFill>
                        </a:rPr>
                        <a:t>63.214秒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F2937"/>
                          </a:solidFill>
                        </a:rPr>
                        <a:t>0.103秒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E7D32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F2937"/>
                          </a:solidFill>
                        </a:rPr>
                        <a:t>NVIDIA H100 PCIe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F2937"/>
                          </a:solidFill>
                        </a:rPr>
                        <a:t>OpenACC/cuFFT、1 GPU × 1 MPI × OMP 1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F2937"/>
                          </a:solidFill>
                        </a:rPr>
                        <a:t>34.109秒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F2937"/>
                          </a:solidFill>
                        </a:rPr>
                        <a:t>0.091秒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E7D32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</a:tr>
              <a:tr h="47625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F2937"/>
                          </a:solidFill>
                        </a:rPr>
                        <a:t>Intel Xeon 6980P ×2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F2937"/>
                          </a:solidFill>
                        </a:rPr>
                        <a:t>ifx/FFTW、32 MPI × 8 OMP = 256 threads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F2937"/>
                          </a:solidFill>
                        </a:rPr>
                        <a:t>16.539秒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F2937"/>
                          </a:solidFill>
                        </a:rPr>
                        <a:t>0.058秒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E7D32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F2937"/>
                          </a:solidFill>
                        </a:rPr>
                        <a:t>Xeon Platinum 8468 ×2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F2937"/>
                          </a:solidFill>
                        </a:rPr>
                        <a:t>ifx/FFTW、32 MPI × 3 OMP = 96 threads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F2937"/>
                          </a:solidFill>
                        </a:rPr>
                        <a:t>20.597秒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F2937"/>
                          </a:solidFill>
                        </a:rPr>
                        <a:t>0.056秒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E7D32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</a:tr>
              <a:tr h="47625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F2937"/>
                          </a:solidFill>
                        </a:rPr>
                        <a:t>Xeon Platinum 8592+ ×2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F2937"/>
                          </a:solidFill>
                        </a:rPr>
                        <a:t>ifx/FFTW、32 MPI × 4 OMP = 128 threads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F2937"/>
                          </a:solidFill>
                        </a:rPr>
                        <a:t>19.595秒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F2937"/>
                          </a:solidFill>
                        </a:rPr>
                        <a:t>0.053秒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E7D32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31055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1054F5D-5DC4-40CD-A29B-410D26A4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664F8F-9BE3-4645-8A49-FE253E46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正しく動いてもwall timeが改善しない変更は残さなかった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5CDB264-102F-48CE-BBD3-9F833687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reject-name-0">
            <a:extLst xmlns:a="http://schemas.openxmlformats.org/drawingml/2006/main">
              <a:ext uri="{FF2B5EF4-FFF2-40B4-BE49-F238E27FC236}">
                <a16:creationId xmlns:a16="http://schemas.microsoft.com/office/drawing/2014/main" id="{4FB6FD29-B246-41ED-867E-A07CAE89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A63A3A"/>
                </a:solidFill>
              </a:defRPr>
            </a:pPr>
            <a:r>
              <a:rPr sz="1650" b="1">
                <a:solidFill>
                  <a:srgbClr val="A63A3A"/>
                </a:solidFill>
              </a:rPr>
              <a:t>SEPPOTF batch</a:t>
            </a:r>
          </a:p>
        </p:txBody>
      </p:sp>
      <p:sp>
        <p:nvSpPr>
          <p:cNvPr id="5" name="reject-result-0">
            <a:extLst xmlns:a="http://schemas.openxmlformats.org/drawingml/2006/main">
              <a:ext uri="{FF2B5EF4-FFF2-40B4-BE49-F238E27FC236}">
                <a16:creationId xmlns:a16="http://schemas.microsoft.com/office/drawing/2014/main" id="{85E998DB-267D-4447-912F-66EB1E98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71625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正常だがA100で遅化</a:t>
            </a:r>
          </a:p>
        </p:txBody>
      </p:sp>
      <p:sp>
        <p:nvSpPr>
          <p:cNvPr id="6" name="reject-name-1">
            <a:extLst xmlns:a="http://schemas.openxmlformats.org/drawingml/2006/main">
              <a:ext uri="{FF2B5EF4-FFF2-40B4-BE49-F238E27FC236}">
                <a16:creationId xmlns:a16="http://schemas.microsoft.com/office/drawing/2014/main" id="{2C1664FB-BE3F-4FB2-8628-4CD818EB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A63A3A"/>
                </a:solidFill>
              </a:defRPr>
            </a:pPr>
            <a:r>
              <a:rPr sz="1650" b="1">
                <a:solidFill>
                  <a:srgbClr val="A63A3A"/>
                </a:solidFill>
              </a:rPr>
              <a:t>compiler flags</a:t>
            </a:r>
          </a:p>
        </p:txBody>
      </p:sp>
      <p:sp>
        <p:nvSpPr>
          <p:cNvPr id="7" name="reject-result-1">
            <a:extLst xmlns:a="http://schemas.openxmlformats.org/drawingml/2006/main">
              <a:ext uri="{FF2B5EF4-FFF2-40B4-BE49-F238E27FC236}">
                <a16:creationId xmlns:a16="http://schemas.microsoft.com/office/drawing/2014/main" id="{3C637635-A8EC-4CA4-97C0-444D4FE3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05050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改善がrun幅付近</a:t>
            </a:r>
          </a:p>
        </p:txBody>
      </p:sp>
      <p:sp>
        <p:nvSpPr>
          <p:cNvPr id="8" name="reject-name-2">
            <a:extLst xmlns:a="http://schemas.openxmlformats.org/drawingml/2006/main">
              <a:ext uri="{FF2B5EF4-FFF2-40B4-BE49-F238E27FC236}">
                <a16:creationId xmlns:a16="http://schemas.microsoft.com/office/drawing/2014/main" id="{34211DAD-F08B-4B93-955C-7DA62561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3847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A63A3A"/>
                </a:solidFill>
              </a:defRPr>
            </a:pPr>
            <a:r>
              <a:rPr sz="1650" b="1">
                <a:solidFill>
                  <a:srgbClr val="A63A3A"/>
                </a:solidFill>
              </a:rPr>
              <a:t>managed / unified memory</a:t>
            </a:r>
          </a:p>
        </p:txBody>
      </p:sp>
      <p:sp>
        <p:nvSpPr>
          <p:cNvPr id="9" name="reject-result-2">
            <a:extLst xmlns:a="http://schemas.openxmlformats.org/drawingml/2006/main">
              <a:ext uri="{FF2B5EF4-FFF2-40B4-BE49-F238E27FC236}">
                <a16:creationId xmlns:a16="http://schemas.microsoft.com/office/drawing/2014/main" id="{AA712EBB-20BA-4DCE-B745-93B8009B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38475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正式設定より2倍以上遅化</a:t>
            </a:r>
          </a:p>
        </p:txBody>
      </p:sp>
      <p:sp>
        <p:nvSpPr>
          <p:cNvPr id="10" name="reject-name-3">
            <a:extLst xmlns:a="http://schemas.openxmlformats.org/drawingml/2006/main">
              <a:ext uri="{FF2B5EF4-FFF2-40B4-BE49-F238E27FC236}">
                <a16:creationId xmlns:a16="http://schemas.microsoft.com/office/drawing/2014/main" id="{51C33A5E-C5A3-4D05-9DD5-B3263024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A63A3A"/>
                </a:solidFill>
              </a:defRPr>
            </a:pPr>
            <a:r>
              <a:rPr sz="1650" b="1">
                <a:solidFill>
                  <a:srgbClr val="A63A3A"/>
                </a:solidFill>
              </a:rPr>
              <a:t>追加kernel融合・特殊化</a:t>
            </a:r>
          </a:p>
        </p:txBody>
      </p:sp>
      <p:sp>
        <p:nvSpPr>
          <p:cNvPr id="11" name="reject-result-3">
            <a:extLst xmlns:a="http://schemas.openxmlformats.org/drawingml/2006/main">
              <a:ext uri="{FF2B5EF4-FFF2-40B4-BE49-F238E27FC236}">
                <a16:creationId xmlns:a16="http://schemas.microsoft.com/office/drawing/2014/main" id="{9E374361-4B0A-45C1-9BAB-9BE7806B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771900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有意な改善なし</a:t>
            </a:r>
          </a:p>
        </p:txBody>
      </p:sp>
      <p:sp>
        <p:nvSpPr>
          <p:cNvPr id="12" name="reject-name-4">
            <a:extLst xmlns:a="http://schemas.openxmlformats.org/drawingml/2006/main">
              <a:ext uri="{FF2B5EF4-FFF2-40B4-BE49-F238E27FC236}">
                <a16:creationId xmlns:a16="http://schemas.microsoft.com/office/drawing/2014/main" id="{81E2887E-4B5E-42CF-8067-B3EAF047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0532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A63A3A"/>
                </a:solidFill>
              </a:defRPr>
            </a:pPr>
            <a:r>
              <a:rPr sz="1650" b="1">
                <a:solidFill>
                  <a:srgbClr val="A63A3A"/>
                </a:solidFill>
              </a:rPr>
              <a:t>Intel MPI scatter</a:t>
            </a:r>
          </a:p>
        </p:txBody>
      </p:sp>
      <p:sp>
        <p:nvSpPr>
          <p:cNvPr id="13" name="reject-result-4">
            <a:extLst xmlns:a="http://schemas.openxmlformats.org/drawingml/2006/main">
              <a:ext uri="{FF2B5EF4-FFF2-40B4-BE49-F238E27FC236}">
                <a16:creationId xmlns:a16="http://schemas.microsoft.com/office/drawing/2014/main" id="{8E17953A-8065-4786-BBCB-BD40C726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505325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IPL2 errorと大幅遅化</a:t>
            </a:r>
          </a:p>
        </p:txBody>
      </p:sp>
      <p:sp>
        <p:nvSpPr>
          <p:cNvPr id="14" name="reject-learning">
            <a:extLst xmlns:a="http://schemas.openxmlformats.org/drawingml/2006/main">
              <a:ext uri="{FF2B5EF4-FFF2-40B4-BE49-F238E27FC236}">
                <a16:creationId xmlns:a16="http://schemas.microsoft.com/office/drawing/2014/main" id="{0452599D-E1A9-4960-AA9F-0924C329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76875"/>
            <a:ext cx="10287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15" name="reject-learning-text">
            <a:extLst xmlns:a="http://schemas.openxmlformats.org/drawingml/2006/main">
              <a:ext uri="{FF2B5EF4-FFF2-40B4-BE49-F238E27FC236}">
                <a16:creationId xmlns:a16="http://schemas.microsoft.com/office/drawing/2014/main" id="{CAA35D88-2331-4D24-899E-3EAC3BBE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638800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tutorial専用の小さなmicro tuningは改善上限が小さい</a:t>
            </a:r>
          </a:p>
        </p:txBody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5D591D5-A4CC-4473-808A-40107AD3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1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85FB75A-39D3-47FA-8194-77D230E6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165189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CE9AEBF-E5EB-4D7C-BBC2-3BE70461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性能が伸びにくい根拠｜1 GPU × 1 MPI rank × OMP 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D9BBF6-9DAF-4A2A-AFB9-EB7599ED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最新profileが現行tutorialの改善限界を示している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043013C-C620-4BB9-8159-E6DA9F1F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52DE50A-E07E-4A0C-AC00-D494E797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C504E3BE-318D-4779-98FC-B87FC340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t>14</a:t>
            </a:r>
          </a:p>
        </p:txBody>
      </p:sp>
      <p:sp>
        <p:nvSpPr>
          <p:cNvPr id="6" name="profile-left-label">
            <a:extLst xmlns:a="http://schemas.openxmlformats.org/drawingml/2006/main">
              <a:ext uri="{FF2B5EF4-FFF2-40B4-BE49-F238E27FC236}">
                <a16:creationId xmlns:a16="http://schemas.microsoft.com/office/drawing/2014/main" id="{7344965C-16D7-430C-A27A-4BD188FD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519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69AA"/>
                </a:solidFill>
              </a:defRPr>
            </a:pPr>
            <a:r>
              <a:rPr sz="1500" b="1">
                <a:solidFill>
                  <a:srgbClr val="1769AA"/>
                </a:solidFill>
              </a:rPr>
              <a:t>Step 116｜NSYS kernel時間（秒）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523875" y="1714500"/>
          <a:ext xmlns:a="http://schemas.openxmlformats.org/drawingml/2006/main" cx="5619750" cy="3286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74ce7825a9d475b"/>
          </a:graphicData>
        </a:graphic>
      </p:graphicFrame>
      <p:sp>
        <p:nvSpPr>
          <p:cNvPr id="8" name="profile-right-label">
            <a:extLst xmlns:a="http://schemas.openxmlformats.org/drawingml/2006/main">
              <a:ext uri="{FF2B5EF4-FFF2-40B4-BE49-F238E27FC236}">
                <a16:creationId xmlns:a16="http://schemas.microsoft.com/office/drawing/2014/main" id="{201B979D-584C-475C-86A9-E0536C45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8112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C26A00"/>
                </a:solidFill>
              </a:defRPr>
            </a:pPr>
            <a:r>
              <a:rPr sz="1425" b="1">
                <a:solidFill>
                  <a:srgbClr val="C26A00"/>
                </a:solidFill>
              </a:rPr>
              <a:t>Step 116｜A100 / H100 current-source比較</a:t>
            </a:r>
          </a:p>
        </p:txBody>
      </p:sp>
      <p:sp>
        <p:nvSpPr>
          <p:cNvPr id="9" name="h2d-box">
            <a:extLst xmlns:a="http://schemas.openxmlformats.org/drawingml/2006/main">
              <a:ext uri="{FF2B5EF4-FFF2-40B4-BE49-F238E27FC236}">
                <a16:creationId xmlns:a16="http://schemas.microsoft.com/office/drawing/2014/main" id="{7E5BAF52-84EB-4E61-A1F0-14974C95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00250"/>
            <a:ext cx="4524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h2d">
            <a:extLst xmlns:a="http://schemas.openxmlformats.org/drawingml/2006/main">
              <a:ext uri="{FF2B5EF4-FFF2-40B4-BE49-F238E27FC236}">
                <a16:creationId xmlns:a16="http://schemas.microsoft.com/office/drawing/2014/main" id="{E6D5DE7F-B00A-4DE7-8508-56A45309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190750"/>
            <a:ext cx="414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F2937"/>
                </a:solidFill>
              </a:defRPr>
            </a:pPr>
            <a:r>
              <a:rPr sz="1425" b="1">
                <a:solidFill>
                  <a:srgbClr val="1F2937"/>
                </a:solidFill>
              </a:rPr>
              <a:t>H2D　A100 2.497秒｜H100 0.693秒</a:t>
            </a:r>
          </a:p>
        </p:txBody>
      </p:sp>
      <p:sp>
        <p:nvSpPr>
          <p:cNvPr id="11" name="d2h-box">
            <a:extLst xmlns:a="http://schemas.openxmlformats.org/drawingml/2006/main">
              <a:ext uri="{FF2B5EF4-FFF2-40B4-BE49-F238E27FC236}">
                <a16:creationId xmlns:a16="http://schemas.microsoft.com/office/drawing/2014/main" id="{6BEA3AC3-8736-410F-A305-03504049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05125"/>
            <a:ext cx="4524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d2h">
            <a:extLst xmlns:a="http://schemas.openxmlformats.org/drawingml/2006/main">
              <a:ext uri="{FF2B5EF4-FFF2-40B4-BE49-F238E27FC236}">
                <a16:creationId xmlns:a16="http://schemas.microsoft.com/office/drawing/2014/main" id="{7B2E8679-D05D-48B3-91C8-CFD0E94D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095625"/>
            <a:ext cx="414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F2937"/>
                </a:solidFill>
              </a:defRPr>
            </a:pPr>
            <a:r>
              <a:rPr sz="1425" b="1">
                <a:solidFill>
                  <a:srgbClr val="1F2937"/>
                </a:solidFill>
              </a:rPr>
              <a:t>D2H　A100 0.483秒｜H100 0.124秒</a:t>
            </a:r>
          </a:p>
        </p:txBody>
      </p:sp>
      <p:sp>
        <p:nvSpPr>
          <p:cNvPr id="13" name="sync-box">
            <a:extLst xmlns:a="http://schemas.openxmlformats.org/drawingml/2006/main">
              <a:ext uri="{FF2B5EF4-FFF2-40B4-BE49-F238E27FC236}">
                <a16:creationId xmlns:a16="http://schemas.microsoft.com/office/drawing/2014/main" id="{0B468C88-D22A-49A0-BF30-6BD92509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810000"/>
            <a:ext cx="4524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C26A00"/>
            </a:solidFill>
            <a:prstDash val="solid"/>
          </a:ln>
        </p:spPr>
      </p:sp>
      <p:sp>
        <p:nvSpPr>
          <p:cNvPr id="14" name="sync">
            <a:extLst xmlns:a="http://schemas.openxmlformats.org/drawingml/2006/main">
              <a:ext uri="{FF2B5EF4-FFF2-40B4-BE49-F238E27FC236}">
                <a16:creationId xmlns:a16="http://schemas.microsoft.com/office/drawing/2014/main" id="{323B7F83-7F97-409F-804B-20D2FBF4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000500"/>
            <a:ext cx="414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C26A00"/>
                </a:solidFill>
              </a:defRPr>
            </a:pPr>
            <a:r>
              <a:rPr sz="1425" b="1">
                <a:solidFill>
                  <a:srgbClr val="C26A00"/>
                </a:solidFill>
              </a:rPr>
              <a:t>NCU　32 blocks × 256 threads</a:t>
            </a:r>
          </a:p>
        </p:txBody>
      </p:sp>
      <p:sp>
        <p:nvSpPr>
          <p:cNvPr id="15" name="sync-note">
            <a:extLst xmlns:a="http://schemas.openxmlformats.org/drawingml/2006/main">
              <a:ext uri="{FF2B5EF4-FFF2-40B4-BE49-F238E27FC236}">
                <a16:creationId xmlns:a16="http://schemas.microsoft.com/office/drawing/2014/main" id="{1032150F-29C6-4A9A-B99A-20974115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863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8,192 threads／launch｜Achieved occupancy 12.50%（両GPU）</a:t>
            </a:r>
          </a:p>
        </p:txBody>
      </p:sp>
      <p:sp>
        <p:nvSpPr>
          <p:cNvPr id="16" name="profile-conclusion">
            <a:extLst xmlns:a="http://schemas.openxmlformats.org/drawingml/2006/main">
              <a:ext uri="{FF2B5EF4-FFF2-40B4-BE49-F238E27FC236}">
                <a16:creationId xmlns:a16="http://schemas.microsoft.com/office/drawing/2014/main" id="{290841EA-820B-4E97-9A52-857D5D82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34000"/>
            <a:ext cx="10572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17" name="profile-conclusion-text">
            <a:extLst xmlns:a="http://schemas.openxmlformats.org/drawingml/2006/main">
              <a:ext uri="{FF2B5EF4-FFF2-40B4-BE49-F238E27FC236}">
                <a16:creationId xmlns:a16="http://schemas.microsoft.com/office/drawing/2014/main" id="{1A88AD0C-1BB7-43DF-9511-FE9AB301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245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H100はfused kernelがA100比2.59倍高速。ただし両GPUとも32 blocks・occupancy 12.50%で並列幅不足。</a:t>
            </a:r>
          </a:p>
        </p:txBody>
      </p:sp>
    </p:spTree>
    <p:extLst>
      <p:ext uri="{BB962C8B-B14F-4D97-AF65-F5344CB8AC3E}">
        <p14:creationId xmlns:p14="http://schemas.microsoft.com/office/powerpoint/2010/main" val="92714832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3E93C04-F6BC-4774-A058-12E25F7B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41CC7B-987C-4D49-A037-690F6B30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次の課題はproduction規模での再評価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351C4A1-28DB-4BD6-B5A5-89731B68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next-challenges">
            <a:extLst xmlns:a="http://schemas.openxmlformats.org/drawingml/2006/main">
              <a:ext uri="{FF2B5EF4-FFF2-40B4-BE49-F238E27FC236}">
                <a16:creationId xmlns:a16="http://schemas.microsoft.com/office/drawing/2014/main" id="{D3A56CDE-32BF-4087-9FE7-91352C77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6191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融合非局所kernelが主要な残存処理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Host処理、MPI境界、同期・転送が一部残存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tutorial入力は32 bandsでGPU並列度が不足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production入力と対応する正解referenceが未準備</a:t>
            </a:r>
          </a:p>
        </p:txBody>
      </p:sp>
      <p:sp>
        <p:nvSpPr>
          <p:cNvPr id="5" name="next-actions-title">
            <a:extLst xmlns:a="http://schemas.openxmlformats.org/drawingml/2006/main">
              <a:ext uri="{FF2B5EF4-FFF2-40B4-BE49-F238E27FC236}">
                <a16:creationId xmlns:a16="http://schemas.microsoft.com/office/drawing/2014/main" id="{1CDDE931-09DC-4F66-9B88-4F0D2966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716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69AA"/>
                </a:solidFill>
              </a:defRPr>
            </a:pPr>
            <a:r>
              <a:rPr sz="1875" b="1">
                <a:solidFill>
                  <a:srgbClr val="1769AA"/>
                </a:solidFill>
              </a:rPr>
              <a:t>Step 116完了後の進め方</a:t>
            </a:r>
          </a:p>
        </p:txBody>
      </p:sp>
      <p:sp>
        <p:nvSpPr>
          <p:cNvPr id="6" name="next-actions">
            <a:extLst xmlns:a="http://schemas.openxmlformats.org/drawingml/2006/main">
              <a:ext uri="{FF2B5EF4-FFF2-40B4-BE49-F238E27FC236}">
                <a16:creationId xmlns:a16="http://schemas.microsoft.com/office/drawing/2014/main" id="{8D094D84-F2C8-4438-AEE1-31C23367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3714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1　production入力と正解referenceを準備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2　</a:t>
            </a:r>
            <a:r>
              <a:rPr sz="1575" b="0">
                <a:solidFill>
                  <a:srgbClr val="1F2937"/>
                </a:solidFill>
              </a:rPr>
              <a:t>production条件のbaseline</a:t>
            </a:r>
            <a:r>
              <a:rPr sz="1575" b="0">
                <a:solidFill>
                  <a:srgbClr val="1F2937"/>
                </a:solidFill>
              </a:rPr>
              <a:t>を作成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3　kernel・同期・転送量を再分類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4　根拠のある箇所を1仮説ずつ最適化</a:t>
            </a:r>
          </a:p>
        </p:txBody>
      </p:sp>
      <p:sp>
        <p:nvSpPr>
          <p:cNvPr id="7" name="next-stop">
            <a:extLst xmlns:a="http://schemas.openxmlformats.org/drawingml/2006/main">
              <a:ext uri="{FF2B5EF4-FFF2-40B4-BE49-F238E27FC236}">
                <a16:creationId xmlns:a16="http://schemas.microsoft.com/office/drawing/2014/main" id="{BB919C33-B6DF-43C5-BAF8-09E5D532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76875"/>
            <a:ext cx="1028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C26A00"/>
            </a:solidFill>
            <a:prstDash val="solid"/>
          </a:ln>
        </p:spPr>
      </p:sp>
      <p:sp>
        <p:nvSpPr>
          <p:cNvPr id="8" name="next-stop-text">
            <a:extLst xmlns:a="http://schemas.openxmlformats.org/drawingml/2006/main">
              <a:ext uri="{FF2B5EF4-FFF2-40B4-BE49-F238E27FC236}">
                <a16:creationId xmlns:a16="http://schemas.microsoft.com/office/drawing/2014/main" id="{944EBB0C-B018-4E14-92EC-77B9683E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48325"/>
            <a:ext cx="971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C26A00"/>
                </a:solidFill>
              </a:defRPr>
            </a:pPr>
            <a:r>
              <a:rPr sz="1650" b="1">
                <a:solidFill>
                  <a:srgbClr val="C26A00"/>
                </a:solidFill>
              </a:rPr>
              <a:t>次の判断にはproduction入力と対応する正解referenceが必要</a:t>
            </a:r>
          </a:p>
        </p:txBody>
      </p:sp>
      <p:sp>
        <p:nvSpPr>
          <p:cNvPr id="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F17B940-E24C-4155-A668-87F7F050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10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EB54114B-B970-43B8-85AE-5A2A234F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1317401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A8437B8-1555-4FE5-AA0A-E081FFFE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技術付録 A1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090992B-E59A-466B-A272-8F6F1BD0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正式baselineの識別情報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FB81D52-1F2C-4840-A2FA-493925B8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714375" y="1666875"/>
          <a:ext xmlns:a="http://schemas.openxmlformats.org/drawingml/2006/main" cx="10763250" cy="2333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90813"/>
                <a:gridCol w="2690813"/>
                <a:gridCol w="2690813"/>
                <a:gridCol w="2690813"/>
              </a:tblGrid>
              <a:tr h="583406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系列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logical step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revision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条件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A100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Step 107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c46cfa9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cc80、1 GPU × 1 MPI × OMP 1、diagnostic OFF</a:t>
                      </a:r>
                    </a:p>
                  </a:txBody>
                  <a:tcPr marL="91440" marR="91440" marT="45720" marB="45720"/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H100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Step 115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e6ad059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cc90、1 GPU × 1 MPI × OMP 1、diagnostic OFF</a:t>
                      </a:r>
                    </a:p>
                  </a:txBody>
                  <a:tcPr marL="91440" marR="91440" marT="45720" marB="45720"/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x86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formal baseline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7318e59系列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ifx/mpiifx、32 MPI × 8 OMP = 256 threads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baseline-head">
            <a:extLst xmlns:a="http://schemas.openxmlformats.org/drawingml/2006/main">
              <a:ext uri="{FF2B5EF4-FFF2-40B4-BE49-F238E27FC236}">
                <a16:creationId xmlns:a16="http://schemas.microsoft.com/office/drawing/2014/main" id="{92FF11A6-EAE6-4B10-98F3-7440D5C1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14875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69AA"/>
                </a:solidFill>
              </a:defRPr>
            </a:pPr>
            <a:r>
              <a:rPr sz="1575" b="1">
                <a:solidFill>
                  <a:srgbClr val="1769AA"/>
                </a:solidFill>
              </a:rPr>
              <a:t>Step 116測定revision: ac71452</a:t>
            </a:r>
          </a:p>
        </p:txBody>
      </p:sp>
      <p:sp>
        <p:nvSpPr>
          <p:cNvPr id="6" name="baseline-notes">
            <a:extLst xmlns:a="http://schemas.openxmlformats.org/drawingml/2006/main">
              <a:ext uri="{FF2B5EF4-FFF2-40B4-BE49-F238E27FC236}">
                <a16:creationId xmlns:a16="http://schemas.microsoft.com/office/drawing/2014/main" id="{B84AE194-B582-4643-AD1D-674BE16B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91125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GPUの採用済み数値計算経路はc46cfa9と一致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H100とA100のbaselineは混合・置換しない</a:t>
            </a:r>
          </a:p>
        </p:txBody>
      </p:sp>
      <p:sp>
        <p:nvSpPr>
          <p:cNvPr id="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DF00594-DBC8-4D0D-935F-2B9648C6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F67769A5-A013-499C-A33A-0FB54576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615246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C27FE8C-303F-49A5-9BFF-ADB88CA7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技術付録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628DA77-866A-42BF-8449-8BAED87F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説明ページとコード変更の対応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C9CAB06-CE9B-445A-9CAA-852EEA40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appendix-body-15">
            <a:extLst xmlns:a="http://schemas.openxmlformats.org/drawingml/2006/main">
              <a:ext uri="{FF2B5EF4-FFF2-40B4-BE49-F238E27FC236}">
                <a16:creationId xmlns:a16="http://schemas.microsoft.com/office/drawing/2014/main" id="{4F4B25FE-AA20-478E-AC0B-7C9ACEBD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57275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p.4–5, 8, 20｜tmevl10_Avec_v4.f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P常駐、S2/HLOCAL device連結、非局所kernel融合・ia順序保持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p.9–10, 21｜frprmn_tm12_check_Vext_Avec_v4.f / electf4_Vext_Avec.f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COEF/COEF0常駐、密度再構築、ELECTF境界、Host復元省略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p.7, 18–19｜fft_cufft.f / fpseid_cufft_wrap.c / fft_fftw.f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device pointer、cufftPlanMany batch、CPU/FFTW互換entry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p.9｜vpj_gen.f / lib4_ASL_2_check_Vext_SXACE.f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VPJ積分、LOCPOT、交換相関、EWALDのOpenACC化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p.10｜pspw_tm11_Vext_Avec_v4_alloc*.f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time-step常駐配列とpseudopotential metadataをloop外へ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p.24–25｜run_tddft_x86_8468_8592_sweep.sh / mod_timer.f90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x86構成sweep、named regionのcall-path tree表示</a:t>
            </a:r>
          </a:p>
        </p:txBody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73A585D-9CB8-4134-A065-D618AE3B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7649AD84-8EBC-4EB9-A2CC-A3AC3298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55313882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28A243B-832E-4912-BF06-529BBDAA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技術付録｜fft_cufft.f / ACC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D8EA17-38E6-4889-8786-E7E0659E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cuFFTをdevice pointer版へ変更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561A741-E99C-4780-ADB6-8F8AA9E3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appendix-body-16">
            <a:extLst xmlns:a="http://schemas.openxmlformats.org/drawingml/2006/main">
              <a:ext uri="{FF2B5EF4-FFF2-40B4-BE49-F238E27FC236}">
                <a16:creationId xmlns:a16="http://schemas.microsoft.com/office/drawing/2014/main" id="{45939502-66A4-47C3-AF65-55E4D652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57275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SUBROUTINE FFT3BX_fftwASL_ACC(...)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!$acc host_data use_device(RHOG)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call fpseid_cufft_exec_device(plancbp,RHOG,NG,1,ierr)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!$acc end host_data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・OpenACC管理配列のdevice pointerをcuFFTへ直接渡す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・forward FFTとbatch FFTにも同じ境界を使用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・CPU/FFTW側は互換entryを維持</a:t>
            </a:r>
          </a:p>
        </p:txBody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F2AF1C3-DDC9-497D-BAA2-F6E45C42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B8939CB-C1E8-4B46-974A-FE8910DC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37155684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4B4E883-DF11-4BD4-B1F4-A1E10278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技術付録｜fft_cufft.f / ACC_BATCH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CBD94E5-9182-432D-9446-43C78D49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bandごとのFFTをbatch化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C08A73B-0490-4879-81E5-7E5F3D80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appendix-body-17">
            <a:extLst xmlns:a="http://schemas.openxmlformats.org/drawingml/2006/main">
              <a:ext uri="{FF2B5EF4-FFF2-40B4-BE49-F238E27FC236}">
                <a16:creationId xmlns:a16="http://schemas.microsoft.com/office/drawing/2014/main" id="{62BCD346-01F0-48AA-BCDC-02DB6CD4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57275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変更前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do ib=nbegin,nend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  CALL FFT3BX_fftwASL_ACC(...,RHO1_(1,iib),...)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enddo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変更後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CALL FFT3BX_fftwASL_ACC_BATCH(...,nbndloc,RHO1_,RHO2_,...)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・複数bandをcufftPlanManyで一括実行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・wrapper呼出しと同期を削減</a:t>
            </a:r>
          </a:p>
        </p:txBody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89A4963-06E2-4B98-B21A-0A6025CB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8E769A55-258F-4BD1-AAFC-90E18FDF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600018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A04F031-BE36-4A40-BA87-5479E1B5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技術付録｜tmevl10_Avec_v4.f / projector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2CF7A7A-DD23-49D0-ACCF-A10A2FCD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非局所kernelで原子順序を保持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7BE41CC-FF60-40F6-AF84-6DFBFA7A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appendix-body-18">
            <a:extLst xmlns:a="http://schemas.openxmlformats.org/drawingml/2006/main">
              <a:ext uri="{FF2B5EF4-FFF2-40B4-BE49-F238E27FC236}">
                <a16:creationId xmlns:a16="http://schemas.microsoft.com/office/drawing/2014/main" id="{46B7FA34-5331-455D-AF14-AE5134DC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57275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!$acc parallel loop gang vector_length(256)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do iib = 1, nbndloc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!$acc loop seq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do ia = 1, loopcnt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  ja = ia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  if (reverse_order) ja = loopcnt-ia+1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  ...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  !$acc loop vector reduction(+:sr,si)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  do ig = 1, ngnl(ja)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    ...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  end do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end do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end 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・band間を並列化し、各band内の逐次ia適用順を維持</a:t>
            </a:r>
          </a:p>
        </p:txBody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90E35C0-278C-4F00-917E-FC47F644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E1172A96-D25B-4716-8B9D-22F9B306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10274895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E65BC86-F47E-441C-940B-84BDE12D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技術付録｜frprmn / corrector COEF restore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E0F755-5A6D-4071-959F-7685790A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OpenACC時の不要なHost復元を省略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835735E-0F36-408B-9C68-8F30C9A7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appendix-body-19">
            <a:extLst xmlns:a="http://schemas.openxmlformats.org/drawingml/2006/main">
              <a:ext uri="{FF2B5EF4-FFF2-40B4-BE49-F238E27FC236}">
                <a16:creationId xmlns:a16="http://schemas.microsoft.com/office/drawing/2014/main" id="{1E6F87B0-697B-44BF-B3DD-E5DCA59C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57275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#ifndef _OPENACC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call coefcp(coef0(1,1,ik0),coef(1,1,ik0),ng2q*nblng)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#endif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OpenACC経路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device上のCOEF0が正本 → Host復元を省略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CPU/FFTW経路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従来のHost copyを維持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結果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約2.159秒 → 0.003秒</a:t>
            </a:r>
          </a:p>
        </p:txBody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C030E2C-5F25-48C1-AD51-9E05A230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6BA8FED6-52F9-44A8-B8B3-23194377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85999741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9CA88DB-E3F0-4A90-BA57-85DB487E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技術付録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DC46058-0ECD-4528-BA18-1A7B674F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別テンプレートへ移す際の推奨手順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EA63416-4344-42CB-BB44-338FB446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appendix-body-20">
            <a:extLst xmlns:a="http://schemas.openxmlformats.org/drawingml/2006/main">
              <a:ext uri="{FF2B5EF4-FFF2-40B4-BE49-F238E27FC236}">
                <a16:creationId xmlns:a16="http://schemas.microsoft.com/office/drawing/2014/main" id="{0F7DA07B-C705-490D-AB95-75C9AC79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57275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1　移行先テンプレートで新しいスライドを作成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2　本ファイルからタイトル、本文、図表をスライド単位でコピー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3　移行先のレイアウトに合わせて「貼り付け先のテーマを使用」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4　グラフと表はPowerPointオブジェクトのまま貼り付け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5　発表者ノートをコピーし、末尾の[Sources]も保持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本ファイルは背景画像、特殊フォント、複雑なマスター依存を使用していない。</a:t>
            </a:r>
          </a:p>
        </p:txBody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C5B6680-10B9-4E14-861D-129C9551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940A4DE4-D609-453F-8BB5-1C30DC0D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29838963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20C4C20-8F1A-4000-8C56-B7DB3AEF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技術付録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3D1357E-22AF-48AA-989A-BA64E0E2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数値と実装情報の出典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07782F1-28B2-42F3-A772-B7611A35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appendix-body-21">
            <a:extLst xmlns:a="http://schemas.openxmlformats.org/drawingml/2006/main">
              <a:ext uri="{FF2B5EF4-FFF2-40B4-BE49-F238E27FC236}">
                <a16:creationId xmlns:a16="http://schemas.microsoft.com/office/drawing/2014/main" id="{098B2947-1F0B-4B75-851E-6B99CFD4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57275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正式baseline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docs/PERFORMANCE_BASELINE.md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採否と各Stepの履歴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docs/EXPERIMENT_LOG.md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現在地点と保留事項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docs/HANDOFF.md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GPU化率と実装履歴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docs/tddft_gpu_progress_summary_ja.md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原稿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docs/POWERPOINT_GPU_IMPLEMENTATION_SUMMARY_JA.md</a:t>
            </a:r>
          </a:p>
        </p:txBody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02D539D-B291-4671-9D0B-2DAD3682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9832C4F7-FB58-48DC-A06F-937A346A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29032637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3A79E99-B12A-4B2C-85A4-5D2C7A6B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追加x86測定｜2 socket / full-core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A8DED02-4F5A-4528-8BB8-565B4F8B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32 MPIが8468・8592+の両方で最速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F3D3246-B4BB-474F-B375-92709765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5" name="platform-note">
            <a:extLst xmlns:a="http://schemas.openxmlformats.org/drawingml/2006/main">
              <a:ext uri="{FF2B5EF4-FFF2-40B4-BE49-F238E27FC236}">
                <a16:creationId xmlns:a16="http://schemas.microsoft.com/office/drawing/2014/main" id="{2895AECB-066A-4839-AD24-92295202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9625"/>
            <a:ext cx="10287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platform-note-text">
            <a:extLst xmlns:a="http://schemas.openxmlformats.org/drawingml/2006/main">
              <a:ext uri="{FF2B5EF4-FFF2-40B4-BE49-F238E27FC236}">
                <a16:creationId xmlns:a16="http://schemas.microsoft.com/office/drawing/2014/main" id="{584BB144-B5D2-4D36-982A-5AF9CA6F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905375"/>
            <a:ext cx="962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全physical coreを使用しても、MPI rankを減らしてOpenMP teamを大きくすると単調に遅化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正式値では8592+が8468より4.87%高速。ただし6980Pより18.47%低速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実行helper: tools/run_tddft_x86_8468_8592_sweep.sh（コード対応: p.17）</a:t>
            </a:r>
          </a:p>
        </p:txBody>
      </p:sp>
      <p:sp>
        <p:nvSpPr>
          <p:cNvPr id="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8CDEAA4-22B7-4D5E-828F-78457EE4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GPU化｜2026-08-05</a:t>
            </a:r>
          </a:p>
        </p:txBody>
      </p:sp>
      <p:sp>
        <p:nvSpPr>
          <p:cNvPr id="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C3183B65-87AC-475E-9653-BAEFA5EF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24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23875" y="1666875"/>
          <a:ext xmlns:a="http://schemas.openxmlformats.org/drawingml/2006/main" cx="11144250" cy="2143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809750"/>
                <a:gridCol w="1809750"/>
                <a:gridCol w="1809750"/>
                <a:gridCol w="1809750"/>
                <a:gridCol w="2476500"/>
              </a:tblGrid>
              <a:tr h="714375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CPU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32 MPI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16 MPI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8 MPI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4 MPI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正式median / range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714375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F2937"/>
                          </a:solidFill>
                        </a:rPr>
                        <a:t>Xeon 8468 ×2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1F2937"/>
                          </a:solidFill>
                        </a:rPr>
                        <a:t>32×3  21.090秒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F2937"/>
                          </a:solidFill>
                        </a:rPr>
                        <a:t>16×6  29.488秒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F2937"/>
                          </a:solidFill>
                        </a:rPr>
                        <a:t>8×12  49.360秒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F2937"/>
                          </a:solidFill>
                        </a:rPr>
                        <a:t>4×24  88.682秒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1F2937"/>
                          </a:solidFill>
                        </a:rPr>
                        <a:t>32×3  20.597 / 0.056秒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F2937"/>
                          </a:solidFill>
                        </a:rPr>
                        <a:t>Xeon 8592+ ×2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1F2937"/>
                          </a:solidFill>
                        </a:rPr>
                        <a:t>32×4  19.603秒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F2937"/>
                          </a:solidFill>
                        </a:rPr>
                        <a:t>16×8  28.640秒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F2937"/>
                          </a:solidFill>
                        </a:rPr>
                        <a:t>8×16  49.309秒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F2937"/>
                          </a:solidFill>
                        </a:rPr>
                        <a:t>4×32  90.907秒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1F2937"/>
                          </a:solidFill>
                        </a:rPr>
                        <a:t>32×4  19.595 / 0.053秒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310553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CE9AEBF-E5EB-4D7C-BBC2-3BE70461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追加x86測定｜階層timer tree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D9BBF6-9DAF-4A2A-AFB9-EB7599ED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8592+は8468を改善したが、6980Pとの差はS2に残る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043013C-C620-4BB9-8159-E6DA9F1F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52DE50A-E07E-4A0C-AC00-D494E797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GPU化｜2026-08-05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C504E3BE-318D-4779-98FC-B87FC340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t>25</a:t>
            </a:r>
          </a:p>
        </p:txBody>
      </p:sp>
      <p:sp>
        <p:nvSpPr>
          <p:cNvPr id="6" name="profile-left-label">
            <a:extLst xmlns:a="http://schemas.openxmlformats.org/drawingml/2006/main">
              <a:ext uri="{FF2B5EF4-FFF2-40B4-BE49-F238E27FC236}">
                <a16:creationId xmlns:a16="http://schemas.microsoft.com/office/drawing/2014/main" id="{7344965C-16D7-430C-A27A-4BD188FD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519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69AA"/>
                </a:solidFill>
              </a:defRPr>
            </a:pPr>
            <a:r>
              <a:rPr sz="1500" b="1">
                <a:solidFill>
                  <a:srgbClr val="1769AA"/>
                </a:solidFill>
              </a:rPr>
              <a:t>主要inclusive timer（秒）｜3 CPU比較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523875" y="1714500"/>
          <a:ext xmlns:a="http://schemas.openxmlformats.org/drawingml/2006/main" cx="5619750" cy="3286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75a33927410474c"/>
          </a:graphicData>
        </a:graphic>
      </p:graphicFrame>
      <p:sp>
        <p:nvSpPr>
          <p:cNvPr id="8" name="profile-right-label">
            <a:extLst xmlns:a="http://schemas.openxmlformats.org/drawingml/2006/main">
              <a:ext uri="{FF2B5EF4-FFF2-40B4-BE49-F238E27FC236}">
                <a16:creationId xmlns:a16="http://schemas.microsoft.com/office/drawing/2014/main" id="{201B979D-584C-475C-86A9-E0536C45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8112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C26A00"/>
                </a:solidFill>
              </a:defRPr>
            </a:pPr>
            <a:r>
              <a:rPr sz="1425" b="1">
                <a:solidFill>
                  <a:srgbClr val="C26A00"/>
                </a:solidFill>
              </a:rPr>
              <a:t>mod_timer.f90｜rank 0 inclusive call-path tree（p.17）</a:t>
            </a:r>
          </a:p>
        </p:txBody>
      </p:sp>
      <p:sp>
        <p:nvSpPr>
          <p:cNvPr id="9" name="h2d-box">
            <a:extLst xmlns:a="http://schemas.openxmlformats.org/drawingml/2006/main">
              <a:ext uri="{FF2B5EF4-FFF2-40B4-BE49-F238E27FC236}">
                <a16:creationId xmlns:a16="http://schemas.microsoft.com/office/drawing/2014/main" id="{7E5BAF52-84EB-4E61-A1F0-14974C95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00250"/>
            <a:ext cx="4524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h2d">
            <a:extLst xmlns:a="http://schemas.openxmlformats.org/drawingml/2006/main">
              <a:ext uri="{FF2B5EF4-FFF2-40B4-BE49-F238E27FC236}">
                <a16:creationId xmlns:a16="http://schemas.microsoft.com/office/drawing/2014/main" id="{E6D5DE7F-B00A-4DE7-8508-56A45309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190750"/>
            <a:ext cx="414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F2937"/>
                </a:solidFill>
              </a:defRPr>
            </a:pPr>
            <a:r>
              <a:rPr sz="1425" b="1">
                <a:solidFill>
                  <a:srgbClr val="1F2937"/>
                </a:solidFill>
              </a:rPr>
              <a:t>time_step_total　6980P 16.478｜8468 20.620｜8592+ 19.669</a:t>
            </a:r>
          </a:p>
        </p:txBody>
      </p:sp>
      <p:sp>
        <p:nvSpPr>
          <p:cNvPr id="11" name="d2h-box">
            <a:extLst xmlns:a="http://schemas.openxmlformats.org/drawingml/2006/main">
              <a:ext uri="{FF2B5EF4-FFF2-40B4-BE49-F238E27FC236}">
                <a16:creationId xmlns:a16="http://schemas.microsoft.com/office/drawing/2014/main" id="{6BEA3AC3-8736-410F-A305-03504049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05125"/>
            <a:ext cx="4524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d2h">
            <a:extLst xmlns:a="http://schemas.openxmlformats.org/drawingml/2006/main">
              <a:ext uri="{FF2B5EF4-FFF2-40B4-BE49-F238E27FC236}">
                <a16:creationId xmlns:a16="http://schemas.microsoft.com/office/drawing/2014/main" id="{7B2E8679-D05D-48B3-91C8-CFD0E94D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095625"/>
            <a:ext cx="414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F2937"/>
                </a:solidFill>
              </a:defRPr>
            </a:pPr>
            <a:r>
              <a:rPr sz="1425" b="1">
                <a:solidFill>
                  <a:srgbClr val="1F2937"/>
                </a:solidFill>
              </a:rPr>
              <a:t>tmevl_s2　　 6980P 7.616｜8468 10.270｜8592+ 9.388</a:t>
            </a:r>
          </a:p>
        </p:txBody>
      </p:sp>
      <p:sp>
        <p:nvSpPr>
          <p:cNvPr id="13" name="sync-box">
            <a:extLst xmlns:a="http://schemas.openxmlformats.org/drawingml/2006/main">
              <a:ext uri="{FF2B5EF4-FFF2-40B4-BE49-F238E27FC236}">
                <a16:creationId xmlns:a16="http://schemas.microsoft.com/office/drawing/2014/main" id="{0B468C88-D22A-49A0-BF30-6BD92509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810000"/>
            <a:ext cx="4524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C26A00"/>
            </a:solidFill>
            <a:prstDash val="solid"/>
          </a:ln>
        </p:spPr>
      </p:sp>
      <p:sp>
        <p:nvSpPr>
          <p:cNvPr id="14" name="sync">
            <a:extLst xmlns:a="http://schemas.openxmlformats.org/drawingml/2006/main">
              <a:ext uri="{FF2B5EF4-FFF2-40B4-BE49-F238E27FC236}">
                <a16:creationId xmlns:a16="http://schemas.microsoft.com/office/drawing/2014/main" id="{323B7F83-7F97-409F-804B-20D2FBF4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000500"/>
            <a:ext cx="414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C26A00"/>
                </a:solidFill>
              </a:defRPr>
            </a:pPr>
            <a:r>
              <a:rPr sz="1425" b="1">
                <a:solidFill>
                  <a:srgbClr val="C26A00"/>
                </a:solidFill>
              </a:rPr>
              <a:t>nonlocal / FFT　6980P 5.510 / 2.096</a:t>
            </a:r>
          </a:p>
        </p:txBody>
      </p:sp>
      <p:sp>
        <p:nvSpPr>
          <p:cNvPr id="15" name="sync-note">
            <a:extLst xmlns:a="http://schemas.openxmlformats.org/drawingml/2006/main">
              <a:ext uri="{FF2B5EF4-FFF2-40B4-BE49-F238E27FC236}">
                <a16:creationId xmlns:a16="http://schemas.microsoft.com/office/drawing/2014/main" id="{1032150F-29C6-4A9A-B99A-20974115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863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8468 6.746 / 3.513｜8592+ 6.275 / 3.100</a:t>
            </a:r>
          </a:p>
        </p:txBody>
      </p:sp>
      <p:sp>
        <p:nvSpPr>
          <p:cNvPr id="16" name="profile-conclusion">
            <a:extLst xmlns:a="http://schemas.openxmlformats.org/drawingml/2006/main">
              <a:ext uri="{FF2B5EF4-FFF2-40B4-BE49-F238E27FC236}">
                <a16:creationId xmlns:a16="http://schemas.microsoft.com/office/drawing/2014/main" id="{290841EA-820B-4E97-9A52-857D5D82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34000"/>
            <a:ext cx="10572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17" name="profile-conclusion-text">
            <a:extLst xmlns:a="http://schemas.openxmlformats.org/drawingml/2006/main">
              <a:ext uri="{FF2B5EF4-FFF2-40B4-BE49-F238E27FC236}">
                <a16:creationId xmlns:a16="http://schemas.microsoft.com/office/drawing/2014/main" id="{1A88AD0C-1BB7-43DF-9511-FE9AB301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245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8592+は8468比4.6%短縮。6980Pとの差はTMEVL_S2（+23%）とS2 FFT（+48%）に残る。</a:t>
            </a:r>
          </a:p>
        </p:txBody>
      </p:sp>
    </p:spTree>
    <p:extLst>
      <p:ext uri="{BB962C8B-B14F-4D97-AF65-F5344CB8AC3E}">
        <p14:creationId xmlns:p14="http://schemas.microsoft.com/office/powerpoint/2010/main" val="9271483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2026-08-05T09:14:21.6220000Z</dcterms:created>
  <dcterms:modified xsi:type="dcterms:W3CDTF">2026-08-05T09:14:21.6220000Z</dcterms:modified>
</coreProperties>
</file>