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638b9bb564681" /><Relationship Type="http://schemas.openxmlformats.org/officeDocument/2006/relationships/extended-properties" Target="/docProps/app.xml" Id="R7cb13315556949ac" /><Relationship Type="http://schemas.openxmlformats.org/officeDocument/2006/relationships/officeDocument" Target="/ppt/presentation.xml" Id="Rcc065593b7d0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96e07f3594dd6"/>
  </p:sldMasterIdLst>
  <p:notesMasterIdLst>
    <p:notesMasterId xmlns:r="http://schemas.openxmlformats.org/officeDocument/2006/relationships" r:id="R7276a6e1334947f0"/>
  </p:notesMasterIdLst>
  <p:sldIdLst>
    <p:sldId xmlns:r="http://schemas.openxmlformats.org/officeDocument/2006/relationships" id="256" r:id="Ra67bc84a9b7f42bc"/>
    <p:sldId xmlns:r="http://schemas.openxmlformats.org/officeDocument/2006/relationships" id="257" r:id="R922993c21f044d96"/>
    <p:sldId xmlns:r="http://schemas.openxmlformats.org/officeDocument/2006/relationships" id="258" r:id="R984198381e584b71"/>
    <p:sldId xmlns:r="http://schemas.openxmlformats.org/officeDocument/2006/relationships" id="259" r:id="Rc538fec54f5945db"/>
    <p:sldId xmlns:r="http://schemas.openxmlformats.org/officeDocument/2006/relationships" id="260" r:id="Rf96a6050be6f4935"/>
    <p:sldId xmlns:r="http://schemas.openxmlformats.org/officeDocument/2006/relationships" id="261" r:id="R45e1c35d353042d7"/>
    <p:sldId xmlns:r="http://schemas.openxmlformats.org/officeDocument/2006/relationships" id="262" r:id="R002bfe68fe854b33"/>
    <p:sldId xmlns:r="http://schemas.openxmlformats.org/officeDocument/2006/relationships" id="263" r:id="Reb83234e76a34d05"/>
    <p:sldId xmlns:r="http://schemas.openxmlformats.org/officeDocument/2006/relationships" id="264" r:id="R406eeb114a4043e1"/>
    <p:sldId xmlns:r="http://schemas.openxmlformats.org/officeDocument/2006/relationships" id="265" r:id="R1d0ecefdcea54271"/>
    <p:sldId xmlns:r="http://schemas.openxmlformats.org/officeDocument/2006/relationships" id="266" r:id="R14dbcc55372542f0"/>
    <p:sldId xmlns:r="http://schemas.openxmlformats.org/officeDocument/2006/relationships" id="267" r:id="Rf7dc36b00bc14a83"/>
    <p:sldId xmlns:r="http://schemas.openxmlformats.org/officeDocument/2006/relationships" id="268" r:id="Rc8d6f2e01cd347fc"/>
    <p:sldId xmlns:r="http://schemas.openxmlformats.org/officeDocument/2006/relationships" id="269" r:id="R867c6b661c9843f4"/>
    <p:sldId xmlns:r="http://schemas.openxmlformats.org/officeDocument/2006/relationships" id="270" r:id="R35ed98def3b04098"/>
    <p:sldId xmlns:r="http://schemas.openxmlformats.org/officeDocument/2006/relationships" id="271" r:id="Rdbddccd8bd7f44f4"/>
    <p:sldId xmlns:r="http://schemas.openxmlformats.org/officeDocument/2006/relationships" id="272" r:id="R26e5c5d170ea48d6"/>
    <p:sldId xmlns:r="http://schemas.openxmlformats.org/officeDocument/2006/relationships" id="273" r:id="R9317d33d29974bd5"/>
    <p:sldId xmlns:r="http://schemas.openxmlformats.org/officeDocument/2006/relationships" id="274" r:id="Rc51b4fbd173c4fcd"/>
    <p:sldId xmlns:r="http://schemas.openxmlformats.org/officeDocument/2006/relationships" id="275" r:id="Rff297df51dd04644"/>
    <p:sldId xmlns:r="http://schemas.openxmlformats.org/officeDocument/2006/relationships" id="276" r:id="Rb172b8355df540a4"/>
    <p:sldId xmlns:r="http://schemas.openxmlformats.org/officeDocument/2006/relationships" id="277" r:id="R72ae29f9faba440d"/>
    <p:sldId xmlns:r="http://schemas.openxmlformats.org/officeDocument/2006/relationships" id="278" r:id="Rb5b56b64aca5485d"/>
    <p:sldId xmlns:r="http://schemas.openxmlformats.org/officeDocument/2006/relationships" id="279" r:id="R726cdd334b9044c4"/>
    <p:sldId xmlns:r="http://schemas.openxmlformats.org/officeDocument/2006/relationships" id="280" r:id="Rdc8ca773156840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4e578bc1f4c4c" /><Relationship Type="http://schemas.openxmlformats.org/officeDocument/2006/relationships/slideMaster" Target="/ppt/slideMasters/slideMaster1.xml" Id="R21096e07f3594dd6" /><Relationship Type="http://schemas.openxmlformats.org/officeDocument/2006/relationships/notesMaster" Target="/ppt/notesMasters/notesMaster1.xml" Id="R7276a6e1334947f0" /><Relationship Type="http://schemas.openxmlformats.org/officeDocument/2006/relationships/presProps" Target="/ppt/presProps.xml" Id="R0a834fe86ebf4cca" /><Relationship Type="http://schemas.openxmlformats.org/officeDocument/2006/relationships/tableStyles" Target="/ppt/tableStyles.xml" Id="R66c1fe7c31e44ec7" /><Relationship Type="http://schemas.openxmlformats.org/officeDocument/2006/relationships/slide" Target="/ppt/slides/slide1.xml" Id="Ra67bc84a9b7f42bc" /><Relationship Type="http://schemas.openxmlformats.org/officeDocument/2006/relationships/slide" Target="/ppt/slides/slide2.xml" Id="R922993c21f044d96" /><Relationship Type="http://schemas.openxmlformats.org/officeDocument/2006/relationships/slide" Target="/ppt/slides/slide3.xml" Id="R984198381e584b71" /><Relationship Type="http://schemas.openxmlformats.org/officeDocument/2006/relationships/slide" Target="/ppt/slides/slide4.xml" Id="Rc538fec54f5945db" /><Relationship Type="http://schemas.openxmlformats.org/officeDocument/2006/relationships/slide" Target="/ppt/slides/slide5.xml" Id="Rf96a6050be6f4935" /><Relationship Type="http://schemas.openxmlformats.org/officeDocument/2006/relationships/slide" Target="/ppt/slides/slide6.xml" Id="R45e1c35d353042d7" /><Relationship Type="http://schemas.openxmlformats.org/officeDocument/2006/relationships/slide" Target="/ppt/slides/slide7.xml" Id="R002bfe68fe854b33" /><Relationship Type="http://schemas.openxmlformats.org/officeDocument/2006/relationships/slide" Target="/ppt/slides/slide8.xml" Id="Reb83234e76a34d05" /><Relationship Type="http://schemas.openxmlformats.org/officeDocument/2006/relationships/slide" Target="/ppt/slides/slide9.xml" Id="R406eeb114a4043e1" /><Relationship Type="http://schemas.openxmlformats.org/officeDocument/2006/relationships/slide" Target="/ppt/slides/slide10.xml" Id="R1d0ecefdcea54271" /><Relationship Type="http://schemas.openxmlformats.org/officeDocument/2006/relationships/slide" Target="/ppt/slides/slide11.xml" Id="R14dbcc55372542f0" /><Relationship Type="http://schemas.openxmlformats.org/officeDocument/2006/relationships/slide" Target="/ppt/slides/slide12.xml" Id="Rf7dc36b00bc14a83" /><Relationship Type="http://schemas.openxmlformats.org/officeDocument/2006/relationships/slide" Target="/ppt/slides/slide13.xml" Id="Rc8d6f2e01cd347fc" /><Relationship Type="http://schemas.openxmlformats.org/officeDocument/2006/relationships/slide" Target="/ppt/slides/slide14.xml" Id="R867c6b661c9843f4" /><Relationship Type="http://schemas.openxmlformats.org/officeDocument/2006/relationships/slide" Target="/ppt/slides/slide15.xml" Id="R35ed98def3b04098" /><Relationship Type="http://schemas.openxmlformats.org/officeDocument/2006/relationships/slide" Target="/ppt/slides/slide16.xml" Id="Rdbddccd8bd7f44f4" /><Relationship Type="http://schemas.openxmlformats.org/officeDocument/2006/relationships/slide" Target="/ppt/slides/slide17.xml" Id="R26e5c5d170ea48d6" /><Relationship Type="http://schemas.openxmlformats.org/officeDocument/2006/relationships/slide" Target="/ppt/slides/slide18.xml" Id="R9317d33d29974bd5" /><Relationship Type="http://schemas.openxmlformats.org/officeDocument/2006/relationships/slide" Target="/ppt/slides/slide19.xml" Id="Rc51b4fbd173c4fcd" /><Relationship Type="http://schemas.openxmlformats.org/officeDocument/2006/relationships/slide" Target="/ppt/slides/slide20.xml" Id="Rff297df51dd04644" /><Relationship Type="http://schemas.openxmlformats.org/officeDocument/2006/relationships/slide" Target="/ppt/slides/slide21.xml" Id="Rb172b8355df540a4" /><Relationship Type="http://schemas.openxmlformats.org/officeDocument/2006/relationships/slide" Target="/ppt/slides/slide22.xml" Id="R72ae29f9faba440d" /><Relationship Type="http://schemas.openxmlformats.org/officeDocument/2006/relationships/slide" Target="/ppt/slides/slide23.xml" Id="Rb5b56b64aca5485d" /><Relationship Type="http://schemas.openxmlformats.org/officeDocument/2006/relationships/slide" Target="/ppt/slides/slide24.xml" Id="R726cdd334b9044c4" /><Relationship Type="http://schemas.openxmlformats.org/officeDocument/2006/relationships/slide" Target="/ppt/slides/slide25.xml" Id="Rdc8ca773156840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2bb7684ac7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a0564cf6342dd" /><Relationship Type="http://schemas.openxmlformats.org/officeDocument/2006/relationships/notesMaster" Target="/ppt/notesMasters/notesMaster1.xml" Id="R76ea9f3740ad46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55e6851f864c9a" /><Relationship Type="http://schemas.openxmlformats.org/officeDocument/2006/relationships/notesMaster" Target="/ppt/notesMasters/notesMaster1.xml" Id="R0d3ead314d76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48945e6434332" /><Relationship Type="http://schemas.openxmlformats.org/officeDocument/2006/relationships/notesMaster" Target="/ppt/notesMasters/notesMaster1.xml" Id="R98dead75e0ac47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77361d918a4d08" /><Relationship Type="http://schemas.openxmlformats.org/officeDocument/2006/relationships/notesMaster" Target="/ppt/notesMasters/notesMaster1.xml" Id="Rb566a46b5f7748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e06cab5c341a6" /><Relationship Type="http://schemas.openxmlformats.org/officeDocument/2006/relationships/notesMaster" Target="/ppt/notesMasters/notesMaster1.xml" Id="R7e1ed4a2825c4a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c0bdfe1fcb4f64" /><Relationship Type="http://schemas.openxmlformats.org/officeDocument/2006/relationships/notesMaster" Target="/ppt/notesMasters/notesMaster1.xml" Id="R4f1d2115423746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0989526344b1e" /><Relationship Type="http://schemas.openxmlformats.org/officeDocument/2006/relationships/notesMaster" Target="/ppt/notesMasters/notesMaster1.xml" Id="Re1f0a0c2b2bc41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42b14cea845af" /><Relationship Type="http://schemas.openxmlformats.org/officeDocument/2006/relationships/notesMaster" Target="/ppt/notesMasters/notesMaster1.xml" Id="Ra4856254719847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ec4b2772114a7e" /><Relationship Type="http://schemas.openxmlformats.org/officeDocument/2006/relationships/notesMaster" Target="/ppt/notesMasters/notesMaster1.xml" Id="R0d707cfa86e843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4e3238dd5948b4" /><Relationship Type="http://schemas.openxmlformats.org/officeDocument/2006/relationships/notesMaster" Target="/ppt/notesMasters/notesMaster1.xml" Id="R620aa64fe59c42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eb690559d64292" /><Relationship Type="http://schemas.openxmlformats.org/officeDocument/2006/relationships/notesMaster" Target="/ppt/notesMasters/notesMaster1.xml" Id="R71ede294b36947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7fbb16c31a4fae" /><Relationship Type="http://schemas.openxmlformats.org/officeDocument/2006/relationships/notesMaster" Target="/ppt/notesMasters/notesMaster1.xml" Id="R42c3e9ac145f4c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4c37f8ad794880" /><Relationship Type="http://schemas.openxmlformats.org/officeDocument/2006/relationships/notesMaster" Target="/ppt/notesMasters/notesMaster1.xml" Id="Rbdeea7495b2445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a5fdb7e4624ce5" /><Relationship Type="http://schemas.openxmlformats.org/officeDocument/2006/relationships/notesMaster" Target="/ppt/notesMasters/notesMaster1.xml" Id="R231f9b32a58942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f9ca62eda34204" /><Relationship Type="http://schemas.openxmlformats.org/officeDocument/2006/relationships/notesMaster" Target="/ppt/notesMasters/notesMaster1.xml" Id="Rdda1f8841e944f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040c02a7e54a74" /><Relationship Type="http://schemas.openxmlformats.org/officeDocument/2006/relationships/notesMaster" Target="/ppt/notesMasters/notesMaster1.xml" Id="R77a53a13e59d45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93d395354245c9" /><Relationship Type="http://schemas.openxmlformats.org/officeDocument/2006/relationships/notesMaster" Target="/ppt/notesMasters/notesMaster1.xml" Id="Rb9c739a667924b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6cb124e6a543c2" /><Relationship Type="http://schemas.openxmlformats.org/officeDocument/2006/relationships/notesMaster" Target="/ppt/notesMasters/notesMaster1.xml" Id="R0249cfba46964a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07866404624d95" /><Relationship Type="http://schemas.openxmlformats.org/officeDocument/2006/relationships/notesMaster" Target="/ppt/notesMasters/notesMaster1.xml" Id="R5578e9c5c0e943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c020badb274240" /><Relationship Type="http://schemas.openxmlformats.org/officeDocument/2006/relationships/notesMaster" Target="/ppt/notesMasters/notesMaster1.xml" Id="R0f56476c32e247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2a2ec1c9e94e9b" /><Relationship Type="http://schemas.openxmlformats.org/officeDocument/2006/relationships/notesMaster" Target="/ppt/notesMasters/notesMaster1.xml" Id="R65a6b43879e94a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b2be8a6c974562" /><Relationship Type="http://schemas.openxmlformats.org/officeDocument/2006/relationships/notesMaster" Target="/ppt/notesMasters/notesMaster1.xml" Id="Rcf6b531be7774b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cd245054c54a75" /><Relationship Type="http://schemas.openxmlformats.org/officeDocument/2006/relationships/notesMaster" Target="/ppt/notesMasters/notesMaster1.xml" Id="Rd4c7887a580948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a8dcf7050c4932" /><Relationship Type="http://schemas.openxmlformats.org/officeDocument/2006/relationships/notesMaster" Target="/ppt/notesMasters/notesMaster1.xml" Id="Rf205a67734b64d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c4656a551f477f" /><Relationship Type="http://schemas.openxmlformats.org/officeDocument/2006/relationships/notesMaster" Target="/ppt/notesMasters/notesMaster1.xml" Id="Rab3460d62c1f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kernelの追加だけでなく、配列常駐、FFT batch化、同期削減を一体で進めた成果を説明する。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A100はStep 107、H100はStep 115。採用済み数値sourceはc46cfa9である。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最新HEADを自動的に正式baselineとせず、数値source、測定revision、ハードウェア系列を分けて管理している。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docs/VALIDATION_WORKFLOW.md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FPSEID21/tddft_2022October/electf4_Vext_Avec.f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FPSEID21/tddft_2022October/vpj_gen.f</a:t>
            </a:r>
          </a:p>
          <a:p xmlns:a="http://schemas.openxmlformats.org/drawingml/2006/main">
            <a:r>
              <a:t>- FPSEID21/tddft_2022October/lib4_ASL_2_check_Vext_SXACE.f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その後に追加されたcompute siteはStep 78候補と必ずしも1対1対応しない。したがって39-26をそのまま13件の実装backlogとは扱わない。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 (Step 78)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橙はGit履歴で削除・置換されたbefore、青は採用済みafter。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8744981 -- FPSEID21/tddft_2022October/tmevl10_Avec_v4.f</a:t>
            </a:r>
          </a:p>
          <a:p xmlns:a="http://schemas.openxmlformats.org/drawingml/2006/main">
            <a:r>
              <a:t>- git show bad046f --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橙はkernel融合前、青は採用済み融合kernel。原子適用順とreverse順序はafterでも維持。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35835ea -- FPSEID21/tddft_2022October/tmevl10_Avec_v4.f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橙はhost seedとH2D、青はOpenACC時のdevice-local seed。CPU/FFTWのcoefcpはguard内で維持。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2b7f5ba -- FPSEID21/tddft_2022October/frprmn_tm12_check_Vext_Avec_v4.f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Git履歴から代表的なbeforeとaccepted afterを対比。省略記号は配列shapeと変更のない引数を短縮するために使用。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8744981</a:t>
            </a:r>
          </a:p>
          <a:p xmlns:a="http://schemas.openxmlformats.org/drawingml/2006/main">
            <a:r>
              <a:t>- git show bad046f</a:t>
            </a:r>
          </a:p>
          <a:p xmlns:a="http://schemas.openxmlformats.org/drawingml/2006/main">
            <a:r>
              <a:t>- git show 1b98197</a:t>
            </a:r>
          </a:p>
          <a:p xmlns:a="http://schemas.openxmlformats.org/drawingml/2006/main">
            <a:r>
              <a:t>- git show 2b7f5ba</a:t>
            </a:r>
          </a:p>
          <a:p xmlns:a="http://schemas.openxmlformats.org/drawingml/2006/main">
            <a:r>
              <a:t>- git show 4aaa33c</a:t>
            </a:r>
          </a:p>
          <a:p xmlns:a="http://schemas.openxmlformats.org/drawingml/2006/main">
            <a:r>
              <a:t>- FPSEID21/tddft_2022October/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診断runは含めず、A100の採用系列だけを表示している。Step 107は限定COEF常駐の効果。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docs/STEP120_XEON_GENERATION_SWEEPS.md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採否は正しさだけでなく、同一条件の3回中央値とrun幅を見て判断した。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116は現行数値source c46cfa9の診断であり、profiler wallは正式baselineではない。A100/H100ともnormal checkとrelaxed compareをPASS。融合kernelのaggregate時間は8.254秒／3.185秒でH100が約2.59倍短い。一方、両GPUともGrid 32 × Block 256、Achieved Occupancy 12.50%であり、tutorial入力の並列幅不足を確認した。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 (Step 116 A100/H100)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116のA100/H100 current-source profile取得は完了。MPSとGPU側MPI rank増加は調査のみで終了し、実行対象にしない。次はproduction入力と正解referenceの準備が必要。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docs/EXPERIMENT_LOG.md (Step 116)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116はA100 revision 9e67ad0、H100 revision ac71452で測定し、数値sourceはいずれもc46cfa9。文書・検証・x86測定支援は別commitとして管理する。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各説明ページの短縮ファイル名を正式なsource pathへ対応させる索引。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</a:t>
            </a:r>
          </a:p>
          <a:p xmlns:a="http://schemas.openxmlformats.org/drawingml/2006/main">
            <a:r>
              <a:t>- tools/run_tddft_x86_8468_8592_sweep.sh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橙はdevice pointer化前、青は採用済みafter。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8744981 --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橙はband loop、青は採用済みbatch call。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bad046f --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橙は融合前、青は採用済み融合kernel。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35835ea -- FPSEID21/tddft_2022October/tmevl10_Avec_v4.f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橙は無条件Host copy、青はCPU/FFTWだけ残すguard。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2b7f5ba -- FPSEID21/tddft_2022October/frprmn_tm12_check_Vext_Avec_v4.f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移し替えやすさを優先したシンプルな編集可能構成である。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更新時はPowerPointだけでなく、これら正本文書も同時に確認する。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tools/run_tddft_x86_8468_8592_sweep.sh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docs/STEP119_X86_TIMER_TREE.md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FPSEID21/tddft_2022October/mod_timer.f90</a:t>
            </a:r>
          </a:p>
          <a:p xmlns:a="http://schemas.openxmlformats.org/drawingml/2006/main">
            <a:r>
              <a:t>Inclusive rank-0 samples; paths and call counts are identical across the three CPU trees.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1872c407d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16eab379a4841" /><Relationship Type="http://schemas.openxmlformats.org/officeDocument/2006/relationships/slideLayout" Target="/ppt/slideLayouts/slideLayout1.xml" Id="R5e10c206beb6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0c206beb6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eb981b8574932" /><Relationship Type="http://schemas.openxmlformats.org/officeDocument/2006/relationships/notesSlide" Target="/ppt/notesSlides/notesSlide1.xml" Id="R3f37a9fc1198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421dec77e4618" /><Relationship Type="http://schemas.openxmlformats.org/officeDocument/2006/relationships/notesSlide" Target="/ppt/notesSlides/notesSlide2.xml" Id="R791c69f1696b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8c20568614f76" /><Relationship Type="http://schemas.openxmlformats.org/officeDocument/2006/relationships/notesSlide" Target="/ppt/notesSlides/notesSlide3.xml" Id="R9f929cee4389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d2671ed324b13" /><Relationship Type="http://schemas.openxmlformats.org/officeDocument/2006/relationships/notesSlide" Target="/ppt/notesSlides/notesSlide4.xml" Id="R8f183126b9a947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e35993fb1428b" /><Relationship Type="http://schemas.openxmlformats.org/officeDocument/2006/relationships/notesSlide" Target="/ppt/notesSlides/notesSlide5.xml" Id="Rfc0912f0934c4e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86f0be82045be" /><Relationship Type="http://schemas.openxmlformats.org/officeDocument/2006/relationships/notesSlide" Target="/ppt/notesSlides/notesSlide6.xml" Id="Rb877df30149a47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358ef2fcf4284" /><Relationship Type="http://schemas.openxmlformats.org/officeDocument/2006/relationships/notesSlide" Target="/ppt/notesSlides/notesSlide7.xml" Id="R4a69307a08a146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8412c0f74294" /><Relationship Type="http://schemas.openxmlformats.org/officeDocument/2006/relationships/notesSlide" Target="/ppt/notesSlides/notesSlide8.xml" Id="R300baae1da72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e83d1f3984202" /><Relationship Type="http://schemas.openxmlformats.org/officeDocument/2006/relationships/notesSlide" Target="/ppt/notesSlides/notesSlide9.xml" Id="R77f0ce60d8af42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b691bc104e53" /><Relationship Type="http://schemas.openxmlformats.org/officeDocument/2006/relationships/notesSlide" Target="/ppt/notesSlides/notesSlide10.xml" Id="R8fc332a4a76041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21a66c5314a62" /><Relationship Type="http://schemas.openxmlformats.org/officeDocument/2006/relationships/chart" Target="/ppt/slides/charts/chart1.xml" Id="Rae23728ee2934d3b" /><Relationship Type="http://schemas.openxmlformats.org/officeDocument/2006/relationships/notesSlide" Target="/ppt/notesSlides/notesSlide11.xml" Id="R273ca158dff24d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2c3796c9d4afd" /><Relationship Type="http://schemas.openxmlformats.org/officeDocument/2006/relationships/notesSlide" Target="/ppt/notesSlides/notesSlide12.xml" Id="R50e8c537211f43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39619ecad47ef" /><Relationship Type="http://schemas.openxmlformats.org/officeDocument/2006/relationships/notesSlide" Target="/ppt/notesSlides/notesSlide13.xml" Id="Rbfde02f43cab4b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44a992aa74454" /><Relationship Type="http://schemas.openxmlformats.org/officeDocument/2006/relationships/chart" Target="/ppt/slides/charts/chart2.xml" Id="Rf15ea50378d54481" /><Relationship Type="http://schemas.openxmlformats.org/officeDocument/2006/relationships/notesSlide" Target="/ppt/notesSlides/notesSlide14.xml" Id="Rfb18e01e4a8545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eaa98d1fb4d28" /><Relationship Type="http://schemas.openxmlformats.org/officeDocument/2006/relationships/notesSlide" Target="/ppt/notesSlides/notesSlide15.xml" Id="R55300e81472841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2234ec3df4064" /><Relationship Type="http://schemas.openxmlformats.org/officeDocument/2006/relationships/notesSlide" Target="/ppt/notesSlides/notesSlide16.xml" Id="Rfe3d2d1160b144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d7d2b4b4f45c7" /><Relationship Type="http://schemas.openxmlformats.org/officeDocument/2006/relationships/notesSlide" Target="/ppt/notesSlides/notesSlide17.xml" Id="Re6edb3f500f746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2aafbb7d34e56" /><Relationship Type="http://schemas.openxmlformats.org/officeDocument/2006/relationships/notesSlide" Target="/ppt/notesSlides/notesSlide18.xml" Id="R58db5146c51a4c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68894fa34469" /><Relationship Type="http://schemas.openxmlformats.org/officeDocument/2006/relationships/notesSlide" Target="/ppt/notesSlides/notesSlide19.xml" Id="R306a2c0debb447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90ece39594a1c" /><Relationship Type="http://schemas.openxmlformats.org/officeDocument/2006/relationships/notesSlide" Target="/ppt/notesSlides/notesSlide20.xml" Id="Rb1420be54c224c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a08d6abe24197" /><Relationship Type="http://schemas.openxmlformats.org/officeDocument/2006/relationships/notesSlide" Target="/ppt/notesSlides/notesSlide21.xml" Id="R6adb6472f4f141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054d1bb094566" /><Relationship Type="http://schemas.openxmlformats.org/officeDocument/2006/relationships/notesSlide" Target="/ppt/notesSlides/notesSlide22.xml" Id="Rcc8c3e186f2e47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83f61a6194e01" /><Relationship Type="http://schemas.openxmlformats.org/officeDocument/2006/relationships/notesSlide" Target="/ppt/notesSlides/notesSlide23.xml" Id="Rcdcdbd501e6947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e43496b544b9d" /><Relationship Type="http://schemas.openxmlformats.org/officeDocument/2006/relationships/notesSlide" Target="/ppt/notesSlides/notesSlide24.xml" Id="Re1204fa5c9b84c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5494509e44c50" /><Relationship Type="http://schemas.openxmlformats.org/officeDocument/2006/relationships/chart" Target="/ppt/slides/charts/chart3.xml" Id="Rafb166fce6d24462" /><Relationship Type="http://schemas.openxmlformats.org/officeDocument/2006/relationships/notesSlide" Target="/ppt/notesSlides/notesSlide25.xml" Id="R54455d1b82ad4dd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100-step wall (秒)</c:v>
          </c:tx>
          <c:spPr>
            <a:ln xmlns:a="http://schemas.openxmlformats.org/drawingml/2006/main" w="38100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11"/>
              <c:pt idx="0">
                <c:v>21</c:v>
              </c:pt>
              <c:pt idx="1">
                <c:v>25</c:v>
              </c:pt>
              <c:pt idx="2">
                <c:v>33</c:v>
              </c:pt>
              <c:pt idx="3">
                <c:v>37</c:v>
              </c:pt>
              <c:pt idx="4">
                <c:v>52</c:v>
              </c:pt>
              <c:pt idx="5">
                <c:v>57</c:v>
              </c:pt>
              <c:pt idx="6">
                <c:v>80</c:v>
              </c:pt>
              <c:pt idx="7">
                <c:v>86</c:v>
              </c:pt>
              <c:pt idx="8">
                <c:v>99</c:v>
              </c:pt>
              <c:pt idx="9">
                <c:v>102</c:v>
              </c:pt>
              <c:pt idx="10">
                <c:v>107</c:v>
              </c:pt>
            </c:numLit>
          </c:cat>
          <c:val>
            <c:numLit>
              <c:formatCode>0.000</c:formatCode>
              <c:ptCount val="11"/>
              <c:pt idx="0">
                <c:v>146.54</c:v>
              </c:pt>
              <c:pt idx="1">
                <c:v>130.608</c:v>
              </c:pt>
              <c:pt idx="2">
                <c:v>116.125</c:v>
              </c:pt>
              <c:pt idx="3">
                <c:v>108.096</c:v>
              </c:pt>
              <c:pt idx="4">
                <c:v>73.437</c:v>
              </c:pt>
              <c:pt idx="5">
                <c:v>71.291</c:v>
              </c:pt>
              <c:pt idx="6">
                <c:v>67.421</c:v>
              </c:pt>
              <c:pt idx="7">
                <c:v>66.502</c:v>
              </c:pt>
              <c:pt idx="8">
                <c:v>64.302</c:v>
              </c:pt>
              <c:pt idx="9">
                <c:v>63.839</c:v>
              </c:pt>
              <c:pt idx="10">
                <c:v>63.214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Logical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実行時間（秒）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Step 116 kernel時間（秒）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4"/>
              <c:pt idx="0">
                <c:v>A100 NL</c:v>
              </c:pt>
              <c:pt idx="1">
                <c:v>H100 NL</c:v>
              </c:pt>
              <c:pt idx="2">
                <c:v>A100 VPJ</c:v>
              </c:pt>
              <c:pt idx="3">
                <c:v>H100 VPJ</c:v>
              </c:pt>
            </c:strLit>
          </c:cat>
          <c:val>
            <c:numLit>
              <c:formatCode>0.000</c:formatCode>
              <c:ptCount val="4"/>
              <c:pt idx="0">
                <c:v>8.254</c:v>
              </c:pt>
              <c:pt idx="1">
                <c:v>3.185</c:v>
              </c:pt>
              <c:pt idx="2">
                <c:v>1.565</c:v>
              </c:pt>
              <c:pt idx="3">
                <c:v>0.718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7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Xeon 6980P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0.572</c:v>
              </c:pt>
              <c:pt idx="1">
                <c:v>2.096</c:v>
              </c:pt>
              <c:pt idx="2">
                <c:v>5.51</c:v>
              </c:pt>
              <c:pt idx="3">
                <c:v>7.616</c:v>
              </c:pt>
              <c:pt idx="4">
                <c:v>10.386</c:v>
              </c:pt>
              <c:pt idx="5">
                <c:v>15.864</c:v>
              </c:pt>
              <c:pt idx="6">
                <c:v>16.478</c:v>
              </c:pt>
            </c:numLit>
          </c:val>
        </c:ser>
        <c:ser>
          <c:idx val="1"/>
          <c:order val="1"/>
          <c:tx>
            <c:v>Xeon 8468</c:v>
          </c:tx>
          <c:spPr>
            <a:solidFill xmlns:a="http://schemas.openxmlformats.org/drawingml/2006/main">
              <a:srgbClr val="C26A00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0.698</c:v>
              </c:pt>
              <c:pt idx="1">
                <c:v>3.513</c:v>
              </c:pt>
              <c:pt idx="2">
                <c:v>6.746</c:v>
              </c:pt>
              <c:pt idx="3">
                <c:v>10.27</c:v>
              </c:pt>
              <c:pt idx="4">
                <c:v>13.234</c:v>
              </c:pt>
              <c:pt idx="5">
                <c:v>19.869</c:v>
              </c:pt>
              <c:pt idx="6">
                <c:v>20.62</c:v>
              </c:pt>
            </c:numLit>
          </c:val>
        </c:ser>
        <c:ser>
          <c:idx val="2"/>
          <c:order val="2"/>
          <c:tx>
            <c:v>Xeon 8592+</c:v>
          </c:tx>
          <c:spPr>
            <a:solidFill xmlns:a="http://schemas.openxmlformats.org/drawingml/2006/main">
              <a:srgbClr val="2E7D32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0.699</c:v>
              </c:pt>
              <c:pt idx="1">
                <c:v>3.1</c:v>
              </c:pt>
              <c:pt idx="2">
                <c:v>6.275</c:v>
              </c:pt>
              <c:pt idx="3">
                <c:v>9.388</c:v>
              </c:pt>
              <c:pt idx="4">
                <c:v>12.527</c:v>
              </c:pt>
              <c:pt idx="5">
                <c:v>18.923</c:v>
              </c:pt>
              <c:pt idx="6">
                <c:v>19.669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bar">
            <a:extLst xmlns:a="http://schemas.openxmlformats.org/drawingml/2006/main">
              <a:ext uri="{FF2B5EF4-FFF2-40B4-BE49-F238E27FC236}">
                <a16:creationId xmlns:a16="http://schemas.microsoft.com/office/drawing/2014/main" id="{A7E1FDBF-1A06-455F-B5A7-2AB9497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90E37-37E2-47E1-953A-255B905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FPSEID21 TDDFTの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OpenACC／cuFFTによるGPU化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481F63-8713-4B3A-AB1E-F809D1A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主要計算のGPU化、データ常駐化、各プラットフォームの性能評価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249D71A4-B3A2-4FAA-B97C-823ADA5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2026年8月4日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76A86E-8583-4CFE-84A9-D84752D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Si111-H｜TDDFT 100 steps｜diagnostic OFF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E2EE30-DD44-4A8C-AA85-D3B8608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4D4EC1-8B60-43D8-B026-A4E99FA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22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20225F-31DB-408E-B483-D3411DF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3C5F7-53F0-4404-9C3D-870E83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主要な時間発展処理をGPUへ移し、A100で約2.32倍高速化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820995-D072-4946-8A30-45D817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100-value">
            <a:extLst xmlns:a="http://schemas.openxmlformats.org/drawingml/2006/main">
              <a:ext uri="{FF2B5EF4-FFF2-40B4-BE49-F238E27FC236}">
                <a16:creationId xmlns:a16="http://schemas.microsoft.com/office/drawing/2014/main" id="{2D1C57EF-370D-4669-9848-5A312DA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63.214秒</a:t>
            </a:r>
          </a:p>
        </p:txBody>
      </p:sp>
      <p:sp>
        <p:nvSpPr>
          <p:cNvPr id="5" name="a100-label">
            <a:extLst xmlns:a="http://schemas.openxmlformats.org/drawingml/2006/main">
              <a:ext uri="{FF2B5EF4-FFF2-40B4-BE49-F238E27FC236}">
                <a16:creationId xmlns:a16="http://schemas.microsoft.com/office/drawing/2014/main" id="{115B1310-E8A1-4E25-B2FB-F3DE427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A100｜1 GPU × 1 MPI × OMP 1</a:t>
            </a:r>
          </a:p>
        </p:txBody>
      </p:sp>
      <p:sp>
        <p:nvSpPr>
          <p:cNvPr id="6" name="h100-value">
            <a:extLst xmlns:a="http://schemas.openxmlformats.org/drawingml/2006/main">
              <a:ext uri="{FF2B5EF4-FFF2-40B4-BE49-F238E27FC236}">
                <a16:creationId xmlns:a16="http://schemas.microsoft.com/office/drawing/2014/main" id="{8D004629-7C5D-4E30-9045-4A77C9B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D9CDB"/>
                </a:solidFill>
              </a:defRPr>
            </a:pPr>
            <a:r>
              <a:rPr sz="2850" b="1">
                <a:solidFill>
                  <a:srgbClr val="2D9CDB"/>
                </a:solidFill>
              </a:rPr>
              <a:t>34.109秒</a:t>
            </a:r>
          </a:p>
        </p:txBody>
      </p:sp>
      <p:sp>
        <p:nvSpPr>
          <p:cNvPr id="7" name="h100-label">
            <a:extLst xmlns:a="http://schemas.openxmlformats.org/drawingml/2006/main">
              <a:ext uri="{FF2B5EF4-FFF2-40B4-BE49-F238E27FC236}">
                <a16:creationId xmlns:a16="http://schemas.microsoft.com/office/drawing/2014/main" id="{D324F732-0D7F-4139-B606-45EAA71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H100｜1 GPU × 1 MPI × OMP 1</a:t>
            </a:r>
          </a:p>
        </p:txBody>
      </p:sp>
      <p:sp>
        <p:nvSpPr>
          <p:cNvPr id="8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C0B2C281-445D-4F99-B011-CB8EA83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26 / 39</a:t>
            </a:r>
          </a:p>
        </p:txBody>
      </p:sp>
      <p:sp>
        <p:nvSpPr>
          <p:cNvPr id="9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BF889CB-0295-47FD-89CA-4404639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GPU化候補箇所</a:t>
            </a:r>
          </a:p>
        </p:txBody>
      </p:sp>
      <p:sp>
        <p:nvSpPr>
          <p:cNvPr id="10" name="outcome-box">
            <a:extLst xmlns:a="http://schemas.openxmlformats.org/drawingml/2006/main">
              <a:ext uri="{FF2B5EF4-FFF2-40B4-BE49-F238E27FC236}">
                <a16:creationId xmlns:a16="http://schemas.microsoft.com/office/drawing/2014/main" id="{09A4AAC5-23C2-4E19-8C40-72138B4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626ED5E3-124C-4449-8DCF-CB1266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A100: 146.540秒から63.214秒へ短縮（約56.9%短縮）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H100: 最新の採用済み数値経路で3回測定の正式baselineを確立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GPU: 1 GPU × 1 MPI rank × OMP 1／x86: 32 MPI × 8 OMP = 256 threads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全正式baselineで計算結果の正常性を確認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980A5D-9414-4B3C-9FCD-9A371EC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61E085-2940-41C6-B5AA-CCAAED5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572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82BEC-0A8F-402E-BF60-8B50E2F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D85AC-2986-4A15-88FF-F04686E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性能だけでなく、数値一致とCPU経路を採用条件にした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EA8C3-72AA-4936-94BF-A41F4DF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validation-left">
            <a:extLst xmlns:a="http://schemas.openxmlformats.org/drawingml/2006/main">
              <a:ext uri="{FF2B5EF4-FFF2-40B4-BE49-F238E27FC236}">
                <a16:creationId xmlns:a16="http://schemas.microsoft.com/office/drawing/2014/main" id="{788A0E55-DCC4-40D6-9F6E-A434C71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数式、配列shape、projector適用順を維持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逐次ia更新とreverse適用順を維持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CPU/FFTW版を継続してbuild・実行可能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診断機能をOFFにして性能測定</a:t>
            </a:r>
          </a:p>
        </p:txBody>
      </p:sp>
      <p:sp>
        <p:nvSpPr>
          <p:cNvPr id="5" name="validation-right">
            <a:extLst xmlns:a="http://schemas.openxmlformats.org/drawingml/2006/main">
              <a:ext uri="{FF2B5EF4-FFF2-40B4-BE49-F238E27FC236}">
                <a16:creationId xmlns:a16="http://schemas.microsoft.com/office/drawing/2014/main" id="{CB0E5238-EDD3-4A89-82DC-D7C6CEB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同一条件で3回実行し中央値で評価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normal checkとrelaxed compareを必須化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run-to-run rangeも記録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効果のない変更は記録後にrevert</a:t>
            </a:r>
          </a:p>
        </p:txBody>
      </p:sp>
      <p:sp>
        <p:nvSpPr>
          <p:cNvPr id="6" name="validation-callout">
            <a:extLst xmlns:a="http://schemas.openxmlformats.org/drawingml/2006/main">
              <a:ext uri="{FF2B5EF4-FFF2-40B4-BE49-F238E27FC236}">
                <a16:creationId xmlns:a16="http://schemas.microsoft.com/office/drawing/2014/main" id="{470B4A8A-377D-4966-ACCC-5FA8590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" name="validation-callout-text">
            <a:extLst xmlns:a="http://schemas.openxmlformats.org/drawingml/2006/main">
              <a:ext uri="{FF2B5EF4-FFF2-40B4-BE49-F238E27FC236}">
                <a16:creationId xmlns:a16="http://schemas.microsoft.com/office/drawing/2014/main" id="{7C8E7162-35A4-4AC3-8671-8AD19927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A100・H100・x86は独立したbaseline系列として管理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CCDC45-B2BD-43D3-82BE-A799E9D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884CB2-851B-4CB3-8D9E-B05BC3C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194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EBB870-5741-4F59-A659-9592350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AACE-6A9E-4F82-BBBB-2C7FF4E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GPU上で処理を連結し、Host往復を減らした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6A9A9-E4A1-4663-A974-466D706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EE9F067-35B6-4BD7-BFC5-3F9DF21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67E388A5-ADCD-4F8C-9557-FF52704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8A48BE09-E587-4BF3-A5BC-5C3A2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00DBC945-6864-4099-8D79-5D6BF9A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node-75">
            <a:extLst xmlns:a="http://schemas.openxmlformats.org/drawingml/2006/main">
              <a:ext uri="{FF2B5EF4-FFF2-40B4-BE49-F238E27FC236}">
                <a16:creationId xmlns:a16="http://schemas.microsoft.com/office/drawing/2014/main" id="{74B4813C-9BE6-4615-B682-DB67F4F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node-label-75">
            <a:extLst xmlns:a="http://schemas.openxmlformats.org/drawingml/2006/main">
              <a:ext uri="{FF2B5EF4-FFF2-40B4-BE49-F238E27FC236}">
                <a16:creationId xmlns:a16="http://schemas.microsoft.com/office/drawing/2014/main" id="{66469664-269F-4FAA-B273-2EECFC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Host入力</a:t>
            </a:r>
          </a:p>
        </p:txBody>
      </p:sp>
      <p:sp>
        <p:nvSpPr>
          <p:cNvPr id="10" name="node-315">
            <a:extLst xmlns:a="http://schemas.openxmlformats.org/drawingml/2006/main">
              <a:ext uri="{FF2B5EF4-FFF2-40B4-BE49-F238E27FC236}">
                <a16:creationId xmlns:a16="http://schemas.microsoft.com/office/drawing/2014/main" id="{3467B2F4-A0B8-4FB7-8CA7-7CE207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node-label-315">
            <a:extLst xmlns:a="http://schemas.openxmlformats.org/drawingml/2006/main">
              <a:ext uri="{FF2B5EF4-FFF2-40B4-BE49-F238E27FC236}">
                <a16:creationId xmlns:a16="http://schemas.microsoft.com/office/drawing/2014/main" id="{78792F84-2EBE-4CBC-960E-7AC66DD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GPU常駐配列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P・COEF・metadata</a:t>
            </a:r>
          </a:p>
        </p:txBody>
      </p:sp>
      <p:sp>
        <p:nvSpPr>
          <p:cNvPr id="12" name="node-610">
            <a:extLst xmlns:a="http://schemas.openxmlformats.org/drawingml/2006/main">
              <a:ext uri="{FF2B5EF4-FFF2-40B4-BE49-F238E27FC236}">
                <a16:creationId xmlns:a16="http://schemas.microsoft.com/office/drawing/2014/main" id="{B7E80C4E-95A5-4EDB-8DC2-751D78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node-label-610">
            <a:extLst xmlns:a="http://schemas.openxmlformats.org/drawingml/2006/main">
              <a:ext uri="{FF2B5EF4-FFF2-40B4-BE49-F238E27FC236}">
                <a16:creationId xmlns:a16="http://schemas.microsoft.com/office/drawing/2014/main" id="{8F232531-CAF1-47E8-9125-29D3312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OpenACC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4" name="node-840">
            <a:extLst xmlns:a="http://schemas.openxmlformats.org/drawingml/2006/main">
              <a:ext uri="{FF2B5EF4-FFF2-40B4-BE49-F238E27FC236}">
                <a16:creationId xmlns:a16="http://schemas.microsoft.com/office/drawing/2014/main" id="{46FBE626-88A4-44EA-AA99-88D2C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node-label-840">
            <a:extLst xmlns:a="http://schemas.openxmlformats.org/drawingml/2006/main">
              <a:ext uri="{FF2B5EF4-FFF2-40B4-BE49-F238E27FC236}">
                <a16:creationId xmlns:a16="http://schemas.microsoft.com/office/drawing/2014/main" id="{6C793C00-7D66-4B60-8AA5-77B1378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cuFFT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batch</a:t>
            </a:r>
          </a:p>
        </p:txBody>
      </p:sp>
      <p:sp>
        <p:nvSpPr>
          <p:cNvPr id="16" name="node-1070">
            <a:extLst xmlns:a="http://schemas.openxmlformats.org/drawingml/2006/main">
              <a:ext uri="{FF2B5EF4-FFF2-40B4-BE49-F238E27FC236}">
                <a16:creationId xmlns:a16="http://schemas.microsoft.com/office/drawing/2014/main" id="{D1A71EB8-DD99-447F-B10B-A566DEF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node-label-1070">
            <a:extLst xmlns:a="http://schemas.openxmlformats.org/drawingml/2006/main">
              <a:ext uri="{FF2B5EF4-FFF2-40B4-BE49-F238E27FC236}">
                <a16:creationId xmlns:a16="http://schemas.microsoft.com/office/drawing/2014/main" id="{EBFB9537-D3EA-47CE-B9B8-4E1245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MPI／Host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境界</a:t>
            </a:r>
          </a:p>
        </p:txBody>
      </p:sp>
      <p:sp>
        <p:nvSpPr>
          <p:cNvPr id="18" name="architecture-compute">
            <a:extLst xmlns:a="http://schemas.openxmlformats.org/drawingml/2006/main">
              <a:ext uri="{FF2B5EF4-FFF2-40B4-BE49-F238E27FC236}">
                <a16:creationId xmlns:a16="http://schemas.microsoft.com/office/drawing/2014/main" id="{8CB10F88-0AB2-4E8C-844B-C997874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計算｜主要loopをOpenACC化</a:t>
            </a:r>
          </a:p>
        </p:txBody>
      </p:sp>
      <p:sp>
        <p:nvSpPr>
          <p:cNvPr id="19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A9C9C221-3DB4-4057-A616-8A8EBA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データ｜外側routineがmappingを所有</a:t>
            </a:r>
          </a:p>
        </p:txBody>
      </p:sp>
      <p:sp>
        <p:nvSpPr>
          <p:cNvPr id="20" name="architecture-fft">
            <a:extLst xmlns:a="http://schemas.openxmlformats.org/drawingml/2006/main">
              <a:ext uri="{FF2B5EF4-FFF2-40B4-BE49-F238E27FC236}">
                <a16:creationId xmlns:a16="http://schemas.microsoft.com/office/drawing/2014/main" id="{C80A06E1-1185-422D-9817-07E0F2F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FFT｜device pointerをcuFFTへ直接渡す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B4F080C-9284-402F-B59E-9BC9730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26A00"/>
                </a:solidFill>
              </a:defRPr>
            </a:pPr>
            <a:r>
              <a:rPr sz="1875" b="1">
                <a:solidFill>
                  <a:srgbClr val="C26A00"/>
                </a:solidFill>
              </a:rPr>
              <a:t>Host consumer／MPI境界だけで同期｜実装: tmevl10 / frprmn / electf4（対応: p.17）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4227A0-A440-423F-A512-1B860FD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86FF09-BCBD-46E5-8DBD-45DB693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9712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BEC2D0-7B89-42B8-9992-576C0ED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DA1DD-53E5-49EC-8182-41E9E56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時間発展ループの主要領域をGPU化した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61864-F892-4D95-B9D8-501B81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coverage-area-0">
            <a:extLst xmlns:a="http://schemas.openxmlformats.org/drawingml/2006/main">
              <a:ext uri="{FF2B5EF4-FFF2-40B4-BE49-F238E27FC236}">
                <a16:creationId xmlns:a16="http://schemas.microsoft.com/office/drawing/2014/main" id="{9A7D5026-BFE1-41AF-924B-A288671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S2局所項</a:t>
            </a:r>
          </a:p>
        </p:txBody>
      </p:sp>
      <p:sp>
        <p:nvSpPr>
          <p:cNvPr id="5" name="coverage-detail-0">
            <a:extLst xmlns:a="http://schemas.openxmlformats.org/drawingml/2006/main">
              <a:ext uri="{FF2B5EF4-FFF2-40B4-BE49-F238E27FC236}">
                <a16:creationId xmlns:a16="http://schemas.microsoft.com/office/drawing/2014/main" id="{004229BE-E8C8-4E63-B2BC-115D223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scatter・potential・cuFFT・gather  [tmevl10 / fft_cufft]</a:t>
            </a:r>
          </a:p>
        </p:txBody>
      </p:sp>
      <p:sp>
        <p:nvSpPr>
          <p:cNvPr id="6" name="coverage-rule-0">
            <a:extLst xmlns:a="http://schemas.openxmlformats.org/drawingml/2006/main">
              <a:ext uri="{FF2B5EF4-FFF2-40B4-BE49-F238E27FC236}">
                <a16:creationId xmlns:a16="http://schemas.microsoft.com/office/drawing/2014/main" id="{60FBB61F-19A5-4B25-966E-D1D6082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coverage-area-1">
            <a:extLst xmlns:a="http://schemas.openxmlformats.org/drawingml/2006/main">
              <a:ext uri="{FF2B5EF4-FFF2-40B4-BE49-F238E27FC236}">
                <a16:creationId xmlns:a16="http://schemas.microsoft.com/office/drawing/2014/main" id="{5194CBD9-E61F-41E4-9C7D-6D420C5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非局所項</a:t>
            </a:r>
          </a:p>
        </p:txBody>
      </p:sp>
      <p:sp>
        <p:nvSpPr>
          <p:cNvPr id="8" name="coverage-detail-1">
            <a:extLst xmlns:a="http://schemas.openxmlformats.org/drawingml/2006/main">
              <a:ext uri="{FF2B5EF4-FFF2-40B4-BE49-F238E27FC236}">
                <a16:creationId xmlns:a16="http://schemas.microsoft.com/office/drawing/2014/main" id="{65091AAC-AFE4-4FD1-931D-82DDB11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projector dot・係数更新・kernel融合  [tmevl10]</a:t>
            </a:r>
          </a:p>
        </p:txBody>
      </p:sp>
      <p:sp>
        <p:nvSpPr>
          <p:cNvPr id="9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F08AC915-A5E3-4BCA-9E53-D2878A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coverage-area-2">
            <a:extLst xmlns:a="http://schemas.openxmlformats.org/drawingml/2006/main">
              <a:ext uri="{FF2B5EF4-FFF2-40B4-BE49-F238E27FC236}">
                <a16:creationId xmlns:a16="http://schemas.microsoft.com/office/drawing/2014/main" id="{1ED62902-666B-4A1C-BAB0-2ED9D22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電荷密度</a:t>
            </a:r>
          </a:p>
        </p:txBody>
      </p:sp>
      <p:sp>
        <p:nvSpPr>
          <p:cNvPr id="11" name="coverage-detail-2">
            <a:extLst xmlns:a="http://schemas.openxmlformats.org/drawingml/2006/main">
              <a:ext uri="{FF2B5EF4-FFF2-40B4-BE49-F238E27FC236}">
                <a16:creationId xmlns:a16="http://schemas.microsoft.com/office/drawing/2014/main" id="{AAC12408-8E4C-46E1-84A4-D1BD6EB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resident COEF再構築・batch FFT  [frprmn / fft_cufft]</a:t>
            </a:r>
          </a:p>
        </p:txBody>
      </p:sp>
      <p:sp>
        <p:nvSpPr>
          <p:cNvPr id="12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355E5F17-1C93-4B4A-B253-183938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coverage-area-3">
            <a:extLst xmlns:a="http://schemas.openxmlformats.org/drawingml/2006/main">
              <a:ext uri="{FF2B5EF4-FFF2-40B4-BE49-F238E27FC236}">
                <a16:creationId xmlns:a16="http://schemas.microsoft.com/office/drawing/2014/main" id="{D10CCF95-EBBB-4CC2-8AE7-F28323C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FRPRMN</a:t>
            </a:r>
          </a:p>
        </p:txBody>
      </p:sp>
      <p:sp>
        <p:nvSpPr>
          <p:cNvPr id="14" name="coverage-detail-3">
            <a:extLst xmlns:a="http://schemas.openxmlformats.org/drawingml/2006/main">
              <a:ext uri="{FF2B5EF4-FFF2-40B4-BE49-F238E27FC236}">
                <a16:creationId xmlns:a16="http://schemas.microsoft.com/office/drawing/2014/main" id="{D64D111E-EE68-4943-9D25-15B5815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COEF/COEF0常駐・同期削減・再利用  [frprmn]</a:t>
            </a:r>
          </a:p>
        </p:txBody>
      </p:sp>
      <p:sp>
        <p:nvSpPr>
          <p:cNvPr id="15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9B78A0DC-D4D8-4A97-AA03-EFD0895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coverage-area-4">
            <a:extLst xmlns:a="http://schemas.openxmlformats.org/drawingml/2006/main">
              <a:ext uri="{FF2B5EF4-FFF2-40B4-BE49-F238E27FC236}">
                <a16:creationId xmlns:a16="http://schemas.microsoft.com/office/drawing/2014/main" id="{7C9AE2A0-005D-427E-A375-6392C18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potential</a:t>
            </a:r>
          </a:p>
        </p:txBody>
      </p:sp>
      <p:sp>
        <p:nvSpPr>
          <p:cNvPr id="17" name="coverage-detail-4">
            <a:extLst xmlns:a="http://schemas.openxmlformats.org/drawingml/2006/main">
              <a:ext uri="{FF2B5EF4-FFF2-40B4-BE49-F238E27FC236}">
                <a16:creationId xmlns:a16="http://schemas.microsoft.com/office/drawing/2014/main" id="{1C75F922-FE68-4798-989F-0C3BAA4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VPJ・LOCPOT・交換相関・EWALD  [vpj_gen / lib4_ASL_2]</a:t>
            </a:r>
          </a:p>
        </p:txBody>
      </p:sp>
      <p:sp>
        <p:nvSpPr>
          <p:cNvPr id="18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674E0758-7AA9-4681-A7F9-5FA325F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coverage-area-5">
            <a:extLst xmlns:a="http://schemas.openxmlformats.org/drawingml/2006/main">
              <a:ext uri="{FF2B5EF4-FFF2-40B4-BE49-F238E27FC236}">
                <a16:creationId xmlns:a16="http://schemas.microsoft.com/office/drawing/2014/main" id="{99B4374A-55F7-4056-BBBA-F8F04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HLOCAL</a:t>
            </a:r>
          </a:p>
        </p:txBody>
      </p:sp>
      <p:sp>
        <p:nvSpPr>
          <p:cNvPr id="20" name="coverage-detail-5">
            <a:extLst xmlns:a="http://schemas.openxmlformats.org/drawingml/2006/main">
              <a:ext uri="{FF2B5EF4-FFF2-40B4-BE49-F238E27FC236}">
                <a16:creationId xmlns:a16="http://schemas.microsoft.com/office/drawing/2014/main" id="{953F7893-2CF2-4A0B-8ED1-9C2FBCB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zeroからFFT・multiply・gatherまで連結  [tmevl10]</a:t>
            </a:r>
          </a:p>
        </p:txBody>
      </p:sp>
      <p:sp>
        <p:nvSpPr>
          <p:cNvPr id="21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A17AB232-D817-4D92-9205-BBDA6D0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D60A32E2-91CD-4F60-988C-88CCC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26 / 39箇所 = 約66.7%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DC4BF-4878-4E37-B519-63AA30D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3480D4-E053-42C3-B0CB-79D436E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978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F63616-9ADF-4221-8A8B-B4EA633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GPU化候補の読み方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F7286-640D-4B6E-97D5-A46372F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26/39の残り13は固定された実装待ちリストではない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E3322D-1CFA-44B2-9C11-5C7A5EA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26E16B-A14E-4B01-9D5A-AC5F1F6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364F2C-99B1-46A8-874F-E578014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sp>
        <p:nvSpPr>
          <p:cNvPr id="6" name="gap-definition">
            <a:extLst xmlns:a="http://schemas.openxmlformats.org/drawingml/2006/main">
              <a:ext uri="{FF2B5EF4-FFF2-40B4-BE49-F238E27FC236}">
                <a16:creationId xmlns:a16="http://schemas.microsoft.com/office/drawing/2014/main" id="{69BDEB70-2D5C-4FA4-9A59-F4A5440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26A00"/>
                </a:solidFill>
              </a:defRPr>
            </a:pPr>
            <a:r>
              <a:rPr sz="1575" b="1">
                <a:solidFill>
                  <a:srgbClr val="C26A00"/>
                </a:solidFill>
              </a:rPr>
              <a:t>残り13相当 = 暫定indexの算術差。現在のsourceに1対1で対応する13個のbacklogではない。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29000"/>
                <a:gridCol w="5238750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主な候補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GPU化しない／残している理由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memory中心の小loop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density smoothing・配列copy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演算量よりmapping・同期・転送costが大きい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predictor／履歴更新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VG0～VG5・VGOLD・interpolation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分岐とHost authorityがあり、一括offloadで回帰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potential／E-field境界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VG・VPLT・VEXT組立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直後のHost consumerによりD2Hが必要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reduction／行列処理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energy・CMAT・収束判定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演算順序・MPI riskに対して改善上限が小さい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producer／非活性経路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EXTAU・GGA G2VXC2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GPU生成は回帰、GGA経路はSi111-Hで非活性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正常だが不採用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SEPPOTF batch・追加kernel融合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checkはPASSしたが正式baselineより遅い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gap-footnote">
            <a:extLst xmlns:a="http://schemas.openxmlformats.org/drawingml/2006/main">
              <a:ext uri="{FF2B5EF4-FFF2-40B4-BE49-F238E27FC236}">
                <a16:creationId xmlns:a16="http://schemas.microsoft.com/office/drawing/2014/main" id="{7094BA1E-3832-443C-B4D9-CDE9295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母数39 = Step 80採用済み19 site + Step 78で一時offloadしてrevertした20 site</a:t>
            </a:r>
          </a:p>
        </p:txBody>
      </p:sp>
    </p:spTree>
    <p:extLst>
      <p:ext uri="{BB962C8B-B14F-4D97-AF65-F5344CB8AC3E}">
        <p14:creationId xmlns:p14="http://schemas.microsoft.com/office/powerpoint/2010/main" val="1965100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027C90-892B-414C-A068-537121E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FEA70-B8F9-4923-AD8F-736D31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device pointerとbatch化でFFT前後の転送を削減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15E371-1D52-42E3-B0C3-E2CCCD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ft-before">
            <a:extLst xmlns:a="http://schemas.openxmlformats.org/drawingml/2006/main">
              <a:ext uri="{FF2B5EF4-FFF2-40B4-BE49-F238E27FC236}">
                <a16:creationId xmlns:a16="http://schemas.microsoft.com/office/drawing/2014/main" id="{7651817A-1708-4229-91D7-D03BF88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ft-before-title">
            <a:extLst xmlns:a="http://schemas.openxmlformats.org/drawingml/2006/main">
              <a:ext uri="{FF2B5EF4-FFF2-40B4-BE49-F238E27FC236}">
                <a16:creationId xmlns:a16="http://schemas.microsoft.com/office/drawing/2014/main" id="{40F1BCFE-A6EA-460B-850D-4EF1C69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変更前</a:t>
            </a:r>
          </a:p>
        </p:txBody>
      </p:sp>
      <p:sp>
        <p:nvSpPr>
          <p:cNvPr id="6" name="fft-before-flow">
            <a:extLst xmlns:a="http://schemas.openxmlformats.org/drawingml/2006/main">
              <a:ext uri="{FF2B5EF4-FFF2-40B4-BE49-F238E27FC236}">
                <a16:creationId xmlns:a16="http://schemas.microsoft.com/office/drawing/2014/main" id="{FBA51FE9-D362-4729-9DDF-9619E3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Host → H2D → cuFFT → D2H → Host</a:t>
            </a:r>
          </a:p>
        </p:txBody>
      </p:sp>
      <p:sp>
        <p:nvSpPr>
          <p:cNvPr id="7" name="fft-after">
            <a:extLst xmlns:a="http://schemas.openxmlformats.org/drawingml/2006/main">
              <a:ext uri="{FF2B5EF4-FFF2-40B4-BE49-F238E27FC236}">
                <a16:creationId xmlns:a16="http://schemas.microsoft.com/office/drawing/2014/main" id="{FF003D6F-4FCB-4CAC-8D09-779C120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fft-after-title">
            <a:extLst xmlns:a="http://schemas.openxmlformats.org/drawingml/2006/main">
              <a:ext uri="{FF2B5EF4-FFF2-40B4-BE49-F238E27FC236}">
                <a16:creationId xmlns:a16="http://schemas.microsoft.com/office/drawing/2014/main" id="{FAC21263-3DE5-4B13-9C42-AB2B20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変更後</a:t>
            </a:r>
          </a:p>
        </p:txBody>
      </p:sp>
      <p:sp>
        <p:nvSpPr>
          <p:cNvPr id="9" name="fft-after-flow">
            <a:extLst xmlns:a="http://schemas.openxmlformats.org/drawingml/2006/main">
              <a:ext uri="{FF2B5EF4-FFF2-40B4-BE49-F238E27FC236}">
                <a16:creationId xmlns:a16="http://schemas.microsoft.com/office/drawing/2014/main" id="{AEC9919F-3B3F-436A-9A77-9A63F02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Device配列 → cuFFT → Device配列</a:t>
            </a:r>
          </a:p>
        </p:txBody>
      </p:sp>
      <p:sp>
        <p:nvSpPr>
          <p:cNvPr id="10" name="fft-bullets">
            <a:extLst xmlns:a="http://schemas.openxmlformats.org/drawingml/2006/main">
              <a:ext uri="{FF2B5EF4-FFF2-40B4-BE49-F238E27FC236}">
                <a16:creationId xmlns:a16="http://schemas.microsoft.com/office/drawing/2014/main" id="{0D6FCCA1-1406-4844-AC7F-C6A3005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tmevl10_Avec_v4.f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!$acc update self(RHO1_(1:NXYZ,1:nbndloc))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do ib=nbegin,nend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CALL FFT3BX_fftwASL(...,RHO1_(1,iib),RHO2_(1,iib),...)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enddo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!$acc update device(RHO1_(1:NXYZ,1:nbndloc))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accepted source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CALL FFT3BX_fftwASL_ACC_BATCH(...,nbndloc,RHO1_,RHO2_,...)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host_data use_device(RHOG)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call fpseid_cufft_exec_device_batch(RHOG,NG,NBATCH,1,ierr)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15"/>
            </a:pPr>
            <a:r>
              <a:rPr sz="915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end host_data</a:t>
            </a:r>
          </a:p>
        </p:txBody>
      </p:sp>
      <p:sp>
        <p:nvSpPr>
          <p:cNvPr id="11" name="fft-s2-value">
            <a:extLst xmlns:a="http://schemas.openxmlformats.org/drawingml/2006/main">
              <a:ext uri="{FF2B5EF4-FFF2-40B4-BE49-F238E27FC236}">
                <a16:creationId xmlns:a16="http://schemas.microsoft.com/office/drawing/2014/main" id="{3C235F2B-E697-43D1-AAB6-1D48684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22.480 → 5.030秒</a:t>
            </a:r>
          </a:p>
        </p:txBody>
      </p:sp>
      <p:sp>
        <p:nvSpPr>
          <p:cNvPr id="12" name="fft-s2-label">
            <a:extLst xmlns:a="http://schemas.openxmlformats.org/drawingml/2006/main">
              <a:ext uri="{FF2B5EF4-FFF2-40B4-BE49-F238E27FC236}">
                <a16:creationId xmlns:a16="http://schemas.microsoft.com/office/drawing/2014/main" id="{758879EE-DD62-40A4-BB98-0DA8254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s2_fft_local</a:t>
            </a:r>
          </a:p>
        </p:txBody>
      </p:sp>
      <p:sp>
        <p:nvSpPr>
          <p:cNvPr id="13" name="fft-rho-value">
            <a:extLst xmlns:a="http://schemas.openxmlformats.org/drawingml/2006/main">
              <a:ext uri="{FF2B5EF4-FFF2-40B4-BE49-F238E27FC236}">
                <a16:creationId xmlns:a16="http://schemas.microsoft.com/office/drawing/2014/main" id="{AFA7CD48-88B4-4EE9-8E5C-13B62D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14.510 → 0.730秒</a:t>
            </a:r>
          </a:p>
        </p:txBody>
      </p:sp>
      <p:sp>
        <p:nvSpPr>
          <p:cNvPr id="14" name="fft-rho-label">
            <a:extLst xmlns:a="http://schemas.openxmlformats.org/drawingml/2006/main">
              <a:ext uri="{FF2B5EF4-FFF2-40B4-BE49-F238E27FC236}">
                <a16:creationId xmlns:a16="http://schemas.microsoft.com/office/drawing/2014/main" id="{0A6D10F1-2EDE-45F7-BA49-669AC8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frprmn_rhoofk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0E6D20-CE0A-48BB-B80F-D9CF5B6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5C91B1-310A-4F04-95B5-1EA85A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752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ECB8CE-6902-41F5-8D5E-F3290B9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A9A5AC-8B9A-4C72-A720-2FFB04E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非局所projectorはkernel融合で起動回数を減らした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490E77-E03F-4F45-83D0-F673DB0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onlocal-list">
            <a:extLst xmlns:a="http://schemas.openxmlformats.org/drawingml/2006/main">
              <a:ext uri="{FF2B5EF4-FFF2-40B4-BE49-F238E27FC236}">
                <a16:creationId xmlns:a16="http://schemas.microsoft.com/office/drawing/2014/main" id="{0714B813-1504-460D-9100-D3A3E07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exnlp_gemm_body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do ia = 1, loopcnt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!$acc parallel loop gang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do iib = 1, nbndloc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 !$acc loop vector reduction(+:sr,si)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 ... dot product -&gt; ct1(iib)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!$acc parallel loop gang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do iib = 1, nbndloc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 !$acc loop vector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 coef(...)=coef(...)+ct1(iib)*dconjg(work1(...))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end 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exnlp_gemm_body_fused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parallel loop gang vector_length(256)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do iib = 1, nbndloc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!$acc loop seq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do ia = 1, loopcnt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ja=ia; if(reverse_order) ja=loopcnt-ia+1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!$acc loop vector reduction(+:sr,si)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... dot product ...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!$acc loop vector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878"/>
            </a:pPr>
            <a:r>
              <a:rPr sz="87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coef(...)=coef(...)+dcmplx(...)</a:t>
            </a:r>
          </a:p>
        </p:txBody>
      </p:sp>
      <p:sp>
        <p:nvSpPr>
          <p:cNvPr id="5" name="nonlocal-launch-value">
            <a:extLst xmlns:a="http://schemas.openxmlformats.org/drawingml/2006/main">
              <a:ext uri="{FF2B5EF4-FFF2-40B4-BE49-F238E27FC236}">
                <a16:creationId xmlns:a16="http://schemas.microsoft.com/office/drawing/2014/main" id="{44B3331F-A327-4B3F-A67D-90CB281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453,120 → 9,440回</a:t>
            </a:r>
          </a:p>
        </p:txBody>
      </p:sp>
      <p:sp>
        <p:nvSpPr>
          <p:cNvPr id="6" name="nonlocal-launch-label">
            <a:extLst xmlns:a="http://schemas.openxmlformats.org/drawingml/2006/main">
              <a:ext uri="{FF2B5EF4-FFF2-40B4-BE49-F238E27FC236}">
                <a16:creationId xmlns:a16="http://schemas.microsoft.com/office/drawing/2014/main" id="{E24B4F87-C055-4D2B-A2C8-FE6529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kernel起動回数</a:t>
            </a:r>
          </a:p>
        </p:txBody>
      </p:sp>
      <p:sp>
        <p:nvSpPr>
          <p:cNvPr id="7" name="nonlocal-time-value">
            <a:extLst xmlns:a="http://schemas.openxmlformats.org/drawingml/2006/main">
              <a:ext uri="{FF2B5EF4-FFF2-40B4-BE49-F238E27FC236}">
                <a16:creationId xmlns:a16="http://schemas.microsoft.com/office/drawing/2014/main" id="{013389F3-0F55-4F32-8239-710BB12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18.370 → 8.440秒</a:t>
            </a:r>
          </a:p>
        </p:txBody>
      </p:sp>
      <p:sp>
        <p:nvSpPr>
          <p:cNvPr id="8" name="nonlocal-time-label">
            <a:extLst xmlns:a="http://schemas.openxmlformats.org/drawingml/2006/main">
              <a:ext uri="{FF2B5EF4-FFF2-40B4-BE49-F238E27FC236}">
                <a16:creationId xmlns:a16="http://schemas.microsoft.com/office/drawing/2014/main" id="{2664661D-7950-49B5-831E-5A46D7E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exnlp_gemm_dot</a:t>
            </a:r>
          </a:p>
        </p:txBody>
      </p:sp>
      <p:sp>
        <p:nvSpPr>
          <p:cNvPr id="9" name="nonlocal-note-box">
            <a:extLst xmlns:a="http://schemas.openxmlformats.org/drawingml/2006/main">
              <a:ext uri="{FF2B5EF4-FFF2-40B4-BE49-F238E27FC236}">
                <a16:creationId xmlns:a16="http://schemas.microsoft.com/office/drawing/2014/main" id="{A86EEA64-8FAF-4E04-A557-D506EFB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0" name="nonlocal-note">
            <a:extLst xmlns:a="http://schemas.openxmlformats.org/drawingml/2006/main">
              <a:ext uri="{FF2B5EF4-FFF2-40B4-BE49-F238E27FC236}">
                <a16:creationId xmlns:a16="http://schemas.microsoft.com/office/drawing/2014/main" id="{9C42F417-EDE6-42AF-B44E-384102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26A00"/>
                </a:solidFill>
              </a:defRPr>
            </a:pPr>
            <a:r>
              <a:rPr sz="1725" b="1">
                <a:solidFill>
                  <a:srgbClr val="C26A00"/>
                </a:solidFill>
              </a:rPr>
              <a:t>原子適用順とreverse phaseの逆順は維持｜実装: tmevl10_Avec_v4.f（p.17 / 20）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09637D-7973-4A1B-BAA0-C87DF11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416732-7F83-4450-9C3B-0F1B3A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17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2A9F36-C0F8-447B-91CA-A75C06E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4737-D9C7-455E-8F9F-8CAE32C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FRPRMNとpotential処理をGPU内でつないだ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0552E-235C-43A9-B1D1-F39B9EC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rprmn-list">
            <a:extLst xmlns:a="http://schemas.openxmlformats.org/drawingml/2006/main">
              <a:ext uri="{FF2B5EF4-FFF2-40B4-BE49-F238E27FC236}">
                <a16:creationId xmlns:a16="http://schemas.microsoft.com/office/drawing/2014/main" id="{38E7B7AC-D231-4697-838B-23AF64B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42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host seed + H2D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do ik0=1,numkq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call coefcp(coef(1,1,ik0),coef0(1,1,ik0),...)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enddo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!$acc enter data copyin(COEF(...),COEF0(...))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device-local seed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#ifndef _OPENACC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call coefcp(coef(1,1,ik0),coef0(1,1,ik0),...)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#endif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#ifdef _OPENACC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enter data create(COEF0(...))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parallel loop collapse(3)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!$acc&amp; present(COEF(...),COEF0(...))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do ik0=1,numkq; do ib=1,nblng; do ig=1,ng2q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COEF0(ig,ib,ik0)=COEF(ig,ib,ik0)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enddo; enddo; enddo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rPr sz="9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#endif</a:t>
            </a:r>
          </a:p>
        </p:txBody>
      </p:sp>
      <p:sp>
        <p:nvSpPr>
          <p:cNvPr id="5" name="vpj-value">
            <a:extLst xmlns:a="http://schemas.openxmlformats.org/drawingml/2006/main">
              <a:ext uri="{FF2B5EF4-FFF2-40B4-BE49-F238E27FC236}">
                <a16:creationId xmlns:a16="http://schemas.microsoft.com/office/drawing/2014/main" id="{D9F9B0BE-BB51-4058-B1F0-712CEBF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E7D32"/>
                </a:solidFill>
              </a:defRPr>
            </a:pPr>
            <a:r>
              <a:rPr sz="2325" b="1">
                <a:solidFill>
                  <a:srgbClr val="2E7D32"/>
                </a:solidFill>
              </a:rPr>
              <a:t>36.130 → 1.800秒</a:t>
            </a:r>
          </a:p>
        </p:txBody>
      </p:sp>
      <p:sp>
        <p:nvSpPr>
          <p:cNvPr id="6" name="vpj-label">
            <a:extLst xmlns:a="http://schemas.openxmlformats.org/drawingml/2006/main">
              <a:ext uri="{FF2B5EF4-FFF2-40B4-BE49-F238E27FC236}">
                <a16:creationId xmlns:a16="http://schemas.microsoft.com/office/drawing/2014/main" id="{73CB0216-64F1-451D-BB76-5EDFFB1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VPJ積分</a:t>
            </a:r>
          </a:p>
        </p:txBody>
      </p:sp>
      <p:sp>
        <p:nvSpPr>
          <p:cNvPr id="7" name="locpot-value">
            <a:extLst xmlns:a="http://schemas.openxmlformats.org/drawingml/2006/main">
              <a:ext uri="{FF2B5EF4-FFF2-40B4-BE49-F238E27FC236}">
                <a16:creationId xmlns:a16="http://schemas.microsoft.com/office/drawing/2014/main" id="{13EF716A-0806-4CE9-A300-9653E88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2.765 → 0.305秒</a:t>
            </a:r>
          </a:p>
        </p:txBody>
      </p:sp>
      <p:sp>
        <p:nvSpPr>
          <p:cNvPr id="8" name="locpot-label">
            <a:extLst xmlns:a="http://schemas.openxmlformats.org/drawingml/2006/main">
              <a:ext uri="{FF2B5EF4-FFF2-40B4-BE49-F238E27FC236}">
                <a16:creationId xmlns:a16="http://schemas.microsoft.com/office/drawing/2014/main" id="{CA9519AE-3535-4A02-BF81-239A79E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LOCPOT</a:t>
            </a:r>
          </a:p>
        </p:txBody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A0D4E12D-F42E-4F90-82B8-CAD8A6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D9CDB"/>
                </a:solidFill>
              </a:defRPr>
            </a:pPr>
            <a:r>
              <a:rPr sz="2325" b="1">
                <a:solidFill>
                  <a:srgbClr val="2D9CDB"/>
                </a:solidFill>
              </a:rPr>
              <a:t>2.159 → 0.003秒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F9C807AB-B4FB-42EF-8D0D-A0389A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86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不要なHost復元</a:t>
            </a:r>
          </a:p>
        </p:txBody>
      </p:sp>
      <p:sp>
        <p:nvSpPr>
          <p:cNvPr id="11" name="frprmn-note-box">
            <a:extLst xmlns:a="http://schemas.openxmlformats.org/drawingml/2006/main">
              <a:ext uri="{FF2B5EF4-FFF2-40B4-BE49-F238E27FC236}">
                <a16:creationId xmlns:a16="http://schemas.microsoft.com/office/drawing/2014/main" id="{E44EAFA4-32C7-4B00-88DB-DA4DD5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frprmn-note">
            <a:extLst xmlns:a="http://schemas.openxmlformats.org/drawingml/2006/main">
              <a:ext uri="{FF2B5EF4-FFF2-40B4-BE49-F238E27FC236}">
                <a16:creationId xmlns:a16="http://schemas.microsoft.com/office/drawing/2014/main" id="{D44A038E-3843-4C29-86DD-EF0A897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正式改善は限定COEF常駐｜実装: frprmn / electf4 / vpj_gen / lib4_ASL_2（p.17）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803DF2-42DA-4FD0-B45E-F4A2DE1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D7E17D-91F3-4045-9C02-3CABCB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215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30AF6B-3F89-4CDC-8D1B-0D64FA3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77C0B-4FC2-4AE5-AA3C-5FD2825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データ常駐化がGPU化の実効性を高めた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D2D60E-0563-4E80-9606-E037387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residency-results">
            <a:extLst xmlns:a="http://schemas.openxmlformats.org/drawingml/2006/main">
              <a:ext uri="{FF2B5EF4-FFF2-40B4-BE49-F238E27FC236}">
                <a16:creationId xmlns:a16="http://schemas.microsoft.com/office/drawing/2014/main" id="{8CEDA84D-1847-40A5-B6DF-FA71533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COEF D2H 944回を削除　｜　必須同期を約103回へ集約　｜　metadata copyinをloop外へ</a:t>
            </a:r>
          </a:p>
        </p:txBody>
      </p:sp>
      <p:sp>
        <p:nvSpPr>
          <p:cNvPr id="6" name="residency-memory">
            <a:extLst xmlns:a="http://schemas.openxmlformats.org/drawingml/2006/main">
              <a:ext uri="{FF2B5EF4-FFF2-40B4-BE49-F238E27FC236}">
                <a16:creationId xmlns:a16="http://schemas.microsoft.com/office/drawing/2014/main" id="{3593F2C5-26A0-4D29-B711-5B2051A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/>
            </a:pPr>
            <a:r>
              <a:rPr sz="1125" b="1">
                <a:solidFill>
                  <a:srgbClr val="C46800"/>
                </a:solidFill>
              </a:rPr>
              <a:t>橙 = BEFOREで削除・置換</a:t>
            </a:r>
            <a:r>
              <a:rPr sz="1125">
                <a:solidFill>
                  <a:srgbClr val="667085"/>
                </a:solidFill>
              </a:rPr>
              <a:t>　｜　</a:t>
            </a:r>
            <a:r>
              <a:rPr sz="1125" b="1">
                <a:solidFill>
                  <a:srgbClr val="1769AA"/>
                </a:solidFill>
              </a:rPr>
              <a:t>青 = AFTERで追加・採用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2C78EFE-93C7-4172-8F46-80469C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36F13-209E-4767-BE19-703056A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476750"/>
              </a:tblGrid>
              <a:tr h="723900"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変更対象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BEFORE｜削除・置換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AFTER｜採用コード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23900"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FFT転送・batch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!$acc update self(RHO1_(...))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CALL FFT3BX_fftwASL(...,RHO1_(1,iib),...)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!$acc update device(RHO1_(...))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CALL FFT3BX_fftwASL_ACC_BATCH(...,nbndloc,RHO1_,RHO2_,...)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host_data use_device(RHOG)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call fpseid_cufft_exec_device_batch(...)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nonlocal staging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!$acc enter data copyin(work2_(...),cfac_(...),ngnl_(...))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... GEMM ...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!$acc exit data delete(work2_(...),cfac_(...),ngnl_(...))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enter data create(work2_(...),cfac_(...),ngnl_(...))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update device(work2_(...))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update device(cfac_(...),ngnl_(...))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723900"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COEF0 seed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call coefcp(coef(1,1,ik0),coef0(1,1,ik0),...)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!$acc enter data copyin(COEF(...),COEF0(...))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enter data create(COEF0(...))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parallel loop collapse(3)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COEF0(ig,ib,ik0)=COEF(ig,ib,ik0)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static metadata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do 100 itstep=0,ntstep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C46800"/>
                          </a:solidFill>
                          <a:latin typeface="Consolas"/>
                          <a:ea typeface="Consolas"/>
                          <a:cs typeface="Consolas"/>
                        </a:rPr>
                        <a:t>  ! metadataは各routine境界でmapping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 enter data copyin(J2G(...),OCC(...),RAD(...),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!$acc&amp; PSPOT(...),PSPOT2(...),PHIL(...))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1769AA"/>
                          </a:solidFill>
                          <a:latin typeface="Consolas"/>
                          <a:ea typeface="Consolas"/>
                          <a:cs typeface="Consolas"/>
                        </a:rPr>
                        <a:t>do 100 itstep=0,ntstep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89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2EBB83-8947-46F6-B1C8-0C10978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4B4F8-D8CC-46B1-B502-D8A297D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A100では段階的に63.214秒まで短縮した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BCE21F-6A66-4825-8C69-2C72C4C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23728ee2934d3b"/>
          </a:graphicData>
        </a:graphic>
      </p:graphicFrame>
      <p:sp>
        <p:nvSpPr>
          <p:cNvPr id="5" name="progress-result">
            <a:extLst xmlns:a="http://schemas.openxmlformats.org/drawingml/2006/main">
              <a:ext uri="{FF2B5EF4-FFF2-40B4-BE49-F238E27FC236}">
                <a16:creationId xmlns:a16="http://schemas.microsoft.com/office/drawing/2014/main" id="{1BEA4B77-362D-4396-86E7-58FD430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146.540秒 → 63.214秒　｜　約2.32倍　｜　約56.9%短縮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8BF519-2DB9-4546-968C-D1C79B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B3A1E7-AD27-414E-B8E7-C1C9F20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50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5系列の正式baselineを独立して管理する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CPU系列は2 socket / full-core、GPU系列は1 GPU。装置数が異なるためwallの直接比較ではない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6980P・8468・8592+は独立baseline。全runでnormal / relaxed / strict validationを通過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19625"/>
                <a:gridCol w="1381125"/>
                <a:gridCol w="1190625"/>
                <a:gridCol w="1571625"/>
              </a:tblGrid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プラットフォーム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実行構成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中央値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正常性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A100-PCIE-40GB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63.214秒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0.103秒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H100 PCIe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34.109秒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0.091秒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Intel Xeon 6980P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8 OMP = 256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16.539秒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8468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3 OMP = 96 threads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20.597秒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0.056秒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8592+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4 OMP = 128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19.595秒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054F5D-5DC4-40CD-A29B-410D26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64F8F-9BE3-4645-8A49-FE253E4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正しく動いてもwall timeが改善しない変更は残さなかった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CDB264-102F-48CE-BBD3-9F83368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reject-name-0">
            <a:extLst xmlns:a="http://schemas.openxmlformats.org/drawingml/2006/main">
              <a:ext uri="{FF2B5EF4-FFF2-40B4-BE49-F238E27FC236}">
                <a16:creationId xmlns:a16="http://schemas.microsoft.com/office/drawing/2014/main" id="{4FB6FD29-B246-41ED-867E-A07CAE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SEPPOTF batch</a:t>
            </a:r>
          </a:p>
        </p:txBody>
      </p:sp>
      <p:sp>
        <p:nvSpPr>
          <p:cNvPr id="5" name="reject-result-0">
            <a:extLst xmlns:a="http://schemas.openxmlformats.org/drawingml/2006/main">
              <a:ext uri="{FF2B5EF4-FFF2-40B4-BE49-F238E27FC236}">
                <a16:creationId xmlns:a16="http://schemas.microsoft.com/office/drawing/2014/main" id="{85E998DB-267D-4447-912F-66EB1E9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正常だがA100で遅化</a:t>
            </a:r>
          </a:p>
        </p:txBody>
      </p:sp>
      <p:sp>
        <p:nvSpPr>
          <p:cNvPr id="6" name="reject-name-1">
            <a:extLst xmlns:a="http://schemas.openxmlformats.org/drawingml/2006/main">
              <a:ext uri="{FF2B5EF4-FFF2-40B4-BE49-F238E27FC236}">
                <a16:creationId xmlns:a16="http://schemas.microsoft.com/office/drawing/2014/main" id="{2C1664FB-BE3F-4FB2-8628-4CD818E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compiler flags</a:t>
            </a:r>
          </a:p>
        </p:txBody>
      </p:sp>
      <p:sp>
        <p:nvSpPr>
          <p:cNvPr id="7" name="reject-result-1">
            <a:extLst xmlns:a="http://schemas.openxmlformats.org/drawingml/2006/main">
              <a:ext uri="{FF2B5EF4-FFF2-40B4-BE49-F238E27FC236}">
                <a16:creationId xmlns:a16="http://schemas.microsoft.com/office/drawing/2014/main" id="{3C637635-A8EC-4CA4-97C0-444D4FE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改善がrun幅付近</a:t>
            </a:r>
          </a:p>
        </p:txBody>
      </p:sp>
      <p:sp>
        <p:nvSpPr>
          <p:cNvPr id="8" name="reject-name-2">
            <a:extLst xmlns:a="http://schemas.openxmlformats.org/drawingml/2006/main">
              <a:ext uri="{FF2B5EF4-FFF2-40B4-BE49-F238E27FC236}">
                <a16:creationId xmlns:a16="http://schemas.microsoft.com/office/drawing/2014/main" id="{34211DAD-F08B-4B93-955C-7DA6256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managed / unified memory</a:t>
            </a:r>
          </a:p>
        </p:txBody>
      </p:sp>
      <p:sp>
        <p:nvSpPr>
          <p:cNvPr id="9" name="reject-result-2">
            <a:extLst xmlns:a="http://schemas.openxmlformats.org/drawingml/2006/main">
              <a:ext uri="{FF2B5EF4-FFF2-40B4-BE49-F238E27FC236}">
                <a16:creationId xmlns:a16="http://schemas.microsoft.com/office/drawing/2014/main" id="{AA712EBB-20BA-4DCE-B745-93B8009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正式設定より2倍以上遅化</a:t>
            </a:r>
          </a:p>
        </p:txBody>
      </p:sp>
      <p:sp>
        <p:nvSpPr>
          <p:cNvPr id="10" name="reject-name-3">
            <a:extLst xmlns:a="http://schemas.openxmlformats.org/drawingml/2006/main">
              <a:ext uri="{FF2B5EF4-FFF2-40B4-BE49-F238E27FC236}">
                <a16:creationId xmlns:a16="http://schemas.microsoft.com/office/drawing/2014/main" id="{51C33A5E-C5A3-4D05-9DD5-B326302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追加kernel融合・特殊化</a:t>
            </a:r>
          </a:p>
        </p:txBody>
      </p:sp>
      <p:sp>
        <p:nvSpPr>
          <p:cNvPr id="11" name="reject-result-3">
            <a:extLst xmlns:a="http://schemas.openxmlformats.org/drawingml/2006/main">
              <a:ext uri="{FF2B5EF4-FFF2-40B4-BE49-F238E27FC236}">
                <a16:creationId xmlns:a16="http://schemas.microsoft.com/office/drawing/2014/main" id="{9E374361-4B0A-45C1-9BAB-9BE7806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有意な改善なし</a:t>
            </a:r>
          </a:p>
        </p:txBody>
      </p:sp>
      <p:sp>
        <p:nvSpPr>
          <p:cNvPr id="12" name="reject-name-4">
            <a:extLst xmlns:a="http://schemas.openxmlformats.org/drawingml/2006/main">
              <a:ext uri="{FF2B5EF4-FFF2-40B4-BE49-F238E27FC236}">
                <a16:creationId xmlns:a16="http://schemas.microsoft.com/office/drawing/2014/main" id="{81E2887E-4B5E-42CF-8067-B3EAF04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Intel MPI scatter</a:t>
            </a:r>
          </a:p>
        </p:txBody>
      </p:sp>
      <p:sp>
        <p:nvSpPr>
          <p:cNvPr id="13" name="reject-result-4">
            <a:extLst xmlns:a="http://schemas.openxmlformats.org/drawingml/2006/main">
              <a:ext uri="{FF2B5EF4-FFF2-40B4-BE49-F238E27FC236}">
                <a16:creationId xmlns:a16="http://schemas.microsoft.com/office/drawing/2014/main" id="{8E17953A-8065-4786-BBCB-BD40C72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IPL2 errorと大幅遅化</a:t>
            </a:r>
          </a:p>
        </p:txBody>
      </p:sp>
      <p:sp>
        <p:nvSpPr>
          <p:cNvPr id="14" name="reject-learning">
            <a:extLst xmlns:a="http://schemas.openxmlformats.org/drawingml/2006/main">
              <a:ext uri="{FF2B5EF4-FFF2-40B4-BE49-F238E27FC236}">
                <a16:creationId xmlns:a16="http://schemas.microsoft.com/office/drawing/2014/main" id="{0452599D-E1A9-4960-AA9F-0924C3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reject-learning-text">
            <a:extLst xmlns:a="http://schemas.openxmlformats.org/drawingml/2006/main">
              <a:ext uri="{FF2B5EF4-FFF2-40B4-BE49-F238E27FC236}">
                <a16:creationId xmlns:a16="http://schemas.microsoft.com/office/drawing/2014/main" id="{CAA35D88-2331-4D24-899E-3EAC3BB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tutorial専用の小さなmicro tuningは改善上限が小さい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D591D5-A4CC-4473-808A-40107A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5FB75A-39D3-47FA-8194-77D230E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651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性能が伸びにくい根拠｜1 GPU × 1 MPI rank × OMP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最新profileが現行tutorialの改善限界を示している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Step 116｜NSYS kernel時間（秒）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5ea50378d54481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Step 116｜A100 / H100 current-source比較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H2D　A100 2.497秒｜H100 0.693秒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D2H　A100 0.483秒｜H100 0.124秒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NCU　32 blocks × 256 threads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8,192 threads／launch｜Achieved occupancy 12.50%（両GPU）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H100はfused kernelがA100比2.59倍高速。ただし両GPUとも32 blocks・occupancy 12.50%で並列幅不足。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E93C04-F6BC-4774-A058-12E25F7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1CC7B-987C-4D49-A037-690F6B3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次の課題はproduction規模での再評価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1C4A1-28DB-4BD6-B5A5-89731B6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ext-challenges">
            <a:extLst xmlns:a="http://schemas.openxmlformats.org/drawingml/2006/main">
              <a:ext uri="{FF2B5EF4-FFF2-40B4-BE49-F238E27FC236}">
                <a16:creationId xmlns:a16="http://schemas.microsoft.com/office/drawing/2014/main" id="{D3A56CDE-32BF-4087-9FE7-91352C7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融合非局所kernelが主要な残存処理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Host処理、MPI境界、同期・転送が一部残存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tutorial入力は32 bandsでGPU並列度が不足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production入力と対応する正解referenceが未準備</a:t>
            </a:r>
          </a:p>
        </p:txBody>
      </p:sp>
      <p:sp>
        <p:nvSpPr>
          <p:cNvPr id="5" name="next-actions-title">
            <a:extLst xmlns:a="http://schemas.openxmlformats.org/drawingml/2006/main">
              <a:ext uri="{FF2B5EF4-FFF2-40B4-BE49-F238E27FC236}">
                <a16:creationId xmlns:a16="http://schemas.microsoft.com/office/drawing/2014/main" id="{1CDDE931-09DC-4F66-9B88-4F0D296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Step 116完了後の進め方</a:t>
            </a:r>
          </a:p>
        </p:txBody>
      </p:sp>
      <p:sp>
        <p:nvSpPr>
          <p:cNvPr id="6" name="next-actions">
            <a:extLst xmlns:a="http://schemas.openxmlformats.org/drawingml/2006/main">
              <a:ext uri="{FF2B5EF4-FFF2-40B4-BE49-F238E27FC236}">
                <a16:creationId xmlns:a16="http://schemas.microsoft.com/office/drawing/2014/main" id="{8D094D84-F2C8-4438-AEE1-31C2336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1　production入力と正解referenceを準備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2　</a:t>
            </a:r>
            <a:r>
              <a:rPr sz="1575" b="0">
                <a:solidFill>
                  <a:srgbClr val="1F2937"/>
                </a:solidFill>
              </a:rPr>
              <a:t>production条件のbaseline</a:t>
            </a:r>
            <a:r>
              <a:rPr sz="1575" b="0">
                <a:solidFill>
                  <a:srgbClr val="1F2937"/>
                </a:solidFill>
              </a:rPr>
              <a:t>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3　kernel・同期・転送量を再分類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4　根拠のある箇所を1仮説ずつ最適化</a:t>
            </a:r>
          </a:p>
        </p:txBody>
      </p:sp>
      <p:sp>
        <p:nvSpPr>
          <p:cNvPr id="7" name="next-stop">
            <a:extLst xmlns:a="http://schemas.openxmlformats.org/drawingml/2006/main">
              <a:ext uri="{FF2B5EF4-FFF2-40B4-BE49-F238E27FC236}">
                <a16:creationId xmlns:a16="http://schemas.microsoft.com/office/drawing/2014/main" id="{BB919C33-B6DF-43C5-BAF8-09E5D53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8" name="next-stop-text">
            <a:extLst xmlns:a="http://schemas.openxmlformats.org/drawingml/2006/main">
              <a:ext uri="{FF2B5EF4-FFF2-40B4-BE49-F238E27FC236}">
                <a16:creationId xmlns:a16="http://schemas.microsoft.com/office/drawing/2014/main" id="{944EBB0C-B018-4E14-92EC-77B968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26A00"/>
                </a:solidFill>
              </a:defRPr>
            </a:pPr>
            <a:r>
              <a:rPr sz="1650" b="1">
                <a:solidFill>
                  <a:srgbClr val="C26A00"/>
                </a:solidFill>
              </a:rPr>
              <a:t>次の判断にはproduction入力と対応する正解referenceが必要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17B940-E24C-4155-A668-87F7F05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54114B-B970-43B8-85AE-5A2A234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174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8437B8-1555-4FE5-AA0A-E081FF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 A1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0992B-E59A-466B-A272-8F6F1B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正式baselineの識別情報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B81D52-1F2C-4840-A2FA-493925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8340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logical step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A100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c46cfa9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cc80、1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e6ad059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cc90、1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formal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7318e59系列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92FF11A6-EAE6-4B10-98F3-7440D5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Step 116測定revision: ac71452</a:t>
            </a:r>
          </a:p>
        </p:txBody>
      </p:sp>
      <p:sp>
        <p:nvSpPr>
          <p:cNvPr id="6" name="baseline-notes">
            <a:extLst xmlns:a="http://schemas.openxmlformats.org/drawingml/2006/main">
              <a:ext uri="{FF2B5EF4-FFF2-40B4-BE49-F238E27FC236}">
                <a16:creationId xmlns:a16="http://schemas.microsoft.com/office/drawing/2014/main" id="{B84AE194-B582-4643-AD1D-674BE16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GPUの採用済み数値計算経路はc46cfa9と一致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H100とA100のbaselineは混合・置換しない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00594-DBC8-4D0D-935F-2B9648C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67769A5-A013-499C-A33A-0FB545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15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27FE8C-303F-49A5-9BFF-ADB88CA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8DA77-866A-42BF-8449-8BAED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説明ページとコード変更の対応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9CAB06-CE9B-445A-9CAA-852EEA4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5">
            <a:extLst xmlns:a="http://schemas.openxmlformats.org/drawingml/2006/main">
              <a:ext uri="{FF2B5EF4-FFF2-40B4-BE49-F238E27FC236}">
                <a16:creationId xmlns:a16="http://schemas.microsoft.com/office/drawing/2014/main" id="{4F4B25FE-AA20-478E-AC0B-7C9ACEB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p.4–5, 8, 20｜tmevl10_Avec_v4.f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P常駐、S2/HLOCAL device連結、非局所kernel融合・ia順序保持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p.9–10, 21｜frprmn_tm12_check_Vext_Avec_v4.f / electf4_Vext_Avec.f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COEF/COEF0常駐、密度再構築、ELECTF境界、Host復元省略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p.7, 18–19｜fft_cufft.f / fpseid_cufft_wrap.c / fft_fftw.f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 pointer、cufftPlanMany batch、CPU/FFTW互換entry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p.9｜vpj_gen.f / lib4_ASL_2_check_Vext_SXACE.f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VPJ積分、LOCPOT、交換相関、EWALDのOpenACC化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p.10｜pspw_tm11_Vext_Avec_v4_alloc*.f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time-step常駐配列とpseudopotential metadataをloop外へ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p.24–25｜run_tddft_x86_8468_8592_sweep.sh / mod_timer.f90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x86構成sweep、named regionのcall-path tree表示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3A585D-9CB8-4134-A065-D618AE3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49AD84-8EBC-4EB9-A2CC-A3AC329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3138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8A243B-832E-4912-BF06-529BBDA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技術付録｜fft_cufft.f / ACC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EA17-38E6-4889-8786-E7E065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cuFFTをdevice pointer版へ変更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61A741-E99C-4780-ADB6-8F8AA9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6">
            <a:extLst xmlns:a="http://schemas.openxmlformats.org/drawingml/2006/main">
              <a:ext uri="{FF2B5EF4-FFF2-40B4-BE49-F238E27FC236}">
                <a16:creationId xmlns:a16="http://schemas.microsoft.com/office/drawing/2014/main" id="{45939502-66A4-47C3-AF65-55E4D65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host cuFFT wrapper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!$acc update self(RHO1_(1:NXYZ,1:nbndloc))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CALL FFT3BX_fftwASL(...,RHO1_(1,iib),RHO2_(1,iib),...)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!$acc update device(RHO1_(1:NXYZ,1:nbndloc))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device pointer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CALL FFT3BX_fftwASL_ACC(...,RHO1_(1,iib),RHO2_(1,iib),...)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host_data use_device(RHOG)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call fpseid_cufft_exec_device(plancbp,RHOG,NG,1,ierr)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end host_data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Host stagingを除き、OpenACC管理配列をcuFFTへ直接渡す。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AF1C3-DDC9-497D-BAA2-F6E45C4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B8939CB-C1E8-4B46-974A-FE8910D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1556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B4E883-DF11-4BD4-B1F4-A1E102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技術付録｜fft_cufft.f / ACC_BATCH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94E5-9182-432D-9446-43C78D4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bandごとのFFTをbatch化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08A73B-0490-4879-81E5-7E5F3D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7">
            <a:extLst xmlns:a="http://schemas.openxmlformats.org/drawingml/2006/main">
              <a:ext uri="{FF2B5EF4-FFF2-40B4-BE49-F238E27FC236}">
                <a16:creationId xmlns:a16="http://schemas.microsoft.com/office/drawing/2014/main" id="{62BCD346-01F0-48AA-BCDC-02DB6C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one FFT per band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do ib=nbegin,nend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iib=ib-nbegin+1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CALL FFT3BX_fftwASL_ACC(...,RHO1_(1,iib),RHO2_(1,iib),...)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enddo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one batched FFT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CALL FFT3BX_fftwASL_ACC_BATCH(...,nbndloc,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&amp; RHO1_,RHO2_,plancfp,plancbp)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複数bandをcufftPlanManyで一括実行し、wrapper呼出しを削減。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A4963-06E2-4B98-B21A-0A6025C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769A55-258F-4BD1-AAFC-90E18F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001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04F031-BE36-4A40-BA87-5479E1B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技術付録｜tmevl10_Avec_v4.f / projector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F7A7A-DD23-49D0-ACCF-A10A2FC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非局所kernelで原子順序を保持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BE41CC-FF60-40F6-AF84-6DFBFA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8">
            <a:extLst xmlns:a="http://schemas.openxmlformats.org/drawingml/2006/main">
              <a:ext uri="{FF2B5EF4-FFF2-40B4-BE49-F238E27FC236}">
                <a16:creationId xmlns:a16="http://schemas.microsoft.com/office/drawing/2014/main" id="{46B7FA34-5331-455D-AF14-AE5134D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iaごとにdot / update kernel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do ia = 1, loopcnt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!$acc parallel loop gang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do iib = 1, nbndloc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 !$acc loop vector reduction(+:sr,si)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!$acc parallel loop gang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do iib = 1, nbndloc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 !$acc loop vector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end 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bandをgang、iaをseqで融合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!$acc parallel loop gang vector_length(256)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do iib = 1, nbndloc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!$acc loop seq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do ia = 1, loopcnt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ja=ia; if(reverse_order) ja=loopcnt-ia+1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!$acc loop vector reduction(+:sr,si)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 !$acc loop vector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end 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pPr>
            <a:r>
              <a:rPr sz="1088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end do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35C0-278C-4F00-917E-FC47F6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172A96-D25B-4716-8B9D-22F9B30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2748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5BC86-F47E-441C-940B-84BDE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技術付録｜frprmn / corrector COEF restore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F755-5A6D-4071-959F-7685790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OpenACC時の不要なHost復元を省略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35735E-0F36-408B-9C68-8F30C9A7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9">
            <a:extLst xmlns:a="http://schemas.openxmlformats.org/drawingml/2006/main">
              <a:ext uri="{FF2B5EF4-FFF2-40B4-BE49-F238E27FC236}">
                <a16:creationId xmlns:a16="http://schemas.microsoft.com/office/drawing/2014/main" id="{1E6F87B0-697B-44BF-B3DD-E5DCA59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BEFORE | OpenACCでもHostへ復元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do ik0=1,numkq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 call coefcp(coef0(1,1,ik0),coef(1,1,ik0),...)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C46800"/>
                </a:solidFill>
                <a:latin typeface="Consolas"/>
                <a:ea typeface="Consolas"/>
                <a:cs typeface="Consolas"/>
              </a:rPr>
              <a:t>enddo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AFTER | CPU/FFTWだけHost copy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#ifndef _OPENACC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do ik0=1,numkq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 call coefcp(coef0(1,1,ik0),coef(1,1,ik0),...)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enddo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1769AA"/>
                </a:solidFill>
                <a:latin typeface="Consolas"/>
                <a:ea typeface="Consolas"/>
                <a:cs typeface="Consolas"/>
              </a:rPr>
              <a:t>#endif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OpenACCではdevice上のCOEF0を正本としてHost復元を省略。</a:t>
            </a:r>
          </a:p>
          <a:p xmlns:a="http://schemas.openxmlformats.org/drawingml/2006/main"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rPr sz="1200" b="1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結果: 約2.159秒 -&gt; 0.003秒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030E2C-5F25-48C1-AD51-9E05A23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8FED6-52F9-44A8-B8B3-2319437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9974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CA88DB-E3F0-4A90-BA57-85DB487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46058-0ECD-4528-BA18-1A7B674F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別テンプレートへ移す際の推奨手順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A63416-4344-42CB-BB44-338FB44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0">
            <a:extLst xmlns:a="http://schemas.openxmlformats.org/drawingml/2006/main">
              <a:ext uri="{FF2B5EF4-FFF2-40B4-BE49-F238E27FC236}">
                <a16:creationId xmlns:a16="http://schemas.microsoft.com/office/drawing/2014/main" id="{0F7DA07B-C705-490D-AB95-75C9AC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　移行先テンプレートで新しいスライドを作成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　本ファイルからタイトル、本文、図表をスライド単位でコピー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　移行先のレイアウトに合わせて「貼り付け先のテーマを使用」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　グラフと表はPowerPointオブジェクトのまま貼り付け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　発表者ノートをコピーし、末尾の[Sources]も保持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本ファイルは背景画像、特殊フォント、複雑なマスター依存を使用していない。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B6680-10B9-4E14-861D-129C955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0A4DE4-D609-453F-8BB5-1C30DC0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8389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0C4C20-8F1A-4000-8C56-B7DB3A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D1357E-22AF-48AA-989A-BA64E0E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数値と実装情報の出典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782F1-28B2-42F3-A772-B7611A3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1">
            <a:extLst xmlns:a="http://schemas.openxmlformats.org/drawingml/2006/main">
              <a:ext uri="{FF2B5EF4-FFF2-40B4-BE49-F238E27FC236}">
                <a16:creationId xmlns:a16="http://schemas.microsoft.com/office/drawing/2014/main" id="{098B2947-1F0B-4B75-851E-6B99CFD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正式baseline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docs/PERFORMANCE_BASELINE.md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採否と各Stepの履歴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docs/EXPERIMENT_LOG.md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現在地点と保留事項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GPU化率と実装履歴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docs/tddft_gpu_progress_summary_ja.md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原稿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docs/POWERPOINT_GPU_IMPLEMENTATION_SUMMARY_JA.md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2D539D-B291-4671-9D0B-2DAD368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32C4F7-FB58-48DC-A06F-937A346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0326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追加x86測定｜2 socket / full-core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32 MPIが8468・8592+の両方で最速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全physical coreを使用しても、MPI rankを減らしてOpenMP teamを大きくすると単調に遅化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正式値では8592+が8468より4.87%高速。ただし6980Pより18.47%低速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実行helper: tools/run_tddft_x86_8468_8592_sweep.sh（コード対応: p.17）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1809750"/>
                <a:gridCol w="1809750"/>
                <a:gridCol w="2476500"/>
              </a:tblGrid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32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16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8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正式median / 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8468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21.090秒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16×6  29.488秒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8×12  49.360秒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4×24  88.682秒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20.597 / 0.056秒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8592+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19.603秒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16×8  28.640秒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8×16  49.309秒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4×32  90.907秒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19.595 / 0.053秒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追加x86測定｜階層timer tree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8592+は8468を改善したが、6980Pとの差はS2に残る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25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主要inclusive timer（秒）｜3 CPU比較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b166fce6d24462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mod_timer.f90｜rank 0 inclusive call-path tree（p.17）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time_step_total　6980P 16.478｜8468 20.620｜8592+ 19.669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tmevl_s2　　 6980P 7.616｜8468 10.270｜8592+ 9.388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nonlocal / FFT　6980P 5.510 / 2.096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8468 6.746 / 3.513｜8592+ 6.275 / 3.100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8592+は8468比4.6%短縮。6980Pとの差はTMEVL_S2（+23%）とS2 FFT（+48%）に残る。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2026-08-06T00:43:36.2040000Z</dcterms:created>
  <dcterms:modified xsi:type="dcterms:W3CDTF">2026-08-06T00:43:36.2040000Z</dcterms:modified>
</coreProperties>
</file>