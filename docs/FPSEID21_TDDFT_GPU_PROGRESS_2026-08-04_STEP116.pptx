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7afbddca8c4dda" /><Relationship Type="http://schemas.openxmlformats.org/officeDocument/2006/relationships/extended-properties" Target="/docProps/app.xml" Id="R6dda59f11eff4ded" /><Relationship Type="http://schemas.openxmlformats.org/officeDocument/2006/relationships/officeDocument" Target="/ppt/presentation.xml" Id="Rd6bd53b4491741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053c08b0ca4b56"/>
  </p:sldMasterIdLst>
  <p:notesMasterIdLst>
    <p:notesMasterId xmlns:r="http://schemas.openxmlformats.org/officeDocument/2006/relationships" r:id="R09bbe54821ad4d77"/>
  </p:notesMasterIdLst>
  <p:sldIdLst>
    <p:sldId xmlns:r="http://schemas.openxmlformats.org/officeDocument/2006/relationships" id="256" r:id="R18e7d060d62743b7"/>
    <p:sldId xmlns:r="http://schemas.openxmlformats.org/officeDocument/2006/relationships" id="257" r:id="R663dd3f015e44c43"/>
    <p:sldId xmlns:r="http://schemas.openxmlformats.org/officeDocument/2006/relationships" id="258" r:id="R063b79602b554ada"/>
    <p:sldId xmlns:r="http://schemas.openxmlformats.org/officeDocument/2006/relationships" id="259" r:id="R790111c3de484bea"/>
    <p:sldId xmlns:r="http://schemas.openxmlformats.org/officeDocument/2006/relationships" id="260" r:id="R16c83f2c5e0c4876"/>
    <p:sldId xmlns:r="http://schemas.openxmlformats.org/officeDocument/2006/relationships" id="261" r:id="Re08db944b1394f60"/>
    <p:sldId xmlns:r="http://schemas.openxmlformats.org/officeDocument/2006/relationships" id="262" r:id="R00a21da1d66b45ea"/>
    <p:sldId xmlns:r="http://schemas.openxmlformats.org/officeDocument/2006/relationships" id="263" r:id="Rc8e723a2a1394146"/>
    <p:sldId xmlns:r="http://schemas.openxmlformats.org/officeDocument/2006/relationships" id="264" r:id="R12c1672b5cd24fad"/>
    <p:sldId xmlns:r="http://schemas.openxmlformats.org/officeDocument/2006/relationships" id="265" r:id="Ra22821b1a7f44e85"/>
    <p:sldId xmlns:r="http://schemas.openxmlformats.org/officeDocument/2006/relationships" id="266" r:id="R2c4837697ddd4d79"/>
    <p:sldId xmlns:r="http://schemas.openxmlformats.org/officeDocument/2006/relationships" id="267" r:id="R49df1914e5644551"/>
    <p:sldId xmlns:r="http://schemas.openxmlformats.org/officeDocument/2006/relationships" id="268" r:id="R810aaee8dc07447e"/>
    <p:sldId xmlns:r="http://schemas.openxmlformats.org/officeDocument/2006/relationships" id="269" r:id="Rfa3b832213d44d3d"/>
    <p:sldId xmlns:r="http://schemas.openxmlformats.org/officeDocument/2006/relationships" id="270" r:id="R794e504f96364ad2"/>
    <p:sldId xmlns:r="http://schemas.openxmlformats.org/officeDocument/2006/relationships" id="271" r:id="R5295a37bdd704045"/>
    <p:sldId xmlns:r="http://schemas.openxmlformats.org/officeDocument/2006/relationships" id="272" r:id="R072fbc4b97ee4ba1"/>
    <p:sldId xmlns:r="http://schemas.openxmlformats.org/officeDocument/2006/relationships" id="273" r:id="Ra0abef988e0c4a7a"/>
    <p:sldId xmlns:r="http://schemas.openxmlformats.org/officeDocument/2006/relationships" id="274" r:id="R45c42980ec5f4396"/>
    <p:sldId xmlns:r="http://schemas.openxmlformats.org/officeDocument/2006/relationships" id="275" r:id="Rc76f941a16224e8f"/>
    <p:sldId xmlns:r="http://schemas.openxmlformats.org/officeDocument/2006/relationships" id="276" r:id="R979d26dc7c904980"/>
    <p:sldId xmlns:r="http://schemas.openxmlformats.org/officeDocument/2006/relationships" id="277" r:id="R412d3360e84f4af9"/>
    <p:sldId xmlns:r="http://schemas.openxmlformats.org/officeDocument/2006/relationships" id="278" r:id="R927498873cfe48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25f04a21ec443b" /><Relationship Type="http://schemas.openxmlformats.org/officeDocument/2006/relationships/slideMaster" Target="/ppt/slideMasters/slideMaster1.xml" Id="Rce053c08b0ca4b56" /><Relationship Type="http://schemas.openxmlformats.org/officeDocument/2006/relationships/notesMaster" Target="/ppt/notesMasters/notesMaster1.xml" Id="R09bbe54821ad4d77" /><Relationship Type="http://schemas.openxmlformats.org/officeDocument/2006/relationships/presProps" Target="/ppt/presProps.xml" Id="R13b389f51b4043d5" /><Relationship Type="http://schemas.openxmlformats.org/officeDocument/2006/relationships/tableStyles" Target="/ppt/tableStyles.xml" Id="R1823334378f342e2" /><Relationship Type="http://schemas.openxmlformats.org/officeDocument/2006/relationships/slide" Target="/ppt/slides/slide1.xml" Id="R18e7d060d62743b7" /><Relationship Type="http://schemas.openxmlformats.org/officeDocument/2006/relationships/slide" Target="/ppt/slides/slide2.xml" Id="R663dd3f015e44c43" /><Relationship Type="http://schemas.openxmlformats.org/officeDocument/2006/relationships/slide" Target="/ppt/slides/slide3.xml" Id="R063b79602b554ada" /><Relationship Type="http://schemas.openxmlformats.org/officeDocument/2006/relationships/slide" Target="/ppt/slides/slide4.xml" Id="R790111c3de484bea" /><Relationship Type="http://schemas.openxmlformats.org/officeDocument/2006/relationships/slide" Target="/ppt/slides/slide5.xml" Id="R16c83f2c5e0c4876" /><Relationship Type="http://schemas.openxmlformats.org/officeDocument/2006/relationships/slide" Target="/ppt/slides/slide6.xml" Id="Re08db944b1394f60" /><Relationship Type="http://schemas.openxmlformats.org/officeDocument/2006/relationships/slide" Target="/ppt/slides/slide7.xml" Id="R00a21da1d66b45ea" /><Relationship Type="http://schemas.openxmlformats.org/officeDocument/2006/relationships/slide" Target="/ppt/slides/slide8.xml" Id="Rc8e723a2a1394146" /><Relationship Type="http://schemas.openxmlformats.org/officeDocument/2006/relationships/slide" Target="/ppt/slides/slide9.xml" Id="R12c1672b5cd24fad" /><Relationship Type="http://schemas.openxmlformats.org/officeDocument/2006/relationships/slide" Target="/ppt/slides/slide10.xml" Id="Ra22821b1a7f44e85" /><Relationship Type="http://schemas.openxmlformats.org/officeDocument/2006/relationships/slide" Target="/ppt/slides/slide11.xml" Id="R2c4837697ddd4d79" /><Relationship Type="http://schemas.openxmlformats.org/officeDocument/2006/relationships/slide" Target="/ppt/slides/slide12.xml" Id="R49df1914e5644551" /><Relationship Type="http://schemas.openxmlformats.org/officeDocument/2006/relationships/slide" Target="/ppt/slides/slide13.xml" Id="R810aaee8dc07447e" /><Relationship Type="http://schemas.openxmlformats.org/officeDocument/2006/relationships/slide" Target="/ppt/slides/slide14.xml" Id="Rfa3b832213d44d3d" /><Relationship Type="http://schemas.openxmlformats.org/officeDocument/2006/relationships/slide" Target="/ppt/slides/slide15.xml" Id="R794e504f96364ad2" /><Relationship Type="http://schemas.openxmlformats.org/officeDocument/2006/relationships/slide" Target="/ppt/slides/slide16.xml" Id="R5295a37bdd704045" /><Relationship Type="http://schemas.openxmlformats.org/officeDocument/2006/relationships/slide" Target="/ppt/slides/slide17.xml" Id="R072fbc4b97ee4ba1" /><Relationship Type="http://schemas.openxmlformats.org/officeDocument/2006/relationships/slide" Target="/ppt/slides/slide18.xml" Id="Ra0abef988e0c4a7a" /><Relationship Type="http://schemas.openxmlformats.org/officeDocument/2006/relationships/slide" Target="/ppt/slides/slide19.xml" Id="R45c42980ec5f4396" /><Relationship Type="http://schemas.openxmlformats.org/officeDocument/2006/relationships/slide" Target="/ppt/slides/slide20.xml" Id="Rc76f941a16224e8f" /><Relationship Type="http://schemas.openxmlformats.org/officeDocument/2006/relationships/slide" Target="/ppt/slides/slide21.xml" Id="R979d26dc7c904980" /><Relationship Type="http://schemas.openxmlformats.org/officeDocument/2006/relationships/slide" Target="/ppt/slides/slide22.xml" Id="R412d3360e84f4af9" /><Relationship Type="http://schemas.openxmlformats.org/officeDocument/2006/relationships/slide" Target="/ppt/slides/slide23.xml" Id="R927498873cfe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8f5d49fd0148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4b75ec5b143b9" /><Relationship Type="http://schemas.openxmlformats.org/officeDocument/2006/relationships/notesMaster" Target="/ppt/notesMasters/notesMaster1.xml" Id="Rc641074101af46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83e0ca8b824bc7" /><Relationship Type="http://schemas.openxmlformats.org/officeDocument/2006/relationships/notesMaster" Target="/ppt/notesMasters/notesMaster1.xml" Id="Rcd841b85668949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aa0c4785a6404e" /><Relationship Type="http://schemas.openxmlformats.org/officeDocument/2006/relationships/notesMaster" Target="/ppt/notesMasters/notesMaster1.xml" Id="R18346e238654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19c3b946894bdc" /><Relationship Type="http://schemas.openxmlformats.org/officeDocument/2006/relationships/notesMaster" Target="/ppt/notesMasters/notesMaster1.xml" Id="Rba4826d879e945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5fba39ee9647b2" /><Relationship Type="http://schemas.openxmlformats.org/officeDocument/2006/relationships/notesMaster" Target="/ppt/notesMasters/notesMaster1.xml" Id="R99c8f29d2d1741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49172733484682" /><Relationship Type="http://schemas.openxmlformats.org/officeDocument/2006/relationships/notesMaster" Target="/ppt/notesMasters/notesMaster1.xml" Id="R368f2585581d4e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4e7dfe250c45a3" /><Relationship Type="http://schemas.openxmlformats.org/officeDocument/2006/relationships/notesMaster" Target="/ppt/notesMasters/notesMaster1.xml" Id="R20a94d44fbe24a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56df8030d3403d" /><Relationship Type="http://schemas.openxmlformats.org/officeDocument/2006/relationships/notesMaster" Target="/ppt/notesMasters/notesMaster1.xml" Id="R62a531ceadc544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35a10503d848f4" /><Relationship Type="http://schemas.openxmlformats.org/officeDocument/2006/relationships/notesMaster" Target="/ppt/notesMasters/notesMaster1.xml" Id="R9013a77c78a0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69c273e7cf47f0" /><Relationship Type="http://schemas.openxmlformats.org/officeDocument/2006/relationships/notesMaster" Target="/ppt/notesMasters/notesMaster1.xml" Id="R57ad0edd731645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873ae82e064fb8" /><Relationship Type="http://schemas.openxmlformats.org/officeDocument/2006/relationships/notesMaster" Target="/ppt/notesMasters/notesMaster1.xml" Id="Re60c71ce7cff4d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f7d616b1474116" /><Relationship Type="http://schemas.openxmlformats.org/officeDocument/2006/relationships/notesMaster" Target="/ppt/notesMasters/notesMaster1.xml" Id="Rea3ceb6415f74f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3f939de67f4f6d" /><Relationship Type="http://schemas.openxmlformats.org/officeDocument/2006/relationships/notesMaster" Target="/ppt/notesMasters/notesMaster1.xml" Id="R34978688e9a442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6c597c37f84b5d" /><Relationship Type="http://schemas.openxmlformats.org/officeDocument/2006/relationships/notesMaster" Target="/ppt/notesMasters/notesMaster1.xml" Id="R6dab6154b3a748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130c0b393a41b9" /><Relationship Type="http://schemas.openxmlformats.org/officeDocument/2006/relationships/notesMaster" Target="/ppt/notesMasters/notesMaster1.xml" Id="R1cd850cdf8304a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735eebeb874ed1" /><Relationship Type="http://schemas.openxmlformats.org/officeDocument/2006/relationships/notesMaster" Target="/ppt/notesMasters/notesMaster1.xml" Id="R0c4b278ca7ad4e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31275fdf4b4e42" /><Relationship Type="http://schemas.openxmlformats.org/officeDocument/2006/relationships/notesMaster" Target="/ppt/notesMasters/notesMaster1.xml" Id="R1ca3693b748c4b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653f58c3464b4b" /><Relationship Type="http://schemas.openxmlformats.org/officeDocument/2006/relationships/notesMaster" Target="/ppt/notesMasters/notesMaster1.xml" Id="R854e5da8455349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13f00b0698a4541" /><Relationship Type="http://schemas.openxmlformats.org/officeDocument/2006/relationships/notesMaster" Target="/ppt/notesMasters/notesMaster1.xml" Id="R2ec7bf4ec2a640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a648700d084c72" /><Relationship Type="http://schemas.openxmlformats.org/officeDocument/2006/relationships/notesMaster" Target="/ppt/notesMasters/notesMaster1.xml" Id="R0ab5918f874748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ede0abd46b14779" /><Relationship Type="http://schemas.openxmlformats.org/officeDocument/2006/relationships/notesMaster" Target="/ppt/notesMasters/notesMaster1.xml" Id="R02a585f2a0bc46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0625b55add4e3b" /><Relationship Type="http://schemas.openxmlformats.org/officeDocument/2006/relationships/notesMaster" Target="/ppt/notesMasters/notesMaster1.xml" Id="R1f40bfa7b59242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609bf23c0a46ce" /><Relationship Type="http://schemas.openxmlformats.org/officeDocument/2006/relationships/notesMaster" Target="/ppt/notesMasters/notesMaster1.xml" Id="Rb30d5f2ff5f04e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kernelの追加だけでなく、配列常駐、FFT batch化、同期削減を一体で進めた成果を説明する。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A100はStep 107、H100はStep 115。採用済み数値sourceはc46cfa9である。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docs/PROGRESS_REPORT_2026-07-31_JA.md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最新HEADを自動的に正式baselineとせず、数値source、測定revision、ハードウェア系列を分けて管理している。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docs/VALIDATION_WORKFLOW.md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初期版はFFTごとにHostへ戻していた。現在はOpenACC data region内でkernelとcuFFTをつなぐ。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docs/tddft_gpu_residency_plan_ja.md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66.7%はsource candidate siteの対応率であり、GPU使用率や処理時間比率ではない。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docs/tddft_gpu_progress_summary_ja.md</a:t>
            </a:r>
          </a:p>
          <a:p xmlns:a="http://schemas.openxmlformats.org/drawingml/2006/main">
            <a:r>
              <a:t>- tools/report_tddft_source_gpu_index.sh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その後に追加されたcompute siteはStep 78候補と必ずしも1対1対応しない。したがって39-26をそのまま13件の実装backlogとは扱わない。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 (Step 78)</a:t>
            </a:r>
          </a:p>
          <a:p xmlns:a="http://schemas.openxmlformats.org/drawingml/2006/main">
            <a:r>
              <a:t>- tools/report_tddft_source_gpu_index.sh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個別FFT呼出しをbatch化し、wrapper呼出しは43,949回から14,685回へ減少した。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融合非局所kernelは改善後も主要な残存コストである。数学的順序を変えずに起動回数を減らした。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docs/tddft_gpu_progress_summary_ja.md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107で提案したSEPPOTF batch経路はtutorial入力では非活性であり、採用効果へ数えない。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HostとDeviceのauthorityをroutine境界ごとに整理した。managed/unified memoryは正式設定より2倍以上遅かった。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docs/tddft_gpu_residency_plan_ja.md</a:t>
            </a:r>
          </a:p>
          <a:p xmlns:a="http://schemas.openxmlformats.org/drawingml/2006/main">
            <a:r>
              <a:t>- docs/EXPERIMENT_LOG.md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診断runは含めず、A100の採用系列だけを表示している。Step 107は限定COEF常駐の効果。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A100、H100、x86は独立baseline。x86は16 MPI × 1 OpenMPの29.352秒から16.539秒へ短縮した。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docs/PROGRESS_REPORT_2026-07-31_JA.md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採否は正しさだけでなく、同一条件の3回中央値とrun幅を見て判断した。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116は現行数値source c46cfa9の診断であり、profiler wallは正式baselineではない。A100/H100ともnormal checkとrelaxed compareをPASS。融合kernelのaggregate時間は8.254秒／3.185秒でH100が約2.59倍短い。一方、両GPUともGrid 32 × Block 256、Achieved Occupancy 12.50%であり、tutorial入力の並列幅不足を確認した。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 (Step 116 A100/H100)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116のA100/H100 current-source profile取得は完了。MPSとGPU側MPI rank増加は調査のみで終了し、実行対象にしない。次はproduction入力と正解referenceの準備が必要。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docs/EXPERIMENT_LOG.md (Step 116)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116はA100 revision 9e67ad0、H100 revision ac71452で測定し、数値sourceはいずれもc46cfa9。文書・検証・x86測定支援は別commitとして管理する。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最新コードの主要な実装位置を示す。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コードは説明用に宣言と変更のない箇所を省略している。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FPSEID21/tddft_2022October/fft_fftw.f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PowerPoint上でコードは通常のテキストボックスとして編集できる。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FPSEID21/tddft_2022October/fft_cufft.f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forward/reverseの数値順序を維持したkernel融合である。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authorityを明確にしたうえでGPU経路だけ不要処理を外した。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移し替えやすさを優先したシンプルな編集可能構成である。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更新時はPowerPointだけでなく、これら正本文書も同時に確認する。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ccf2950b141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2ef02265c74e42" /><Relationship Type="http://schemas.openxmlformats.org/officeDocument/2006/relationships/slideLayout" Target="/ppt/slideLayouts/slideLayout1.xml" Id="R4dac04b14e0546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ac04b14e0546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7f13ac4434971" /><Relationship Type="http://schemas.openxmlformats.org/officeDocument/2006/relationships/notesSlide" Target="/ppt/notesSlides/notesSlide1.xml" Id="R6037d5434e6a4d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054915c194ce9" /><Relationship Type="http://schemas.openxmlformats.org/officeDocument/2006/relationships/notesSlide" Target="/ppt/notesSlides/notesSlide2.xml" Id="R10ce6bbb487f42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85c08b8034526" /><Relationship Type="http://schemas.openxmlformats.org/officeDocument/2006/relationships/notesSlide" Target="/ppt/notesSlides/notesSlide3.xml" Id="R03a91be3edcf4c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459bd30e14816" /><Relationship Type="http://schemas.openxmlformats.org/officeDocument/2006/relationships/notesSlide" Target="/ppt/notesSlides/notesSlide4.xml" Id="Rbe2a11426d6242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0785017e2468a" /><Relationship Type="http://schemas.openxmlformats.org/officeDocument/2006/relationships/notesSlide" Target="/ppt/notesSlides/notesSlide5.xml" Id="Rc2adb6668e4043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a9262a32649c6" /><Relationship Type="http://schemas.openxmlformats.org/officeDocument/2006/relationships/notesSlide" Target="/ppt/notesSlides/notesSlide6.xml" Id="Re6069ad2f5be45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aeab8ed8540e6" /><Relationship Type="http://schemas.openxmlformats.org/officeDocument/2006/relationships/notesSlide" Target="/ppt/notesSlides/notesSlide7.xml" Id="Rf5cde17ebec14f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fa82a690c42b3" /><Relationship Type="http://schemas.openxmlformats.org/officeDocument/2006/relationships/notesSlide" Target="/ppt/notesSlides/notesSlide8.xml" Id="Rf5fd5b721bf240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1a33a92f14d02" /><Relationship Type="http://schemas.openxmlformats.org/officeDocument/2006/relationships/notesSlide" Target="/ppt/notesSlides/notesSlide9.xml" Id="R8084ca02e6d14f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cfaff577042db" /><Relationship Type="http://schemas.openxmlformats.org/officeDocument/2006/relationships/notesSlide" Target="/ppt/notesSlides/notesSlide10.xml" Id="R2772c42373324b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2db87b7994dab" /><Relationship Type="http://schemas.openxmlformats.org/officeDocument/2006/relationships/chart" Target="/ppt/slides/charts/chart1.xml" Id="R30287c5e7b5042ec" /><Relationship Type="http://schemas.openxmlformats.org/officeDocument/2006/relationships/notesSlide" Target="/ppt/notesSlides/notesSlide11.xml" Id="Rf53d74707a9844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ec7aaeb7743b3" /><Relationship Type="http://schemas.openxmlformats.org/officeDocument/2006/relationships/notesSlide" Target="/ppt/notesSlides/notesSlide12.xml" Id="R8f79a479597849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0e9b19e2d496a" /><Relationship Type="http://schemas.openxmlformats.org/officeDocument/2006/relationships/notesSlide" Target="/ppt/notesSlides/notesSlide13.xml" Id="R964361ea4b3143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e1ab561ec483f" /><Relationship Type="http://schemas.openxmlformats.org/officeDocument/2006/relationships/chart" Target="/ppt/slides/charts/chart2.xml" Id="R2c2ed4019a4648f5" /><Relationship Type="http://schemas.openxmlformats.org/officeDocument/2006/relationships/notesSlide" Target="/ppt/notesSlides/notesSlide14.xml" Id="R2e71769654ae40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826ea51ba45eb" /><Relationship Type="http://schemas.openxmlformats.org/officeDocument/2006/relationships/notesSlide" Target="/ppt/notesSlides/notesSlide15.xml" Id="R7c23d0d64e3d4d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8449e41d043af" /><Relationship Type="http://schemas.openxmlformats.org/officeDocument/2006/relationships/notesSlide" Target="/ppt/notesSlides/notesSlide16.xml" Id="Rfd479d6b1ffc41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ada5fc2bd4e9a" /><Relationship Type="http://schemas.openxmlformats.org/officeDocument/2006/relationships/notesSlide" Target="/ppt/notesSlides/notesSlide17.xml" Id="R408e4242113d49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3968c13d9422a" /><Relationship Type="http://schemas.openxmlformats.org/officeDocument/2006/relationships/notesSlide" Target="/ppt/notesSlides/notesSlide18.xml" Id="Rbc69036bc3dc43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91aa75190455b" /><Relationship Type="http://schemas.openxmlformats.org/officeDocument/2006/relationships/notesSlide" Target="/ppt/notesSlides/notesSlide19.xml" Id="R0658ef43156441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c1579dc444865" /><Relationship Type="http://schemas.openxmlformats.org/officeDocument/2006/relationships/notesSlide" Target="/ppt/notesSlides/notesSlide20.xml" Id="R4c87909863f84c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9c56f73a34da1" /><Relationship Type="http://schemas.openxmlformats.org/officeDocument/2006/relationships/notesSlide" Target="/ppt/notesSlides/notesSlide21.xml" Id="Rcf8ec4790a904af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5ec931f7146b8" /><Relationship Type="http://schemas.openxmlformats.org/officeDocument/2006/relationships/notesSlide" Target="/ppt/notesSlides/notesSlide22.xml" Id="R896dc813f2be4d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2430fe2934fd1" /><Relationship Type="http://schemas.openxmlformats.org/officeDocument/2006/relationships/notesSlide" Target="/ppt/notesSlides/notesSlide23.xml" Id="Re5dd0b40f33d444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100-step wall (秒)</c:v>
          </c:tx>
          <c:spPr>
            <a:ln xmlns:a="http://schemas.openxmlformats.org/drawingml/2006/main" w="38100">
              <a:solidFill>
                <a:srgbClr val="1769AA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11"/>
              <c:pt idx="0">
                <c:v>21</c:v>
              </c:pt>
              <c:pt idx="1">
                <c:v>25</c:v>
              </c:pt>
              <c:pt idx="2">
                <c:v>33</c:v>
              </c:pt>
              <c:pt idx="3">
                <c:v>37</c:v>
              </c:pt>
              <c:pt idx="4">
                <c:v>52</c:v>
              </c:pt>
              <c:pt idx="5">
                <c:v>57</c:v>
              </c:pt>
              <c:pt idx="6">
                <c:v>80</c:v>
              </c:pt>
              <c:pt idx="7">
                <c:v>86</c:v>
              </c:pt>
              <c:pt idx="8">
                <c:v>99</c:v>
              </c:pt>
              <c:pt idx="9">
                <c:v>102</c:v>
              </c:pt>
              <c:pt idx="10">
                <c:v>107</c:v>
              </c:pt>
            </c:numLit>
          </c:cat>
          <c:val>
            <c:numLit>
              <c:formatCode>0.000</c:formatCode>
              <c:ptCount val="11"/>
              <c:pt idx="0">
                <c:v>146.54</c:v>
              </c:pt>
              <c:pt idx="1">
                <c:v>130.608</c:v>
              </c:pt>
              <c:pt idx="2">
                <c:v>116.125</c:v>
              </c:pt>
              <c:pt idx="3">
                <c:v>108.096</c:v>
              </c:pt>
              <c:pt idx="4">
                <c:v>73.437</c:v>
              </c:pt>
              <c:pt idx="5">
                <c:v>71.291</c:v>
              </c:pt>
              <c:pt idx="6">
                <c:v>67.421</c:v>
              </c:pt>
              <c:pt idx="7">
                <c:v>66.502</c:v>
              </c:pt>
              <c:pt idx="8">
                <c:v>64.302</c:v>
              </c:pt>
              <c:pt idx="9">
                <c:v>63.839</c:v>
              </c:pt>
              <c:pt idx="10">
                <c:v>63.214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Logical step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実行時間（秒）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Step 116 kernel時間（秒）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4"/>
              <c:pt idx="0">
                <c:v>A100 NL</c:v>
              </c:pt>
              <c:pt idx="1">
                <c:v>H100 NL</c:v>
              </c:pt>
              <c:pt idx="2">
                <c:v>A100 VPJ</c:v>
              </c:pt>
              <c:pt idx="3">
                <c:v>H100 VPJ</c:v>
              </c:pt>
            </c:strLit>
          </c:cat>
          <c:val>
            <c:numLit>
              <c:formatCode>0.000</c:formatCode>
              <c:ptCount val="4"/>
              <c:pt idx="0">
                <c:v>8.254</c:v>
              </c:pt>
              <c:pt idx="1">
                <c:v>3.185</c:v>
              </c:pt>
              <c:pt idx="2">
                <c:v>1.565</c:v>
              </c:pt>
              <c:pt idx="3">
                <c:v>0.718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937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bar">
            <a:extLst xmlns:a="http://schemas.openxmlformats.org/drawingml/2006/main">
              <a:ext uri="{FF2B5EF4-FFF2-40B4-BE49-F238E27FC236}">
                <a16:creationId xmlns:a16="http://schemas.microsoft.com/office/drawing/2014/main" id="{A7E1FDBF-1A06-455F-B5A7-2AB9497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7790E37-37E2-47E1-953A-255B905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FPSEID21 TDDFTの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OpenACC／cuFFTによるGPU化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2481F63-8713-4B3A-AB1E-F809D1A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主要計算のGPU化、データ常駐化、各プラットフォームの性能評価</a:t>
            </a:r>
          </a:p>
        </p:txBody>
      </p:sp>
      <p:sp>
        <p:nvSpPr>
          <p:cNvPr id="4" name="deck-date">
            <a:extLst xmlns:a="http://schemas.openxmlformats.org/drawingml/2006/main">
              <a:ext uri="{FF2B5EF4-FFF2-40B4-BE49-F238E27FC236}">
                <a16:creationId xmlns:a16="http://schemas.microsoft.com/office/drawing/2014/main" id="{249D71A4-B3A2-4FAA-B97C-823ADA5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2026年8月4日</a:t>
            </a:r>
          </a:p>
        </p:txBody>
      </p:sp>
      <p:sp>
        <p:nvSpPr>
          <p:cNvPr id="5" name="deck-scope">
            <a:extLst xmlns:a="http://schemas.openxmlformats.org/drawingml/2006/main">
              <a:ext uri="{FF2B5EF4-FFF2-40B4-BE49-F238E27FC236}">
                <a16:creationId xmlns:a16="http://schemas.microsoft.com/office/drawing/2014/main" id="{CD76A86E-8583-4CFE-84A9-D84752D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Si111-H｜TDDFT 100 steps｜diagnostic OFF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E2EE30-DD44-4A8C-AA85-D3B8608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34D4EC1-8B60-43D8-B026-A4E99FA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2622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20225F-31DB-408E-B483-D3411DF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E3C5F7-53F0-4404-9C3D-870E83A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主要な時間発展処理をGPUへ移し、A100で約2.32倍高速化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820995-D072-4946-8A30-45D8172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100-value">
            <a:extLst xmlns:a="http://schemas.openxmlformats.org/drawingml/2006/main">
              <a:ext uri="{FF2B5EF4-FFF2-40B4-BE49-F238E27FC236}">
                <a16:creationId xmlns:a16="http://schemas.microsoft.com/office/drawing/2014/main" id="{2D1C57EF-370D-4669-9848-5A312DA7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63.214秒</a:t>
            </a:r>
          </a:p>
        </p:txBody>
      </p:sp>
      <p:sp>
        <p:nvSpPr>
          <p:cNvPr id="5" name="a100-label">
            <a:extLst xmlns:a="http://schemas.openxmlformats.org/drawingml/2006/main">
              <a:ext uri="{FF2B5EF4-FFF2-40B4-BE49-F238E27FC236}">
                <a16:creationId xmlns:a16="http://schemas.microsoft.com/office/drawing/2014/main" id="{115B1310-E8A1-4E25-B2FB-F3DE4271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A100｜1 GPU × 1 MPI × OMP 1</a:t>
            </a:r>
          </a:p>
        </p:txBody>
      </p:sp>
      <p:sp>
        <p:nvSpPr>
          <p:cNvPr id="6" name="h100-value">
            <a:extLst xmlns:a="http://schemas.openxmlformats.org/drawingml/2006/main">
              <a:ext uri="{FF2B5EF4-FFF2-40B4-BE49-F238E27FC236}">
                <a16:creationId xmlns:a16="http://schemas.microsoft.com/office/drawing/2014/main" id="{8D004629-7C5D-4E30-9045-4A77C9BA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D9CDB"/>
                </a:solidFill>
              </a:defRPr>
            </a:pPr>
            <a:r>
              <a:rPr sz="2850" b="1">
                <a:solidFill>
                  <a:srgbClr val="2D9CDB"/>
                </a:solidFill>
              </a:rPr>
              <a:t>34.109秒</a:t>
            </a:r>
          </a:p>
        </p:txBody>
      </p:sp>
      <p:sp>
        <p:nvSpPr>
          <p:cNvPr id="7" name="h100-label">
            <a:extLst xmlns:a="http://schemas.openxmlformats.org/drawingml/2006/main">
              <a:ext uri="{FF2B5EF4-FFF2-40B4-BE49-F238E27FC236}">
                <a16:creationId xmlns:a16="http://schemas.microsoft.com/office/drawing/2014/main" id="{D324F732-0D7F-4139-B606-45EAA71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H100｜1 GPU × 1 MPI × OMP 1</a:t>
            </a:r>
          </a:p>
        </p:txBody>
      </p:sp>
      <p:sp>
        <p:nvSpPr>
          <p:cNvPr id="8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C0B2C281-445D-4F99-B011-CB8EA83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26 / 39</a:t>
            </a:r>
          </a:p>
        </p:txBody>
      </p:sp>
      <p:sp>
        <p:nvSpPr>
          <p:cNvPr id="9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ABF889CB-0295-47FD-89CA-4404639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GPU化候補箇所</a:t>
            </a:r>
          </a:p>
        </p:txBody>
      </p:sp>
      <p:sp>
        <p:nvSpPr>
          <p:cNvPr id="10" name="outcome-box">
            <a:extLst xmlns:a="http://schemas.openxmlformats.org/drawingml/2006/main">
              <a:ext uri="{FF2B5EF4-FFF2-40B4-BE49-F238E27FC236}">
                <a16:creationId xmlns:a16="http://schemas.microsoft.com/office/drawing/2014/main" id="{09A4AAC5-23C2-4E19-8C40-72138B4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009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outcome-list">
            <a:extLst xmlns:a="http://schemas.openxmlformats.org/drawingml/2006/main">
              <a:ext uri="{FF2B5EF4-FFF2-40B4-BE49-F238E27FC236}">
                <a16:creationId xmlns:a16="http://schemas.microsoft.com/office/drawing/2014/main" id="{626ED5E3-124C-4449-8DCF-CB1266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A100: 146.540秒から63.214秒へ短縮（約56.9%短縮）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H100: 最新の採用済み数値経路で3回測定の正式baselineを確立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GPU: 1 GPU × 1 MPI rank × OMP 1／x86: 32 MPI × 8 OMP = 256 threads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全正式baselineで計算結果の正常性を確認</a:t>
            </a:r>
          </a:p>
        </p:txBody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980A5D-9414-4B3C-9FCD-9A371EC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61E085-2940-41C6-B5AA-CCAAED57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1572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882BEC-0A8F-402E-BF60-8B50E2FD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D85AC-2986-4A15-88FF-F04686E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性能だけでなく、数値一致とCPU経路を採用条件にした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2EA8C3-72AA-4936-94BF-A41F4DF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validation-left">
            <a:extLst xmlns:a="http://schemas.openxmlformats.org/drawingml/2006/main">
              <a:ext uri="{FF2B5EF4-FFF2-40B4-BE49-F238E27FC236}">
                <a16:creationId xmlns:a16="http://schemas.microsoft.com/office/drawing/2014/main" id="{788A0E55-DCC4-40D6-9F6E-A434C71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数式、配列shape、projector適用順を維持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逐次ia更新とreverse適用順を維持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CPU/FFTW版を継続してbuild・実行可能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診断機能をOFFにして性能測定</a:t>
            </a:r>
          </a:p>
        </p:txBody>
      </p:sp>
      <p:sp>
        <p:nvSpPr>
          <p:cNvPr id="5" name="validation-right">
            <a:extLst xmlns:a="http://schemas.openxmlformats.org/drawingml/2006/main">
              <a:ext uri="{FF2B5EF4-FFF2-40B4-BE49-F238E27FC236}">
                <a16:creationId xmlns:a16="http://schemas.microsoft.com/office/drawing/2014/main" id="{CB0E5238-EDD3-4A89-82DC-D7C6CEB1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同一条件で3回実行し中央値で評価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normal checkとrelaxed compareを必須化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run-to-run rangeも記録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効果のない変更は記録後にrevert</a:t>
            </a:r>
          </a:p>
        </p:txBody>
      </p:sp>
      <p:sp>
        <p:nvSpPr>
          <p:cNvPr id="6" name="validation-callout">
            <a:extLst xmlns:a="http://schemas.openxmlformats.org/drawingml/2006/main">
              <a:ext uri="{FF2B5EF4-FFF2-40B4-BE49-F238E27FC236}">
                <a16:creationId xmlns:a16="http://schemas.microsoft.com/office/drawing/2014/main" id="{470B4A8A-377D-4966-ACCC-5FA8590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7" name="validation-callout-text">
            <a:extLst xmlns:a="http://schemas.openxmlformats.org/drawingml/2006/main">
              <a:ext uri="{FF2B5EF4-FFF2-40B4-BE49-F238E27FC236}">
                <a16:creationId xmlns:a16="http://schemas.microsoft.com/office/drawing/2014/main" id="{7C8E7162-35A4-4AC3-8671-8AD19927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A100・H100・x86は独立したbaseline系列として管理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CCDC45-B2BD-43D3-82BE-A799E9D5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0884CB2-851B-4CB3-8D9E-B05BC3C8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1940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CEBB870-5741-4F59-A659-9592350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6AACE-6A9E-4F82-BBBB-2C7FF4E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GPU上で処理を連結し、Host往復を減らした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E6A9A9-E4A1-4663-A974-466D706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BEE9F067-35B6-4BD7-BFC5-3F9DF21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67E388A5-ADCD-4F8C-9557-FF52704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8A48BE09-E587-4BF3-A5BC-5C3A22B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00DBC945-6864-4099-8D79-5D6BF9A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8" name="node-75">
            <a:extLst xmlns:a="http://schemas.openxmlformats.org/drawingml/2006/main">
              <a:ext uri="{FF2B5EF4-FFF2-40B4-BE49-F238E27FC236}">
                <a16:creationId xmlns:a16="http://schemas.microsoft.com/office/drawing/2014/main" id="{74B4813C-9BE6-4615-B682-DB67F4FC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9" name="node-label-75">
            <a:extLst xmlns:a="http://schemas.openxmlformats.org/drawingml/2006/main">
              <a:ext uri="{FF2B5EF4-FFF2-40B4-BE49-F238E27FC236}">
                <a16:creationId xmlns:a16="http://schemas.microsoft.com/office/drawing/2014/main" id="{66469664-269F-4FAA-B273-2EECFC0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Host入力</a:t>
            </a:r>
          </a:p>
        </p:txBody>
      </p:sp>
      <p:sp>
        <p:nvSpPr>
          <p:cNvPr id="10" name="node-315">
            <a:extLst xmlns:a="http://schemas.openxmlformats.org/drawingml/2006/main">
              <a:ext uri="{FF2B5EF4-FFF2-40B4-BE49-F238E27FC236}">
                <a16:creationId xmlns:a16="http://schemas.microsoft.com/office/drawing/2014/main" id="{3467B2F4-A0B8-4FB7-8CA7-7CE207E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node-label-315">
            <a:extLst xmlns:a="http://schemas.openxmlformats.org/drawingml/2006/main">
              <a:ext uri="{FF2B5EF4-FFF2-40B4-BE49-F238E27FC236}">
                <a16:creationId xmlns:a16="http://schemas.microsoft.com/office/drawing/2014/main" id="{78792F84-2EBE-4CBC-960E-7AC66DD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GPU常駐配列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P・COEF・metadata</a:t>
            </a:r>
          </a:p>
        </p:txBody>
      </p:sp>
      <p:sp>
        <p:nvSpPr>
          <p:cNvPr id="12" name="node-610">
            <a:extLst xmlns:a="http://schemas.openxmlformats.org/drawingml/2006/main">
              <a:ext uri="{FF2B5EF4-FFF2-40B4-BE49-F238E27FC236}">
                <a16:creationId xmlns:a16="http://schemas.microsoft.com/office/drawing/2014/main" id="{B7E80C4E-95A5-4EDB-8DC2-751D780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3" name="node-label-610">
            <a:extLst xmlns:a="http://schemas.openxmlformats.org/drawingml/2006/main">
              <a:ext uri="{FF2B5EF4-FFF2-40B4-BE49-F238E27FC236}">
                <a16:creationId xmlns:a16="http://schemas.microsoft.com/office/drawing/2014/main" id="{8F232531-CAF1-47E8-9125-29D3312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OpenACC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kernel</a:t>
            </a:r>
          </a:p>
        </p:txBody>
      </p:sp>
      <p:sp>
        <p:nvSpPr>
          <p:cNvPr id="14" name="node-840">
            <a:extLst xmlns:a="http://schemas.openxmlformats.org/drawingml/2006/main">
              <a:ext uri="{FF2B5EF4-FFF2-40B4-BE49-F238E27FC236}">
                <a16:creationId xmlns:a16="http://schemas.microsoft.com/office/drawing/2014/main" id="{46FBE626-88A4-44EA-AA99-88D2C58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node-label-840">
            <a:extLst xmlns:a="http://schemas.openxmlformats.org/drawingml/2006/main">
              <a:ext uri="{FF2B5EF4-FFF2-40B4-BE49-F238E27FC236}">
                <a16:creationId xmlns:a16="http://schemas.microsoft.com/office/drawing/2014/main" id="{6C793C00-7D66-4B60-8AA5-77B1378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cuFFT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batch</a:t>
            </a:r>
          </a:p>
        </p:txBody>
      </p:sp>
      <p:sp>
        <p:nvSpPr>
          <p:cNvPr id="16" name="node-1070">
            <a:extLst xmlns:a="http://schemas.openxmlformats.org/drawingml/2006/main">
              <a:ext uri="{FF2B5EF4-FFF2-40B4-BE49-F238E27FC236}">
                <a16:creationId xmlns:a16="http://schemas.microsoft.com/office/drawing/2014/main" id="{D1A71EB8-DD99-447F-B10B-A566DEF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node-label-1070">
            <a:extLst xmlns:a="http://schemas.openxmlformats.org/drawingml/2006/main">
              <a:ext uri="{FF2B5EF4-FFF2-40B4-BE49-F238E27FC236}">
                <a16:creationId xmlns:a16="http://schemas.microsoft.com/office/drawing/2014/main" id="{EBFB9537-D3EA-47CE-B9B8-4E124526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MPI／Host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境界</a:t>
            </a:r>
          </a:p>
        </p:txBody>
      </p:sp>
      <p:sp>
        <p:nvSpPr>
          <p:cNvPr id="18" name="architecture-compute">
            <a:extLst xmlns:a="http://schemas.openxmlformats.org/drawingml/2006/main">
              <a:ext uri="{FF2B5EF4-FFF2-40B4-BE49-F238E27FC236}">
                <a16:creationId xmlns:a16="http://schemas.microsoft.com/office/drawing/2014/main" id="{8CB10F88-0AB2-4E8C-844B-C9978743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計算｜主要loopをOpenACC化</a:t>
            </a:r>
          </a:p>
        </p:txBody>
      </p:sp>
      <p:sp>
        <p:nvSpPr>
          <p:cNvPr id="19" name="architecture-data">
            <a:extLst xmlns:a="http://schemas.openxmlformats.org/drawingml/2006/main">
              <a:ext uri="{FF2B5EF4-FFF2-40B4-BE49-F238E27FC236}">
                <a16:creationId xmlns:a16="http://schemas.microsoft.com/office/drawing/2014/main" id="{A9C9C221-3DB4-4057-A616-8A8EBAC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データ｜外側routineがmappingを所有</a:t>
            </a:r>
          </a:p>
        </p:txBody>
      </p:sp>
      <p:sp>
        <p:nvSpPr>
          <p:cNvPr id="20" name="architecture-fft">
            <a:extLst xmlns:a="http://schemas.openxmlformats.org/drawingml/2006/main">
              <a:ext uri="{FF2B5EF4-FFF2-40B4-BE49-F238E27FC236}">
                <a16:creationId xmlns:a16="http://schemas.microsoft.com/office/drawing/2014/main" id="{C80A06E1-1185-422D-9817-07E0F2F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FFT｜device pointerをcuFFTへ直接渡す</a:t>
            </a:r>
          </a:p>
        </p:txBody>
      </p:sp>
      <p:sp>
        <p:nvSpPr>
          <p:cNvPr id="21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1B4F080C-9284-402F-B59E-9BC9730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26A00"/>
                </a:solidFill>
              </a:defRPr>
            </a:pPr>
            <a:r>
              <a:rPr sz="1875" b="1">
                <a:solidFill>
                  <a:srgbClr val="C26A00"/>
                </a:solidFill>
              </a:rPr>
              <a:t>必要なHost consumerとMPI境界だけで同期</a:t>
            </a:r>
          </a:p>
        </p:txBody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4227A0-A440-423F-A512-1B860FDB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A86FF09-BCBD-46E5-8DBD-45DB693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09712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9BEC2D0-7B89-42B8-9992-576C0ED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2DA1DD-53E5-49EC-8182-41E9E56C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時間発展ループの主要領域をGPU化した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161864-F892-4D95-B9D8-501B819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coverage-area-0">
            <a:extLst xmlns:a="http://schemas.openxmlformats.org/drawingml/2006/main">
              <a:ext uri="{FF2B5EF4-FFF2-40B4-BE49-F238E27FC236}">
                <a16:creationId xmlns:a16="http://schemas.microsoft.com/office/drawing/2014/main" id="{9A7D5026-BFE1-41AF-924B-A288671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S2局所項</a:t>
            </a:r>
          </a:p>
        </p:txBody>
      </p:sp>
      <p:sp>
        <p:nvSpPr>
          <p:cNvPr id="5" name="coverage-detail-0">
            <a:extLst xmlns:a="http://schemas.openxmlformats.org/drawingml/2006/main">
              <a:ext uri="{FF2B5EF4-FFF2-40B4-BE49-F238E27FC236}">
                <a16:creationId xmlns:a16="http://schemas.microsoft.com/office/drawing/2014/main" id="{004229BE-E8C8-4E63-B2BC-115D223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scatter・局所potential・cuFFT・gather</a:t>
            </a:r>
          </a:p>
        </p:txBody>
      </p:sp>
      <p:sp>
        <p:nvSpPr>
          <p:cNvPr id="6" name="coverage-rule-0">
            <a:extLst xmlns:a="http://schemas.openxmlformats.org/drawingml/2006/main">
              <a:ext uri="{FF2B5EF4-FFF2-40B4-BE49-F238E27FC236}">
                <a16:creationId xmlns:a16="http://schemas.microsoft.com/office/drawing/2014/main" id="{60FBB61F-19A5-4B25-966E-D1D60823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coverage-area-1">
            <a:extLst xmlns:a="http://schemas.openxmlformats.org/drawingml/2006/main">
              <a:ext uri="{FF2B5EF4-FFF2-40B4-BE49-F238E27FC236}">
                <a16:creationId xmlns:a16="http://schemas.microsoft.com/office/drawing/2014/main" id="{5194CBD9-E61F-41E4-9C7D-6D420C5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非局所項</a:t>
            </a:r>
          </a:p>
        </p:txBody>
      </p:sp>
      <p:sp>
        <p:nvSpPr>
          <p:cNvPr id="8" name="coverage-detail-1">
            <a:extLst xmlns:a="http://schemas.openxmlformats.org/drawingml/2006/main">
              <a:ext uri="{FF2B5EF4-FFF2-40B4-BE49-F238E27FC236}">
                <a16:creationId xmlns:a16="http://schemas.microsoft.com/office/drawing/2014/main" id="{65091AAC-AFE4-4FD1-931D-82DDB11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projector dot・係数更新・kernel融合</a:t>
            </a:r>
          </a:p>
        </p:txBody>
      </p:sp>
      <p:sp>
        <p:nvSpPr>
          <p:cNvPr id="9" name="coverage-rule-1">
            <a:extLst xmlns:a="http://schemas.openxmlformats.org/drawingml/2006/main">
              <a:ext uri="{FF2B5EF4-FFF2-40B4-BE49-F238E27FC236}">
                <a16:creationId xmlns:a16="http://schemas.microsoft.com/office/drawing/2014/main" id="{F08AC915-A5E3-4BCA-9E53-D2878AF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coverage-area-2">
            <a:extLst xmlns:a="http://schemas.openxmlformats.org/drawingml/2006/main">
              <a:ext uri="{FF2B5EF4-FFF2-40B4-BE49-F238E27FC236}">
                <a16:creationId xmlns:a16="http://schemas.microsoft.com/office/drawing/2014/main" id="{1ED62902-666B-4A1C-BAB0-2ED9D22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電荷密度</a:t>
            </a:r>
          </a:p>
        </p:txBody>
      </p:sp>
      <p:sp>
        <p:nvSpPr>
          <p:cNvPr id="11" name="coverage-detail-2">
            <a:extLst xmlns:a="http://schemas.openxmlformats.org/drawingml/2006/main">
              <a:ext uri="{FF2B5EF4-FFF2-40B4-BE49-F238E27FC236}">
                <a16:creationId xmlns:a16="http://schemas.microsoft.com/office/drawing/2014/main" id="{AAC12408-8E4C-46E1-84A4-D1BD6EB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resident COEFから再構築・batch FFT</a:t>
            </a:r>
          </a:p>
        </p:txBody>
      </p:sp>
      <p:sp>
        <p:nvSpPr>
          <p:cNvPr id="12" name="coverage-rule-2">
            <a:extLst xmlns:a="http://schemas.openxmlformats.org/drawingml/2006/main">
              <a:ext uri="{FF2B5EF4-FFF2-40B4-BE49-F238E27FC236}">
                <a16:creationId xmlns:a16="http://schemas.microsoft.com/office/drawing/2014/main" id="{355E5F17-1C93-4B4A-B253-1839380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coverage-area-3">
            <a:extLst xmlns:a="http://schemas.openxmlformats.org/drawingml/2006/main">
              <a:ext uri="{FF2B5EF4-FFF2-40B4-BE49-F238E27FC236}">
                <a16:creationId xmlns:a16="http://schemas.microsoft.com/office/drawing/2014/main" id="{D10CCF95-EBBB-4CC2-8AE7-F28323CA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FRPRMN</a:t>
            </a:r>
          </a:p>
        </p:txBody>
      </p:sp>
      <p:sp>
        <p:nvSpPr>
          <p:cNvPr id="14" name="coverage-detail-3">
            <a:extLst xmlns:a="http://schemas.openxmlformats.org/drawingml/2006/main">
              <a:ext uri="{FF2B5EF4-FFF2-40B4-BE49-F238E27FC236}">
                <a16:creationId xmlns:a16="http://schemas.microsoft.com/office/drawing/2014/main" id="{D64D111E-EE68-4943-9D25-15B5815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COEF/COEF0常駐・同期削減・再利用</a:t>
            </a:r>
          </a:p>
        </p:txBody>
      </p:sp>
      <p:sp>
        <p:nvSpPr>
          <p:cNvPr id="15" name="coverage-rule-3">
            <a:extLst xmlns:a="http://schemas.openxmlformats.org/drawingml/2006/main">
              <a:ext uri="{FF2B5EF4-FFF2-40B4-BE49-F238E27FC236}">
                <a16:creationId xmlns:a16="http://schemas.microsoft.com/office/drawing/2014/main" id="{9B78A0DC-D4D8-4A97-AA03-EFD08958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coverage-area-4">
            <a:extLst xmlns:a="http://schemas.openxmlformats.org/drawingml/2006/main">
              <a:ext uri="{FF2B5EF4-FFF2-40B4-BE49-F238E27FC236}">
                <a16:creationId xmlns:a16="http://schemas.microsoft.com/office/drawing/2014/main" id="{7C9AE2A0-005D-427E-A375-6392C18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potential</a:t>
            </a:r>
          </a:p>
        </p:txBody>
      </p:sp>
      <p:sp>
        <p:nvSpPr>
          <p:cNvPr id="17" name="coverage-detail-4">
            <a:extLst xmlns:a="http://schemas.openxmlformats.org/drawingml/2006/main">
              <a:ext uri="{FF2B5EF4-FFF2-40B4-BE49-F238E27FC236}">
                <a16:creationId xmlns:a16="http://schemas.microsoft.com/office/drawing/2014/main" id="{1C75F922-FE68-4798-989F-0C3BAA4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VPJ・LOCPOT・交換相関・EWALD</a:t>
            </a:r>
          </a:p>
        </p:txBody>
      </p:sp>
      <p:sp>
        <p:nvSpPr>
          <p:cNvPr id="18" name="coverage-rule-4">
            <a:extLst xmlns:a="http://schemas.openxmlformats.org/drawingml/2006/main">
              <a:ext uri="{FF2B5EF4-FFF2-40B4-BE49-F238E27FC236}">
                <a16:creationId xmlns:a16="http://schemas.microsoft.com/office/drawing/2014/main" id="{674E0758-7AA9-4681-A7F9-5FA325F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coverage-area-5">
            <a:extLst xmlns:a="http://schemas.openxmlformats.org/drawingml/2006/main">
              <a:ext uri="{FF2B5EF4-FFF2-40B4-BE49-F238E27FC236}">
                <a16:creationId xmlns:a16="http://schemas.microsoft.com/office/drawing/2014/main" id="{99B4374A-55F7-4056-BBBA-F8F04E1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HLOCAL</a:t>
            </a:r>
          </a:p>
        </p:txBody>
      </p:sp>
      <p:sp>
        <p:nvSpPr>
          <p:cNvPr id="20" name="coverage-detail-5">
            <a:extLst xmlns:a="http://schemas.openxmlformats.org/drawingml/2006/main">
              <a:ext uri="{FF2B5EF4-FFF2-40B4-BE49-F238E27FC236}">
                <a16:creationId xmlns:a16="http://schemas.microsoft.com/office/drawing/2014/main" id="{953F7893-2CF2-4A0B-8ED1-9C2FBCB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zeroからFFT・multiply・gatherまで連続実行</a:t>
            </a:r>
          </a:p>
        </p:txBody>
      </p:sp>
      <p:sp>
        <p:nvSpPr>
          <p:cNvPr id="21" name="coverage-rule-5">
            <a:extLst xmlns:a="http://schemas.openxmlformats.org/drawingml/2006/main">
              <a:ext uri="{FF2B5EF4-FFF2-40B4-BE49-F238E27FC236}">
                <a16:creationId xmlns:a16="http://schemas.microsoft.com/office/drawing/2014/main" id="{A17AB232-D817-4D92-9205-BBDA6D0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coverage-callout">
            <a:extLst xmlns:a="http://schemas.openxmlformats.org/drawingml/2006/main">
              <a:ext uri="{FF2B5EF4-FFF2-40B4-BE49-F238E27FC236}">
                <a16:creationId xmlns:a16="http://schemas.microsoft.com/office/drawing/2014/main" id="{D60A32E2-91CD-4F60-988C-88CCC94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26 / 39箇所 = 約66.7%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6DC4BF-4878-4E37-B519-63AA30D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B3480D4-E053-42C3-B0CB-79D436E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2978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F63616-9ADF-4221-8A8B-B4EA633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GPU化候補の読み方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F7286-640D-4B6E-97D5-A46372F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26/39の残り13は固定された実装待ちリストではない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E3322D-1CFA-44B2-9C11-5C7A5EA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26E16B-A14E-4B01-9D5A-AC5F1F6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364F2C-99B1-46A8-874F-E578014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6</a:t>
            </a:r>
          </a:p>
        </p:txBody>
      </p:sp>
      <p:sp>
        <p:nvSpPr>
          <p:cNvPr id="6" name="gap-definition">
            <a:extLst xmlns:a="http://schemas.openxmlformats.org/drawingml/2006/main">
              <a:ext uri="{FF2B5EF4-FFF2-40B4-BE49-F238E27FC236}">
                <a16:creationId xmlns:a16="http://schemas.microsoft.com/office/drawing/2014/main" id="{69BDEB70-2D5C-4FA4-9A59-F4A5440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26A00"/>
                </a:solidFill>
              </a:defRPr>
            </a:pPr>
            <a:r>
              <a:rPr sz="1575" b="1">
                <a:solidFill>
                  <a:srgbClr val="C26A00"/>
                </a:solidFill>
              </a:rPr>
              <a:t>残り13相当 = 暫定indexの算術差。現在のsourceに1対1で対応する13個のbacklogではない。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3429000"/>
                <a:gridCol w="5238750"/>
              </a:tblGrid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区分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主な候補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GPU化しない／残している理由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memory中心の小loop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density smoothing・配列copy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演算量よりmapping・同期・転送costが大きい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predictor／履歴更新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VG0～VG5・VGOLD・interpolation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分岐とHost authorityがあり、一括offloadで回帰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potential／E-field境界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VG・VPLT・VEXT組立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直後のHost consumerによりD2Hが必要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reduction／行列処理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energy・CMAT・収束判定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演算順序・MPI riskに対して改善上限が小さい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producer／非活性経路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EXTAU・GGA G2VXC2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GPU生成は回帰、GGA経路はSi111-Hで非活性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正常だが不採用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SEPPOTF batch・追加kernel融合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checkはPASSしたが正式baselineより遅い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gap-footnote">
            <a:extLst xmlns:a="http://schemas.openxmlformats.org/drawingml/2006/main">
              <a:ext uri="{FF2B5EF4-FFF2-40B4-BE49-F238E27FC236}">
                <a16:creationId xmlns:a16="http://schemas.microsoft.com/office/drawing/2014/main" id="{7094BA1E-3832-443C-B4D9-CDE92958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母数39 = Step 80採用済み19 site + Step 78で一時offloadしてrevertした20 site</a:t>
            </a:r>
          </a:p>
        </p:txBody>
      </p:sp>
    </p:spTree>
    <p:extLst>
      <p:ext uri="{BB962C8B-B14F-4D97-AF65-F5344CB8AC3E}">
        <p14:creationId xmlns:p14="http://schemas.microsoft.com/office/powerpoint/2010/main" val="1965100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5027C90-892B-414C-A068-537121E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FEA70-B8F9-4923-AD8F-736D31C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device pointerとbatch化でFFT前後の転送を削減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15E371-1D52-42E3-B0C3-E2CCCD7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ft-before">
            <a:extLst xmlns:a="http://schemas.openxmlformats.org/drawingml/2006/main">
              <a:ext uri="{FF2B5EF4-FFF2-40B4-BE49-F238E27FC236}">
                <a16:creationId xmlns:a16="http://schemas.microsoft.com/office/drawing/2014/main" id="{7651817A-1708-4229-91D7-D03BF88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ft-before-title">
            <a:extLst xmlns:a="http://schemas.openxmlformats.org/drawingml/2006/main">
              <a:ext uri="{FF2B5EF4-FFF2-40B4-BE49-F238E27FC236}">
                <a16:creationId xmlns:a16="http://schemas.microsoft.com/office/drawing/2014/main" id="{40F1BCFE-A6EA-460B-850D-4EF1C696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変更前</a:t>
            </a:r>
          </a:p>
        </p:txBody>
      </p:sp>
      <p:sp>
        <p:nvSpPr>
          <p:cNvPr id="6" name="fft-before-flow">
            <a:extLst xmlns:a="http://schemas.openxmlformats.org/drawingml/2006/main">
              <a:ext uri="{FF2B5EF4-FFF2-40B4-BE49-F238E27FC236}">
                <a16:creationId xmlns:a16="http://schemas.microsoft.com/office/drawing/2014/main" id="{FBA51FE9-D362-4729-9DDF-9619E35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Host → H2D → cuFFT → D2H → Host</a:t>
            </a:r>
          </a:p>
        </p:txBody>
      </p:sp>
      <p:sp>
        <p:nvSpPr>
          <p:cNvPr id="7" name="fft-after">
            <a:extLst xmlns:a="http://schemas.openxmlformats.org/drawingml/2006/main">
              <a:ext uri="{FF2B5EF4-FFF2-40B4-BE49-F238E27FC236}">
                <a16:creationId xmlns:a16="http://schemas.microsoft.com/office/drawing/2014/main" id="{FF003D6F-4FCB-4CAC-8D09-779C120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" name="fft-after-title">
            <a:extLst xmlns:a="http://schemas.openxmlformats.org/drawingml/2006/main">
              <a:ext uri="{FF2B5EF4-FFF2-40B4-BE49-F238E27FC236}">
                <a16:creationId xmlns:a16="http://schemas.microsoft.com/office/drawing/2014/main" id="{FAC21263-3DE5-4B13-9C42-AB2B207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変更後</a:t>
            </a:r>
          </a:p>
        </p:txBody>
      </p:sp>
      <p:sp>
        <p:nvSpPr>
          <p:cNvPr id="9" name="fft-after-flow">
            <a:extLst xmlns:a="http://schemas.openxmlformats.org/drawingml/2006/main">
              <a:ext uri="{FF2B5EF4-FFF2-40B4-BE49-F238E27FC236}">
                <a16:creationId xmlns:a16="http://schemas.microsoft.com/office/drawing/2014/main" id="{AEC9919F-3B3F-436A-9A77-9A63F02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Device配列 → cuFFT → Device配列</a:t>
            </a:r>
          </a:p>
        </p:txBody>
      </p:sp>
      <p:sp>
        <p:nvSpPr>
          <p:cNvPr id="10" name="fft-bullets">
            <a:extLst xmlns:a="http://schemas.openxmlformats.org/drawingml/2006/main">
              <a:ext uri="{FF2B5EF4-FFF2-40B4-BE49-F238E27FC236}">
                <a16:creationId xmlns:a16="http://schemas.microsoft.com/office/drawing/2014/main" id="{0D6FCCA1-1406-4844-AC7F-C6A3005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host_data use_deviceでOpenACC管理配列を直接渡す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cufftPlanManyでlocal bandsを一括処理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S2局所FFTと電荷密度再構築をbatch化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CPU/FFTW側には互換entryを維持</a:t>
            </a:r>
          </a:p>
        </p:txBody>
      </p:sp>
      <p:sp>
        <p:nvSpPr>
          <p:cNvPr id="11" name="fft-s2-value">
            <a:extLst xmlns:a="http://schemas.openxmlformats.org/drawingml/2006/main">
              <a:ext uri="{FF2B5EF4-FFF2-40B4-BE49-F238E27FC236}">
                <a16:creationId xmlns:a16="http://schemas.microsoft.com/office/drawing/2014/main" id="{3C235F2B-E697-43D1-AAB6-1D486848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22.480 → 5.030秒</a:t>
            </a:r>
          </a:p>
        </p:txBody>
      </p:sp>
      <p:sp>
        <p:nvSpPr>
          <p:cNvPr id="12" name="fft-s2-label">
            <a:extLst xmlns:a="http://schemas.openxmlformats.org/drawingml/2006/main">
              <a:ext uri="{FF2B5EF4-FFF2-40B4-BE49-F238E27FC236}">
                <a16:creationId xmlns:a16="http://schemas.microsoft.com/office/drawing/2014/main" id="{758879EE-DD62-40A4-BB98-0DA8254F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s2_fft_local</a:t>
            </a:r>
          </a:p>
        </p:txBody>
      </p:sp>
      <p:sp>
        <p:nvSpPr>
          <p:cNvPr id="13" name="fft-rho-value">
            <a:extLst xmlns:a="http://schemas.openxmlformats.org/drawingml/2006/main">
              <a:ext uri="{FF2B5EF4-FFF2-40B4-BE49-F238E27FC236}">
                <a16:creationId xmlns:a16="http://schemas.microsoft.com/office/drawing/2014/main" id="{AFA7CD48-88B4-4EE9-8E5C-13B62DF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14.510 → 0.730秒</a:t>
            </a:r>
          </a:p>
        </p:txBody>
      </p:sp>
      <p:sp>
        <p:nvSpPr>
          <p:cNvPr id="14" name="fft-rho-label">
            <a:extLst xmlns:a="http://schemas.openxmlformats.org/drawingml/2006/main">
              <a:ext uri="{FF2B5EF4-FFF2-40B4-BE49-F238E27FC236}">
                <a16:creationId xmlns:a16="http://schemas.microsoft.com/office/drawing/2014/main" id="{0A6D10F1-2EDE-45F7-BA49-669AC8C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768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frprmn_rhoofk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A0E6D20-CE0A-48BB-B80F-D9CF5B6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65C91B1-310A-4F04-95B5-1EA85A3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7520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BECB8CE-6902-41F5-8D5E-F3290B9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A9A5AC-8B9A-4C72-A720-2FFB04E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非局所projectorはkernel融合で起動回数を減らした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490E77-E03F-4F45-83D0-F673DB0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onlocal-list">
            <a:extLst xmlns:a="http://schemas.openxmlformats.org/drawingml/2006/main">
              <a:ext uri="{FF2B5EF4-FFF2-40B4-BE49-F238E27FC236}">
                <a16:creationId xmlns:a16="http://schemas.microsoft.com/office/drawing/2014/main" id="{0714B813-1504-460D-9100-D3A3E07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dot productをOpenACC reduction化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coefficient更新を同一kernelへ融合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一時配列とゼロ初期化kernelを削除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bandをgangへ割り当て、band内のiaはseq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forward/reverse phaseでbufferを再利用</a:t>
            </a:r>
          </a:p>
        </p:txBody>
      </p:sp>
      <p:sp>
        <p:nvSpPr>
          <p:cNvPr id="5" name="nonlocal-launch-value">
            <a:extLst xmlns:a="http://schemas.openxmlformats.org/drawingml/2006/main">
              <a:ext uri="{FF2B5EF4-FFF2-40B4-BE49-F238E27FC236}">
                <a16:creationId xmlns:a16="http://schemas.microsoft.com/office/drawing/2014/main" id="{44B3331F-A327-4B3F-A67D-90CB281F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453,120 → 9,440回</a:t>
            </a:r>
          </a:p>
        </p:txBody>
      </p:sp>
      <p:sp>
        <p:nvSpPr>
          <p:cNvPr id="6" name="nonlocal-launch-label">
            <a:extLst xmlns:a="http://schemas.openxmlformats.org/drawingml/2006/main">
              <a:ext uri="{FF2B5EF4-FFF2-40B4-BE49-F238E27FC236}">
                <a16:creationId xmlns:a16="http://schemas.microsoft.com/office/drawing/2014/main" id="{E24B4F87-C055-4D2B-A2C8-FE65297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kernel起動回数</a:t>
            </a:r>
          </a:p>
        </p:txBody>
      </p:sp>
      <p:sp>
        <p:nvSpPr>
          <p:cNvPr id="7" name="nonlocal-time-value">
            <a:extLst xmlns:a="http://schemas.openxmlformats.org/drawingml/2006/main">
              <a:ext uri="{FF2B5EF4-FFF2-40B4-BE49-F238E27FC236}">
                <a16:creationId xmlns:a16="http://schemas.microsoft.com/office/drawing/2014/main" id="{013389F3-0F55-4F32-8239-710BB12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18.370 → 8.440秒</a:t>
            </a:r>
          </a:p>
        </p:txBody>
      </p:sp>
      <p:sp>
        <p:nvSpPr>
          <p:cNvPr id="8" name="nonlocal-time-label">
            <a:extLst xmlns:a="http://schemas.openxmlformats.org/drawingml/2006/main">
              <a:ext uri="{FF2B5EF4-FFF2-40B4-BE49-F238E27FC236}">
                <a16:creationId xmlns:a16="http://schemas.microsoft.com/office/drawing/2014/main" id="{2664661D-7950-49B5-831E-5A46D7E5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exnlp_gemm_dot</a:t>
            </a:r>
          </a:p>
        </p:txBody>
      </p:sp>
      <p:sp>
        <p:nvSpPr>
          <p:cNvPr id="9" name="nonlocal-note-box">
            <a:extLst xmlns:a="http://schemas.openxmlformats.org/drawingml/2006/main">
              <a:ext uri="{FF2B5EF4-FFF2-40B4-BE49-F238E27FC236}">
                <a16:creationId xmlns:a16="http://schemas.microsoft.com/office/drawing/2014/main" id="{A86EEA64-8FAF-4E04-A557-D506EFBD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0" name="nonlocal-note">
            <a:extLst xmlns:a="http://schemas.openxmlformats.org/drawingml/2006/main">
              <a:ext uri="{FF2B5EF4-FFF2-40B4-BE49-F238E27FC236}">
                <a16:creationId xmlns:a16="http://schemas.microsoft.com/office/drawing/2014/main" id="{9C42F417-EDE6-42AF-B44E-384102C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26A00"/>
                </a:solidFill>
              </a:defRPr>
            </a:pPr>
            <a:r>
              <a:rPr sz="1725" b="1">
                <a:solidFill>
                  <a:srgbClr val="C26A00"/>
                </a:solidFill>
              </a:rPr>
              <a:t>原子適用順とreverse phaseの逆順は維持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09637D-7973-4A1B-BAA0-C87DF11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7416732-7F83-4450-9C3B-0F1B3AB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6178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2A9F36-C0F8-447B-91CA-A75C06E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504737-D9C7-455E-8F9F-8CAE32C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FRPRMNとpotential処理をGPU内でつないだ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C0552E-235C-43A9-B1D1-F39B9EC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rprmn-list">
            <a:extLst xmlns:a="http://schemas.openxmlformats.org/drawingml/2006/main">
              <a:ext uri="{FF2B5EF4-FFF2-40B4-BE49-F238E27FC236}">
                <a16:creationId xmlns:a16="http://schemas.microsoft.com/office/drawing/2014/main" id="{38E7B7AC-D231-4697-838B-23AF64B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429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COEF／COEF0をpredictor-correctorからELECTFまで常駐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seed初期化をHost copy＋H2DからGPU内copyへ変更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band非依存のYLMとphase情報を事前計算・再利用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VPJ、LOCPOT、LDA交換相関、EWALDをOpenACC化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HLOCALを1つのdata領域で連続実行</a:t>
            </a:r>
          </a:p>
        </p:txBody>
      </p:sp>
      <p:sp>
        <p:nvSpPr>
          <p:cNvPr id="5" name="vpj-value">
            <a:extLst xmlns:a="http://schemas.openxmlformats.org/drawingml/2006/main">
              <a:ext uri="{FF2B5EF4-FFF2-40B4-BE49-F238E27FC236}">
                <a16:creationId xmlns:a16="http://schemas.microsoft.com/office/drawing/2014/main" id="{D9F9B0BE-BB51-4058-B1F0-712CEBF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E7D32"/>
                </a:solidFill>
              </a:defRPr>
            </a:pPr>
            <a:r>
              <a:rPr sz="2325" b="1">
                <a:solidFill>
                  <a:srgbClr val="2E7D32"/>
                </a:solidFill>
              </a:rPr>
              <a:t>36.130 → 1.800秒</a:t>
            </a:r>
          </a:p>
        </p:txBody>
      </p:sp>
      <p:sp>
        <p:nvSpPr>
          <p:cNvPr id="6" name="vpj-label">
            <a:extLst xmlns:a="http://schemas.openxmlformats.org/drawingml/2006/main">
              <a:ext uri="{FF2B5EF4-FFF2-40B4-BE49-F238E27FC236}">
                <a16:creationId xmlns:a16="http://schemas.microsoft.com/office/drawing/2014/main" id="{73CB0216-64F1-451D-BB76-5EDFFB1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VPJ積分</a:t>
            </a:r>
          </a:p>
        </p:txBody>
      </p:sp>
      <p:sp>
        <p:nvSpPr>
          <p:cNvPr id="7" name="locpot-value">
            <a:extLst xmlns:a="http://schemas.openxmlformats.org/drawingml/2006/main">
              <a:ext uri="{FF2B5EF4-FFF2-40B4-BE49-F238E27FC236}">
                <a16:creationId xmlns:a16="http://schemas.microsoft.com/office/drawing/2014/main" id="{13EF716A-0806-4CE9-A300-9653E88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69AA"/>
                </a:solidFill>
              </a:defRPr>
            </a:pPr>
            <a:r>
              <a:rPr sz="2325" b="1">
                <a:solidFill>
                  <a:srgbClr val="1769AA"/>
                </a:solidFill>
              </a:rPr>
              <a:t>2.765 → 0.305秒</a:t>
            </a:r>
          </a:p>
        </p:txBody>
      </p:sp>
      <p:sp>
        <p:nvSpPr>
          <p:cNvPr id="8" name="locpot-label">
            <a:extLst xmlns:a="http://schemas.openxmlformats.org/drawingml/2006/main">
              <a:ext uri="{FF2B5EF4-FFF2-40B4-BE49-F238E27FC236}">
                <a16:creationId xmlns:a16="http://schemas.microsoft.com/office/drawing/2014/main" id="{CA9519AE-3535-4A02-BF81-239A79E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LOCPOT</a:t>
            </a:r>
          </a:p>
        </p:txBody>
      </p:sp>
      <p:sp>
        <p:nvSpPr>
          <p:cNvPr id="9" name="restore-value">
            <a:extLst xmlns:a="http://schemas.openxmlformats.org/drawingml/2006/main">
              <a:ext uri="{FF2B5EF4-FFF2-40B4-BE49-F238E27FC236}">
                <a16:creationId xmlns:a16="http://schemas.microsoft.com/office/drawing/2014/main" id="{A0D4E12D-F42E-4F90-82B8-CAD8A65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D9CDB"/>
                </a:solidFill>
              </a:defRPr>
            </a:pPr>
            <a:r>
              <a:rPr sz="2325" b="1">
                <a:solidFill>
                  <a:srgbClr val="2D9CDB"/>
                </a:solidFill>
              </a:rPr>
              <a:t>2.159 → 0.003秒</a:t>
            </a:r>
          </a:p>
        </p:txBody>
      </p:sp>
      <p:sp>
        <p:nvSpPr>
          <p:cNvPr id="10" name="restore-label">
            <a:extLst xmlns:a="http://schemas.openxmlformats.org/drawingml/2006/main">
              <a:ext uri="{FF2B5EF4-FFF2-40B4-BE49-F238E27FC236}">
                <a16:creationId xmlns:a16="http://schemas.microsoft.com/office/drawing/2014/main" id="{F9C807AB-B4FB-42EF-8D0D-A0389AD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86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不要なHost復元</a:t>
            </a:r>
          </a:p>
        </p:txBody>
      </p:sp>
      <p:sp>
        <p:nvSpPr>
          <p:cNvPr id="11" name="frprmn-note-box">
            <a:extLst xmlns:a="http://schemas.openxmlformats.org/drawingml/2006/main">
              <a:ext uri="{FF2B5EF4-FFF2-40B4-BE49-F238E27FC236}">
                <a16:creationId xmlns:a16="http://schemas.microsoft.com/office/drawing/2014/main" id="{E44EAFA4-32C7-4B00-88DB-DA4DD59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81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2" name="frprmn-note">
            <a:extLst xmlns:a="http://schemas.openxmlformats.org/drawingml/2006/main">
              <a:ext uri="{FF2B5EF4-FFF2-40B4-BE49-F238E27FC236}">
                <a16:creationId xmlns:a16="http://schemas.microsoft.com/office/drawing/2014/main" id="{D44A038E-3843-4C29-86DD-EF0A897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911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Step 107の正式改善は限定COEF常駐によるもの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803DF2-42DA-4FD0-B45E-F4A2DE1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5D7E17D-91F3-4045-9C02-3CABCB4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2154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30AF6B-3F89-4CDC-8D1B-0D64FA3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77C0B-4FC2-4AE5-AA3C-5FD2825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データ常駐化がGPU化の実効性を高めた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D2D60E-0563-4E80-9606-E037387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752475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常駐対象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常駐範囲・狙い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TMEVL全体で保持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COEF / COEF0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predictor-correctorからELECTFまで保持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work2_ / cfac_ / ngnl_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非局所phase間で再利用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J2G / OCC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time-step loop全体で保持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pseudopotential表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static metadataとしてloop外へ移動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residency-results">
            <a:extLst xmlns:a="http://schemas.openxmlformats.org/drawingml/2006/main">
              <a:ext uri="{FF2B5EF4-FFF2-40B4-BE49-F238E27FC236}">
                <a16:creationId xmlns:a16="http://schemas.microsoft.com/office/drawing/2014/main" id="{8CEDA84D-1847-40A5-B6DF-FA715334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COEF D2H 944回を削除　｜　必須同期を約103回へ集約　｜　metadata copyinをloop外へ</a:t>
            </a:r>
          </a:p>
        </p:txBody>
      </p:sp>
      <p:sp>
        <p:nvSpPr>
          <p:cNvPr id="6" name="residency-memory">
            <a:extLst xmlns:a="http://schemas.openxmlformats.org/drawingml/2006/main">
              <a:ext uri="{FF2B5EF4-FFF2-40B4-BE49-F238E27FC236}">
                <a16:creationId xmlns:a16="http://schemas.microsoft.com/office/drawing/2014/main" id="{3593F2C5-26A0-4D29-B711-5B2051A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626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69AA"/>
                </a:solidFill>
              </a:defRPr>
            </a:pPr>
            <a:r>
              <a:rPr sz="1500" b="0">
                <a:solidFill>
                  <a:srgbClr val="1769AA"/>
                </a:solidFill>
              </a:rPr>
              <a:t>正式設定: separate memory + pinned host allocation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2C78EFE-93C7-4172-8F46-80469C3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5E36F13-209E-4767-BE19-703056A5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0893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2EBB83-8947-46F6-B1C8-0C109788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4B4F8-D8CC-46B1-B502-D8A297DA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A100では段階的に63.214秒まで短縮した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BCE21F-6A66-4825-8C69-2C72C4C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287c5e7b5042ec"/>
          </a:graphicData>
        </a:graphic>
      </p:graphicFrame>
      <p:sp>
        <p:nvSpPr>
          <p:cNvPr id="5" name="progress-result">
            <a:extLst xmlns:a="http://schemas.openxmlformats.org/drawingml/2006/main">
              <a:ext uri="{FF2B5EF4-FFF2-40B4-BE49-F238E27FC236}">
                <a16:creationId xmlns:a16="http://schemas.microsoft.com/office/drawing/2014/main" id="{1BEA4B77-362D-4396-86E7-58FD430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146.540秒 → 63.214秒　｜　約2.32倍　｜　約56.9%短縮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18BF519-2DB9-4546-968C-D1C79BC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3B3A1E7-AD27-414E-B8E7-C1C9F20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7500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各プラットフォームで正式baselineを確立した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1114425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62250"/>
                <a:gridCol w="4905375"/>
                <a:gridCol w="1333500"/>
                <a:gridCol w="1095375"/>
                <a:gridCol w="104775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プラットフォーム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実行構成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中央値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正常性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NVIDIA A100-PCIE-40GB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63.214秒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0.103秒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NVIDIA H100 PCIe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34.109秒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0.091秒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Intel Xeon 6980P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ifx/mpiifx、32 MPI × 8 OMP = 256 threads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</a:rPr>
                        <a:t>16.539秒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</a:rPr>
                        <a:t>0.058秒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H100はA100よりwall timeが約46.0%短く、比率は約1.85倍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x86は32 ranks × 8 threads/rank = 256 threads。1 GPUとの装置性能の直接比較ではない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054F5D-5DC4-40CD-A29B-410D26A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664F8F-9BE3-4645-8A49-FE253E4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正しく動いてもwall timeが改善しない変更は残さなかった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5CDB264-102F-48CE-BBD3-9F83368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reject-name-0">
            <a:extLst xmlns:a="http://schemas.openxmlformats.org/drawingml/2006/main">
              <a:ext uri="{FF2B5EF4-FFF2-40B4-BE49-F238E27FC236}">
                <a16:creationId xmlns:a16="http://schemas.microsoft.com/office/drawing/2014/main" id="{4FB6FD29-B246-41ED-867E-A07CAE89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SEPPOTF batch</a:t>
            </a:r>
          </a:p>
        </p:txBody>
      </p:sp>
      <p:sp>
        <p:nvSpPr>
          <p:cNvPr id="5" name="reject-result-0">
            <a:extLst xmlns:a="http://schemas.openxmlformats.org/drawingml/2006/main">
              <a:ext uri="{FF2B5EF4-FFF2-40B4-BE49-F238E27FC236}">
                <a16:creationId xmlns:a16="http://schemas.microsoft.com/office/drawing/2014/main" id="{85E998DB-267D-4447-912F-66EB1E9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正常だがA100で遅化</a:t>
            </a:r>
          </a:p>
        </p:txBody>
      </p:sp>
      <p:sp>
        <p:nvSpPr>
          <p:cNvPr id="6" name="reject-name-1">
            <a:extLst xmlns:a="http://schemas.openxmlformats.org/drawingml/2006/main">
              <a:ext uri="{FF2B5EF4-FFF2-40B4-BE49-F238E27FC236}">
                <a16:creationId xmlns:a16="http://schemas.microsoft.com/office/drawing/2014/main" id="{2C1664FB-BE3F-4FB2-8628-4CD818E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compiler flags</a:t>
            </a:r>
          </a:p>
        </p:txBody>
      </p:sp>
      <p:sp>
        <p:nvSpPr>
          <p:cNvPr id="7" name="reject-result-1">
            <a:extLst xmlns:a="http://schemas.openxmlformats.org/drawingml/2006/main">
              <a:ext uri="{FF2B5EF4-FFF2-40B4-BE49-F238E27FC236}">
                <a16:creationId xmlns:a16="http://schemas.microsoft.com/office/drawing/2014/main" id="{3C637635-A8EC-4CA4-97C0-444D4FE3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改善がrun幅付近</a:t>
            </a:r>
          </a:p>
        </p:txBody>
      </p:sp>
      <p:sp>
        <p:nvSpPr>
          <p:cNvPr id="8" name="reject-name-2">
            <a:extLst xmlns:a="http://schemas.openxmlformats.org/drawingml/2006/main">
              <a:ext uri="{FF2B5EF4-FFF2-40B4-BE49-F238E27FC236}">
                <a16:creationId xmlns:a16="http://schemas.microsoft.com/office/drawing/2014/main" id="{34211DAD-F08B-4B93-955C-7DA6256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managed / unified memory</a:t>
            </a:r>
          </a:p>
        </p:txBody>
      </p:sp>
      <p:sp>
        <p:nvSpPr>
          <p:cNvPr id="9" name="reject-result-2">
            <a:extLst xmlns:a="http://schemas.openxmlformats.org/drawingml/2006/main">
              <a:ext uri="{FF2B5EF4-FFF2-40B4-BE49-F238E27FC236}">
                <a16:creationId xmlns:a16="http://schemas.microsoft.com/office/drawing/2014/main" id="{AA712EBB-20BA-4DCE-B745-93B8009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正式設定より2倍以上遅化</a:t>
            </a:r>
          </a:p>
        </p:txBody>
      </p:sp>
      <p:sp>
        <p:nvSpPr>
          <p:cNvPr id="10" name="reject-name-3">
            <a:extLst xmlns:a="http://schemas.openxmlformats.org/drawingml/2006/main">
              <a:ext uri="{FF2B5EF4-FFF2-40B4-BE49-F238E27FC236}">
                <a16:creationId xmlns:a16="http://schemas.microsoft.com/office/drawing/2014/main" id="{51C33A5E-C5A3-4D05-9DD5-B3263024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追加kernel融合・特殊化</a:t>
            </a:r>
          </a:p>
        </p:txBody>
      </p:sp>
      <p:sp>
        <p:nvSpPr>
          <p:cNvPr id="11" name="reject-result-3">
            <a:extLst xmlns:a="http://schemas.openxmlformats.org/drawingml/2006/main">
              <a:ext uri="{FF2B5EF4-FFF2-40B4-BE49-F238E27FC236}">
                <a16:creationId xmlns:a16="http://schemas.microsoft.com/office/drawing/2014/main" id="{9E374361-4B0A-45C1-9BAB-9BE7806B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719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有意な改善なし</a:t>
            </a:r>
          </a:p>
        </p:txBody>
      </p:sp>
      <p:sp>
        <p:nvSpPr>
          <p:cNvPr id="12" name="reject-name-4">
            <a:extLst xmlns:a="http://schemas.openxmlformats.org/drawingml/2006/main">
              <a:ext uri="{FF2B5EF4-FFF2-40B4-BE49-F238E27FC236}">
                <a16:creationId xmlns:a16="http://schemas.microsoft.com/office/drawing/2014/main" id="{81E2887E-4B5E-42CF-8067-B3EAF04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Intel MPI scatter</a:t>
            </a:r>
          </a:p>
        </p:txBody>
      </p:sp>
      <p:sp>
        <p:nvSpPr>
          <p:cNvPr id="13" name="reject-result-4">
            <a:extLst xmlns:a="http://schemas.openxmlformats.org/drawingml/2006/main">
              <a:ext uri="{FF2B5EF4-FFF2-40B4-BE49-F238E27FC236}">
                <a16:creationId xmlns:a16="http://schemas.microsoft.com/office/drawing/2014/main" id="{8E17953A-8065-4786-BBCB-BD40C72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053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IPL2 errorと大幅遅化</a:t>
            </a:r>
          </a:p>
        </p:txBody>
      </p:sp>
      <p:sp>
        <p:nvSpPr>
          <p:cNvPr id="14" name="reject-learning">
            <a:extLst xmlns:a="http://schemas.openxmlformats.org/drawingml/2006/main">
              <a:ext uri="{FF2B5EF4-FFF2-40B4-BE49-F238E27FC236}">
                <a16:creationId xmlns:a16="http://schemas.microsoft.com/office/drawing/2014/main" id="{0452599D-E1A9-4960-AA9F-0924C329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reject-learning-text">
            <a:extLst xmlns:a="http://schemas.openxmlformats.org/drawingml/2006/main">
              <a:ext uri="{FF2B5EF4-FFF2-40B4-BE49-F238E27FC236}">
                <a16:creationId xmlns:a16="http://schemas.microsoft.com/office/drawing/2014/main" id="{CAA35D88-2331-4D24-899E-3EAC3BBE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tutorial専用の小さなmicro tuningは改善上限が小さい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D591D5-A4CC-4473-808A-40107AD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85FB75A-39D3-47FA-8194-77D230E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65189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性能が伸びにくい根拠｜1 GPU × 1 MPI rank × OMP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最新profileが現行tutorialの改善限界を示している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14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Step 116｜NSYS kernel時間（秒）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2ed4019a4648f5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Step 116｜A100 / H100 current-source比較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H2D　A100 2.497秒｜H100 0.693秒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D2H　A100 0.483秒｜H100 0.124秒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NCU　32 blocks × 256 threads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8,192 threads／launch｜Achieved occupancy 12.50%（両GPU）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H100はfused kernelがA100比2.59倍高速。ただし両GPUとも32 blocks・occupancy 12.50%で並列幅不足。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E93C04-F6BC-4774-A058-12E25F7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41CC7B-987C-4D49-A037-690F6B30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次の課題はproduction規模での再評価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51C4A1-28DB-4BD6-B5A5-89731B6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ext-challenges">
            <a:extLst xmlns:a="http://schemas.openxmlformats.org/drawingml/2006/main">
              <a:ext uri="{FF2B5EF4-FFF2-40B4-BE49-F238E27FC236}">
                <a16:creationId xmlns:a16="http://schemas.microsoft.com/office/drawing/2014/main" id="{D3A56CDE-32BF-4087-9FE7-91352C77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9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融合非局所kernelが主要な残存処理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Host処理、MPI境界、同期・転送が一部残存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tutorial入力は32 bandsでGPU並列度が不足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production入力と対応する正解referenceが未準備</a:t>
            </a:r>
          </a:p>
        </p:txBody>
      </p:sp>
      <p:sp>
        <p:nvSpPr>
          <p:cNvPr id="5" name="next-actions-title">
            <a:extLst xmlns:a="http://schemas.openxmlformats.org/drawingml/2006/main">
              <a:ext uri="{FF2B5EF4-FFF2-40B4-BE49-F238E27FC236}">
                <a16:creationId xmlns:a16="http://schemas.microsoft.com/office/drawing/2014/main" id="{1CDDE931-09DC-4F66-9B88-4F0D296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69AA"/>
                </a:solidFill>
              </a:defRPr>
            </a:pPr>
            <a:r>
              <a:rPr sz="1875" b="1">
                <a:solidFill>
                  <a:srgbClr val="1769AA"/>
                </a:solidFill>
              </a:rPr>
              <a:t>Step 116完了後の進め方</a:t>
            </a:r>
          </a:p>
        </p:txBody>
      </p:sp>
      <p:sp>
        <p:nvSpPr>
          <p:cNvPr id="6" name="next-actions">
            <a:extLst xmlns:a="http://schemas.openxmlformats.org/drawingml/2006/main">
              <a:ext uri="{FF2B5EF4-FFF2-40B4-BE49-F238E27FC236}">
                <a16:creationId xmlns:a16="http://schemas.microsoft.com/office/drawing/2014/main" id="{8D094D84-F2C8-4438-AEE1-31C2336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1　production入力と正解referenceを準備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2　</a:t>
            </a:r>
            <a:r>
              <a:rPr sz="1575" b="0">
                <a:solidFill>
                  <a:srgbClr val="1F2937"/>
                </a:solidFill>
              </a:rPr>
              <a:t>production条件のbaseline</a:t>
            </a:r>
            <a:r>
              <a:rPr sz="1575" b="0">
                <a:solidFill>
                  <a:srgbClr val="1F2937"/>
                </a:solidFill>
              </a:rPr>
              <a:t>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3　kernel・同期・転送量を再分類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4　根拠のある箇所を1仮説ずつ最適化</a:t>
            </a:r>
          </a:p>
        </p:txBody>
      </p:sp>
      <p:sp>
        <p:nvSpPr>
          <p:cNvPr id="7" name="next-stop">
            <a:extLst xmlns:a="http://schemas.openxmlformats.org/drawingml/2006/main">
              <a:ext uri="{FF2B5EF4-FFF2-40B4-BE49-F238E27FC236}">
                <a16:creationId xmlns:a16="http://schemas.microsoft.com/office/drawing/2014/main" id="{BB919C33-B6DF-43C5-BAF8-09E5D53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8" name="next-stop-text">
            <a:extLst xmlns:a="http://schemas.openxmlformats.org/drawingml/2006/main">
              <a:ext uri="{FF2B5EF4-FFF2-40B4-BE49-F238E27FC236}">
                <a16:creationId xmlns:a16="http://schemas.microsoft.com/office/drawing/2014/main" id="{944EBB0C-B018-4E14-92EC-77B9683E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483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26A00"/>
                </a:solidFill>
              </a:defRPr>
            </a:pPr>
            <a:r>
              <a:rPr sz="1650" b="1">
                <a:solidFill>
                  <a:srgbClr val="C26A00"/>
                </a:solidFill>
              </a:rPr>
              <a:t>次の判断にはproduction入力と対応する正解referenceが必要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17B940-E24C-4155-A668-87F7F05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B54114B-B970-43B8-85AE-5A2A234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3174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A8437B8-1555-4FE5-AA0A-E081FFF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 A1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90992B-E59A-466B-A272-8F6F1BD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正式baselineの識別情報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B81D52-1F2C-4840-A2FA-493925B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2690813"/>
                <a:gridCol w="2690813"/>
                <a:gridCol w="2690813"/>
              </a:tblGrid>
              <a:tr h="58340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系列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logical step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revision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A100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c46cfa9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cc80、1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e6ad059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cc90、1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x86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formal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7318e59系列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ifx/mpiifx、32 MPI × 8 OMP = 256 threads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baseline-head">
            <a:extLst xmlns:a="http://schemas.openxmlformats.org/drawingml/2006/main">
              <a:ext uri="{FF2B5EF4-FFF2-40B4-BE49-F238E27FC236}">
                <a16:creationId xmlns:a16="http://schemas.microsoft.com/office/drawing/2014/main" id="{92FF11A6-EAE6-4B10-98F3-7440D5C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Step 116測定revision: ac71452</a:t>
            </a:r>
          </a:p>
        </p:txBody>
      </p:sp>
      <p:sp>
        <p:nvSpPr>
          <p:cNvPr id="6" name="baseline-notes">
            <a:extLst xmlns:a="http://schemas.openxmlformats.org/drawingml/2006/main">
              <a:ext uri="{FF2B5EF4-FFF2-40B4-BE49-F238E27FC236}">
                <a16:creationId xmlns:a16="http://schemas.microsoft.com/office/drawing/2014/main" id="{B84AE194-B582-4643-AD1D-674BE16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GPUの採用済み数値計算経路はc46cfa9と一致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H100とA100のbaselineは混合・置換しない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F00594-DBC8-4D0D-935F-2B9648C6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67769A5-A013-499C-A33A-0FB5457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1524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27FE8C-303F-49A5-9BFF-ADB88CA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8DA77-866A-42BF-8449-8BAED87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主な変更ファイル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9CAB06-CE9B-445A-9CAA-852EEA4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5">
            <a:extLst xmlns:a="http://schemas.openxmlformats.org/drawingml/2006/main">
              <a:ext uri="{FF2B5EF4-FFF2-40B4-BE49-F238E27FC236}">
                <a16:creationId xmlns:a16="http://schemas.microsoft.com/office/drawing/2014/main" id="{4F4B25FE-AA20-478E-AC0B-7C9ACEBD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tmevl10_Avec_v4.f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S2、exkin、非局所kernel、P常駐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frprmn_tm12_check_Vext_Avec_v4.f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COEF常駐、密度再構築、再利用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electf4_Vext_Avec.f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ELECTF境界、EWALD、限定COEF常駐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fft_cufft.f / fpseid_cufft_wrap.c / fft_fftw.f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 pointer版・batch版cuFFT、CPU fallback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vpj_gen.f / lib4_ASL_2_check_Vext_SXACE.f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VPJ、LOCPOT、交換相関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3A585D-9CB8-4134-A065-D618AE3B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649AD84-8EBC-4EB9-A2CC-A3AC329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31388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8A243B-832E-4912-BF06-529BBDA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D8EA17-38E6-4889-8786-E7E0659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cuFFTをdevice pointer版へ変更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61A741-E99C-4780-ADB6-8F8AA9E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6">
            <a:extLst xmlns:a="http://schemas.openxmlformats.org/drawingml/2006/main">
              <a:ext uri="{FF2B5EF4-FFF2-40B4-BE49-F238E27FC236}">
                <a16:creationId xmlns:a16="http://schemas.microsoft.com/office/drawing/2014/main" id="{45939502-66A4-47C3-AF65-55E4D65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SUBROUTINE FFT3BX_fftwASL_ACC(...)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host_data use_device(RHOG)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call fpseid_cufft_exec_device(plancbp,RHOG,NG,1,ierr)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end host_data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・OpenACC管理配列のdevice pointerをcuFFTへ直接渡す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・forward FFTとbatch FFTにも同じ境界を使用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・CPU/FFTW側は互換entryを維持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2AF1C3-DDC9-497D-BAA2-F6E45C4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B8939CB-C1E8-4B46-974A-FE8910D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715568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B4E883-DF11-4BD4-B1F4-A1E1027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BD94E5-9182-432D-9446-43C78D49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bandごとのFFTをbatch化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08A73B-0490-4879-81E5-7E5F3D8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7">
            <a:extLst xmlns:a="http://schemas.openxmlformats.org/drawingml/2006/main">
              <a:ext uri="{FF2B5EF4-FFF2-40B4-BE49-F238E27FC236}">
                <a16:creationId xmlns:a16="http://schemas.microsoft.com/office/drawing/2014/main" id="{62BCD346-01F0-48AA-BCDC-02DB6CD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ib=nbegin,nend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CALL FFT3BX_fftwASL_ACC(...,RHO1_(1,iib),...)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FFT3BX_fftwASL_ACC_BATCH(...,nbndloc,RHO1_,RHO2_,...)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・複数bandをcufftPlanManyで一括実行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・wrapper呼出しと同期を削減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9A4963-06E2-4B98-B21A-0A6025C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E769A55-258F-4BD1-AAFC-90E18FD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0001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04F031-BE36-4A40-BA87-5479E1B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F7A7A-DD23-49D0-ACCF-A10A2FCD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非局所kernelで原子順序を保持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BE41CC-FF60-40F6-AF84-6DFBFA7A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8">
            <a:extLst xmlns:a="http://schemas.openxmlformats.org/drawingml/2006/main">
              <a:ext uri="{FF2B5EF4-FFF2-40B4-BE49-F238E27FC236}">
                <a16:creationId xmlns:a16="http://schemas.microsoft.com/office/drawing/2014/main" id="{46B7FA34-5331-455D-AF14-AE5134D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parallel loop gang vector_length(256)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do iib = 1, nbndloc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!$acc loop seq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ia = 1, loopcnt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ja = ia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if (reverse_order) ja = loopcnt-ia+1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!$acc loop vector reduction(+:sr,si)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do ig = 1, ngnl(ja)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end 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・band間を並列化し、各band内の逐次ia適用順を維持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0E35C0-278C-4F00-917E-FC47F64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1172A96-D25B-4716-8B9D-22F9B306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027489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E65BC86-F47E-441C-940B-84BDE12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E0F755-5A6D-4071-959F-7685790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OpenACC時の不要なHost復元を省略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35735E-0F36-408B-9C68-8F30C9A7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9">
            <a:extLst xmlns:a="http://schemas.openxmlformats.org/drawingml/2006/main">
              <a:ext uri="{FF2B5EF4-FFF2-40B4-BE49-F238E27FC236}">
                <a16:creationId xmlns:a16="http://schemas.microsoft.com/office/drawing/2014/main" id="{1E6F87B0-697B-44BF-B3DD-E5DCA59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#ifndef _OPENACC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coefcp(coef0(1,1,ik0),coef(1,1,ik0),ng2q*nblng)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#endif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OpenACC経路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device上のCOEF0が正本 → Host復元を省略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CPU/FFTW経路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従来のHost copyを維持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結果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約2.159秒 → 0.003秒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030E2C-5F25-48C1-AD51-9E05A23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BA8FED6-52F9-44A8-B8B3-2319437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99974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CA88DB-E3F0-4A90-BA57-85DB487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46058-0ECD-4528-BA18-1A7B674F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別テンプレートへ移す際の推奨手順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A63416-4344-42CB-BB44-338FB446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0">
            <a:extLst xmlns:a="http://schemas.openxmlformats.org/drawingml/2006/main">
              <a:ext uri="{FF2B5EF4-FFF2-40B4-BE49-F238E27FC236}">
                <a16:creationId xmlns:a16="http://schemas.microsoft.com/office/drawing/2014/main" id="{0F7DA07B-C705-490D-AB95-75C9AC7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1　移行先テンプレートで新しいスライドを作成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2　本ファイルからタイトル、本文、図表をスライド単位でコピー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3　移行先のレイアウトに合わせて「貼り付け先のテーマを使用」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4　グラフと表はPowerPointオブジェクトのまま貼り付け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5　発表者ノートをコピーし、末尾の[Sources]も保持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本ファイルは背景画像、特殊フォント、複雑なマスター依存を使用していない。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5B6680-10B9-4E14-861D-129C9551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40A4DE4-D609-453F-8BB5-1C30DC0D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983896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0C4C20-8F1A-4000-8C56-B7DB3AE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D1357E-22AF-48AA-989A-BA64E0E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数値と実装情報の出典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7782F1-28B2-42F3-A772-B7611A3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1">
            <a:extLst xmlns:a="http://schemas.openxmlformats.org/drawingml/2006/main">
              <a:ext uri="{FF2B5EF4-FFF2-40B4-BE49-F238E27FC236}">
                <a16:creationId xmlns:a16="http://schemas.microsoft.com/office/drawing/2014/main" id="{098B2947-1F0B-4B75-851E-6B99CFD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正式baseline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docs/PERFORMANCE_BASELINE.md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採否と各Stepの履歴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docs/EXPERIMENT_LOG.md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現在地点と保留事項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docs/HANDOFF.md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GPU化率と実装履歴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docs/tddft_gpu_progress_summary_ja.md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原稿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docs/POWERPOINT_GPU_IMPLEMENTATION_SUMMARY_JA.md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2D539D-B291-4671-9D0B-2DAD368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832C4F7-FB58-48DC-A06F-937A346A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90326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2026-08-04T04:39:43.7350000Z</dcterms:created>
  <dcterms:modified xsi:type="dcterms:W3CDTF">2026-08-04T04:39:43.7350000Z</dcterms:modified>
</coreProperties>
</file>