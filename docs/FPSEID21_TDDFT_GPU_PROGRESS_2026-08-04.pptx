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cca6c9e02ba4c49" /><Relationship Type="http://schemas.openxmlformats.org/officeDocument/2006/relationships/extended-properties" Target="/docProps/app.xml" Id="R3abf380f3ec149a4" /><Relationship Type="http://schemas.openxmlformats.org/officeDocument/2006/relationships/officeDocument" Target="/ppt/presentation.xml" Id="R3e601275bb6c44c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bae8ad1a54e46ec"/>
  </p:sldMasterIdLst>
  <p:notesMasterIdLst>
    <p:notesMasterId xmlns:r="http://schemas.openxmlformats.org/officeDocument/2006/relationships" r:id="Rac266d5c641548cc"/>
  </p:notesMasterIdLst>
  <p:sldIdLst>
    <p:sldId xmlns:r="http://schemas.openxmlformats.org/officeDocument/2006/relationships" id="256" r:id="R1a14c0c5b66f49bc"/>
    <p:sldId xmlns:r="http://schemas.openxmlformats.org/officeDocument/2006/relationships" id="257" r:id="R87ee3cea5f5840cc"/>
    <p:sldId xmlns:r="http://schemas.openxmlformats.org/officeDocument/2006/relationships" id="258" r:id="R96d7f6cd13a54121"/>
    <p:sldId xmlns:r="http://schemas.openxmlformats.org/officeDocument/2006/relationships" id="259" r:id="Ra1373d9464d84eb8"/>
    <p:sldId xmlns:r="http://schemas.openxmlformats.org/officeDocument/2006/relationships" id="260" r:id="R573fb9eaa5ba4ea9"/>
    <p:sldId xmlns:r="http://schemas.openxmlformats.org/officeDocument/2006/relationships" id="261" r:id="Rda59278d364440a4"/>
    <p:sldId xmlns:r="http://schemas.openxmlformats.org/officeDocument/2006/relationships" id="262" r:id="R0f90ad2cc2364174"/>
    <p:sldId xmlns:r="http://schemas.openxmlformats.org/officeDocument/2006/relationships" id="263" r:id="R976127d901424627"/>
    <p:sldId xmlns:r="http://schemas.openxmlformats.org/officeDocument/2006/relationships" id="264" r:id="R7c98cb0b1eb24431"/>
    <p:sldId xmlns:r="http://schemas.openxmlformats.org/officeDocument/2006/relationships" id="265" r:id="Rab26f46e540a4962"/>
    <p:sldId xmlns:r="http://schemas.openxmlformats.org/officeDocument/2006/relationships" id="266" r:id="R6f124cc10f3646c4"/>
    <p:sldId xmlns:r="http://schemas.openxmlformats.org/officeDocument/2006/relationships" id="267" r:id="R70bc8c8d47c641f5"/>
    <p:sldId xmlns:r="http://schemas.openxmlformats.org/officeDocument/2006/relationships" id="268" r:id="R57745c9a16aa48d7"/>
    <p:sldId xmlns:r="http://schemas.openxmlformats.org/officeDocument/2006/relationships" id="269" r:id="Ra77901b2c2fd4d82"/>
    <p:sldId xmlns:r="http://schemas.openxmlformats.org/officeDocument/2006/relationships" id="270" r:id="Rd00eaecd49da4e62"/>
    <p:sldId xmlns:r="http://schemas.openxmlformats.org/officeDocument/2006/relationships" id="271" r:id="R8e0259d6d8464275"/>
    <p:sldId xmlns:r="http://schemas.openxmlformats.org/officeDocument/2006/relationships" id="272" r:id="R1642338c777a4f48"/>
    <p:sldId xmlns:r="http://schemas.openxmlformats.org/officeDocument/2006/relationships" id="273" r:id="R0ad0ad3f777443cb"/>
    <p:sldId xmlns:r="http://schemas.openxmlformats.org/officeDocument/2006/relationships" id="274" r:id="R188f3cd066f54003"/>
    <p:sldId xmlns:r="http://schemas.openxmlformats.org/officeDocument/2006/relationships" id="275" r:id="R30e4e98b22874c4c"/>
    <p:sldId xmlns:r="http://schemas.openxmlformats.org/officeDocument/2006/relationships" id="276" r:id="Rf5a273c465004a42"/>
    <p:sldId xmlns:r="http://schemas.openxmlformats.org/officeDocument/2006/relationships" id="277" r:id="R8dce5cb6b6f04d08"/>
    <p:sldId xmlns:r="http://schemas.openxmlformats.org/officeDocument/2006/relationships" id="278" r:id="R0daa3e602902404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b67be91edfe4091" /><Relationship Type="http://schemas.openxmlformats.org/officeDocument/2006/relationships/slideMaster" Target="/ppt/slideMasters/slideMaster1.xml" Id="R2bae8ad1a54e46ec" /><Relationship Type="http://schemas.openxmlformats.org/officeDocument/2006/relationships/notesMaster" Target="/ppt/notesMasters/notesMaster1.xml" Id="Rac266d5c641548cc" /><Relationship Type="http://schemas.openxmlformats.org/officeDocument/2006/relationships/presProps" Target="/ppt/presProps.xml" Id="Rf492e3cbe69949d0" /><Relationship Type="http://schemas.openxmlformats.org/officeDocument/2006/relationships/tableStyles" Target="/ppt/tableStyles.xml" Id="Rb85c4fd898f94535" /><Relationship Type="http://schemas.openxmlformats.org/officeDocument/2006/relationships/slide" Target="/ppt/slides/slide1.xml" Id="R1a14c0c5b66f49bc" /><Relationship Type="http://schemas.openxmlformats.org/officeDocument/2006/relationships/slide" Target="/ppt/slides/slide2.xml" Id="R87ee3cea5f5840cc" /><Relationship Type="http://schemas.openxmlformats.org/officeDocument/2006/relationships/slide" Target="/ppt/slides/slide3.xml" Id="R96d7f6cd13a54121" /><Relationship Type="http://schemas.openxmlformats.org/officeDocument/2006/relationships/slide" Target="/ppt/slides/slide4.xml" Id="Ra1373d9464d84eb8" /><Relationship Type="http://schemas.openxmlformats.org/officeDocument/2006/relationships/slide" Target="/ppt/slides/slide5.xml" Id="R573fb9eaa5ba4ea9" /><Relationship Type="http://schemas.openxmlformats.org/officeDocument/2006/relationships/slide" Target="/ppt/slides/slide6.xml" Id="Rda59278d364440a4" /><Relationship Type="http://schemas.openxmlformats.org/officeDocument/2006/relationships/slide" Target="/ppt/slides/slide7.xml" Id="R0f90ad2cc2364174" /><Relationship Type="http://schemas.openxmlformats.org/officeDocument/2006/relationships/slide" Target="/ppt/slides/slide8.xml" Id="R976127d901424627" /><Relationship Type="http://schemas.openxmlformats.org/officeDocument/2006/relationships/slide" Target="/ppt/slides/slide9.xml" Id="R7c98cb0b1eb24431" /><Relationship Type="http://schemas.openxmlformats.org/officeDocument/2006/relationships/slide" Target="/ppt/slides/slide10.xml" Id="Rab26f46e540a4962" /><Relationship Type="http://schemas.openxmlformats.org/officeDocument/2006/relationships/slide" Target="/ppt/slides/slide11.xml" Id="R6f124cc10f3646c4" /><Relationship Type="http://schemas.openxmlformats.org/officeDocument/2006/relationships/slide" Target="/ppt/slides/slide12.xml" Id="R70bc8c8d47c641f5" /><Relationship Type="http://schemas.openxmlformats.org/officeDocument/2006/relationships/slide" Target="/ppt/slides/slide13.xml" Id="R57745c9a16aa48d7" /><Relationship Type="http://schemas.openxmlformats.org/officeDocument/2006/relationships/slide" Target="/ppt/slides/slide14.xml" Id="Ra77901b2c2fd4d82" /><Relationship Type="http://schemas.openxmlformats.org/officeDocument/2006/relationships/slide" Target="/ppt/slides/slide15.xml" Id="Rd00eaecd49da4e62" /><Relationship Type="http://schemas.openxmlformats.org/officeDocument/2006/relationships/slide" Target="/ppt/slides/slide16.xml" Id="R8e0259d6d8464275" /><Relationship Type="http://schemas.openxmlformats.org/officeDocument/2006/relationships/slide" Target="/ppt/slides/slide17.xml" Id="R1642338c777a4f48" /><Relationship Type="http://schemas.openxmlformats.org/officeDocument/2006/relationships/slide" Target="/ppt/slides/slide18.xml" Id="R0ad0ad3f777443cb" /><Relationship Type="http://schemas.openxmlformats.org/officeDocument/2006/relationships/slide" Target="/ppt/slides/slide19.xml" Id="R188f3cd066f54003" /><Relationship Type="http://schemas.openxmlformats.org/officeDocument/2006/relationships/slide" Target="/ppt/slides/slide20.xml" Id="R30e4e98b22874c4c" /><Relationship Type="http://schemas.openxmlformats.org/officeDocument/2006/relationships/slide" Target="/ppt/slides/slide21.xml" Id="Rf5a273c465004a42" /><Relationship Type="http://schemas.openxmlformats.org/officeDocument/2006/relationships/slide" Target="/ppt/slides/slide22.xml" Id="R8dce5cb6b6f04d08" /><Relationship Type="http://schemas.openxmlformats.org/officeDocument/2006/relationships/slide" Target="/ppt/slides/slide23.xml" Id="R0daa3e602902404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59d26a02f4949e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607030fe9e04407" /><Relationship Type="http://schemas.openxmlformats.org/officeDocument/2006/relationships/notesMaster" Target="/ppt/notesMasters/notesMaster1.xml" Id="R388b72a67ed04c2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57e669ed3bc4135" /><Relationship Type="http://schemas.openxmlformats.org/officeDocument/2006/relationships/notesMaster" Target="/ppt/notesMasters/notesMaster1.xml" Id="R1e8746a2f0664f9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3c02a1e69454caf" /><Relationship Type="http://schemas.openxmlformats.org/officeDocument/2006/relationships/notesMaster" Target="/ppt/notesMasters/notesMaster1.xml" Id="R226105d19bc94e9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0352c86711d49e6" /><Relationship Type="http://schemas.openxmlformats.org/officeDocument/2006/relationships/notesMaster" Target="/ppt/notesMasters/notesMaster1.xml" Id="Rad35b276472d45c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0ea9c368e8e4fbc" /><Relationship Type="http://schemas.openxmlformats.org/officeDocument/2006/relationships/notesMaster" Target="/ppt/notesMasters/notesMaster1.xml" Id="R21a347802e5e489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7943b0e28c64af0" /><Relationship Type="http://schemas.openxmlformats.org/officeDocument/2006/relationships/notesMaster" Target="/ppt/notesMasters/notesMaster1.xml" Id="R246a802d4aa84a2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5792e216ac8461e" /><Relationship Type="http://schemas.openxmlformats.org/officeDocument/2006/relationships/notesMaster" Target="/ppt/notesMasters/notesMaster1.xml" Id="Ra6151dc402cd4e5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3f41c2a51954a11" /><Relationship Type="http://schemas.openxmlformats.org/officeDocument/2006/relationships/notesMaster" Target="/ppt/notesMasters/notesMaster1.xml" Id="R3f45de73ef65461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97bd63118164072" /><Relationship Type="http://schemas.openxmlformats.org/officeDocument/2006/relationships/notesMaster" Target="/ppt/notesMasters/notesMaster1.xml" Id="R35d55c376760407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4d3fbcff32e4e33" /><Relationship Type="http://schemas.openxmlformats.org/officeDocument/2006/relationships/notesMaster" Target="/ppt/notesMasters/notesMaster1.xml" Id="R8c19e50464674d7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7fa157eb6b9440f" /><Relationship Type="http://schemas.openxmlformats.org/officeDocument/2006/relationships/notesMaster" Target="/ppt/notesMasters/notesMaster1.xml" Id="R2e62b884de65426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21a5d6c5fb64c94" /><Relationship Type="http://schemas.openxmlformats.org/officeDocument/2006/relationships/notesMaster" Target="/ppt/notesMasters/notesMaster1.xml" Id="Rf3e9f612ad9e411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268f0c556db471f" /><Relationship Type="http://schemas.openxmlformats.org/officeDocument/2006/relationships/notesMaster" Target="/ppt/notesMasters/notesMaster1.xml" Id="R4506224a1423406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ab0be701aaa42a8" /><Relationship Type="http://schemas.openxmlformats.org/officeDocument/2006/relationships/notesMaster" Target="/ppt/notesMasters/notesMaster1.xml" Id="Ra011982e04c44ae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b5a50806c264322" /><Relationship Type="http://schemas.openxmlformats.org/officeDocument/2006/relationships/notesMaster" Target="/ppt/notesMasters/notesMaster1.xml" Id="R340a146489ac417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0b12fe6e764497c" /><Relationship Type="http://schemas.openxmlformats.org/officeDocument/2006/relationships/notesMaster" Target="/ppt/notesMasters/notesMaster1.xml" Id="R970dff0a38c843c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b1bc705f5744ab6" /><Relationship Type="http://schemas.openxmlformats.org/officeDocument/2006/relationships/notesMaster" Target="/ppt/notesMasters/notesMaster1.xml" Id="R4ef863725635445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c3658df36414c8c" /><Relationship Type="http://schemas.openxmlformats.org/officeDocument/2006/relationships/notesMaster" Target="/ppt/notesMasters/notesMaster1.xml" Id="R9d8beebf4a834fa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20721208d6f49df" /><Relationship Type="http://schemas.openxmlformats.org/officeDocument/2006/relationships/notesMaster" Target="/ppt/notesMasters/notesMaster1.xml" Id="Rd505f95db69b493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14c055ee39e4e24" /><Relationship Type="http://schemas.openxmlformats.org/officeDocument/2006/relationships/notesMaster" Target="/ppt/notesMasters/notesMaster1.xml" Id="Rb6f051bcd4a04fb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cb21c236ee54007" /><Relationship Type="http://schemas.openxmlformats.org/officeDocument/2006/relationships/notesMaster" Target="/ppt/notesMasters/notesMaster1.xml" Id="R5fada27fd4434ab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576645e953b4ddd" /><Relationship Type="http://schemas.openxmlformats.org/officeDocument/2006/relationships/notesMaster" Target="/ppt/notesMasters/notesMaster1.xml" Id="R0a2b6bf1abca444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d67998a4d5c4b7c" /><Relationship Type="http://schemas.openxmlformats.org/officeDocument/2006/relationships/notesMaster" Target="/ppt/notesMasters/notesMaster1.xml" Id="R0a8c1b71813c449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GPU kernelの追加だけでなく、配列常駐、FFT batch化、同期削減を一体で進めた成果を説明する。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docs/POWERPOINT_GPU_IMPLEMENTATION_SUMMARY_JA.md</a:t>
            </a:r>
          </a:p>
          <a:p xmlns:a="http://schemas.openxmlformats.org/drawingml/2006/main">
            <a:r>
              <a:t>- docs/PERFORMANCE_BASELINE.md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A100はStep 107、H100はStep 115。採用済み数値sourceはc46cfa9である。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docs/PERFORMANCE_BASELINE.md</a:t>
            </a:r>
          </a:p>
          <a:p xmlns:a="http://schemas.openxmlformats.org/drawingml/2006/main">
            <a:r>
              <a:t>- docs/HANDOFF.md</a:t>
            </a:r>
          </a:p>
          <a:p xmlns:a="http://schemas.openxmlformats.org/drawingml/2006/main">
            <a:r>
              <a:t>- docs/PROGRESS_REPORT_2026-07-31_JA.md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最新HEADを自動的に正式baselineとせず、数値source、測定revision、ハードウェア系列を分けて管理している。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docs/VALIDATION_WORKFLOW.md</a:t>
            </a:r>
          </a:p>
          <a:p xmlns:a="http://schemas.openxmlformats.org/drawingml/2006/main">
            <a:r>
              <a:t>- docs/PERFORMANCE_BASELINE.md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初期版はFFTごとにHostへ戻していた。現在はOpenACC data region内でkernelとcuFFTをつなぐ。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docs/tddft_gpu_residency_plan_ja.md</a:t>
            </a:r>
          </a:p>
          <a:p xmlns:a="http://schemas.openxmlformats.org/drawingml/2006/main">
            <a:r>
              <a:t>- docs/tddft_gpu_progress_summary_ja.md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66.7%はsource candidate siteの対応率であり、GPU使用率や処理時間比率ではない。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docs/tddft_gpu_progress_summary_ja.md</a:t>
            </a:r>
          </a:p>
          <a:p xmlns:a="http://schemas.openxmlformats.org/drawingml/2006/main">
            <a:r>
              <a:t>- tools/report_tddft_source_gpu_index.sh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その後に追加されたcompute siteはStep 78候補と必ずしも1対1対応しない。したがって39-26をそのまま13件の実装backlogとは扱わない。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docs/PERFORMANCE_BASELINE.md</a:t>
            </a:r>
          </a:p>
          <a:p xmlns:a="http://schemas.openxmlformats.org/drawingml/2006/main">
            <a:r>
              <a:t>- docs/EXPERIMENT_LOG.md (Step 78)</a:t>
            </a:r>
          </a:p>
          <a:p xmlns:a="http://schemas.openxmlformats.org/drawingml/2006/main">
            <a:r>
              <a:t>- tools/report_tddft_source_gpu_index.sh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個別FFT呼出しをbatch化し、wrapper呼出しは43,949回から14,685回へ減少した。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docs/POWERPOINT_GPU_IMPLEMENTATION_SUMMARY_JA.md</a:t>
            </a:r>
          </a:p>
          <a:p xmlns:a="http://schemas.openxmlformats.org/drawingml/2006/main">
            <a:r>
              <a:t>- docs/tddft_gpu_progress_summary_ja.md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融合非局所kernelは改善後も主要な残存コストである。数学的順序を変えずに起動回数を減らした。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docs/tddft_gpu_progress_summary_ja.md</a:t>
            </a:r>
          </a:p>
          <a:p xmlns:a="http://schemas.openxmlformats.org/drawingml/2006/main">
            <a:r>
              <a:t>- FPSEID21/tddft_2022October/tmevl10_Avec_v4.f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Step 107で提案したSEPPOTF batch経路はtutorial入力では非活性であり、採用効果へ数えない。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docs/PERFORMANCE_BASELINE.md</a:t>
            </a:r>
          </a:p>
          <a:p xmlns:a="http://schemas.openxmlformats.org/drawingml/2006/main">
            <a:r>
              <a:t>- docs/EXPERIMENT_LOG.md</a:t>
            </a:r>
          </a:p>
          <a:p xmlns:a="http://schemas.openxmlformats.org/drawingml/2006/main">
            <a:r>
              <a:t>- docs/HANDOFF.md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HostとDeviceのauthorityをroutine境界ごとに整理した。managed/unified memoryは正式設定より2倍以上遅かった。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docs/tddft_gpu_residency_plan_ja.md</a:t>
            </a:r>
          </a:p>
          <a:p xmlns:a="http://schemas.openxmlformats.org/drawingml/2006/main">
            <a:r>
              <a:t>- docs/EXPERIMENT_LOG.md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診断runは含めず、A100の採用系列だけを表示している。Step 107は限定COEF常駐の効果。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docs/EXPERIMENT_LOG.md</a:t>
            </a:r>
          </a:p>
          <a:p xmlns:a="http://schemas.openxmlformats.org/drawingml/2006/main">
            <a:r>
              <a:t>- docs/PERFORMANCE_BASELINE.md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A100、H100、x86は独立baseline。x86は16 MPI × 1 OpenMPの29.352秒から16.539秒へ短縮した。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docs/PERFORMANCE_BASELINE.md</a:t>
            </a:r>
          </a:p>
          <a:p xmlns:a="http://schemas.openxmlformats.org/drawingml/2006/main">
            <a:r>
              <a:t>- docs/PROGRESS_REPORT_2026-07-31_JA.md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採否は正しさだけでなく、同一条件の3回中央値とrun幅を見て判断した。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docs/EXPERIMENT_LOG.md</a:t>
            </a:r>
          </a:p>
          <a:p xmlns:a="http://schemas.openxmlformats.org/drawingml/2006/main">
            <a:r>
              <a:t>- docs/HANDOFF.md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Step 108 diagnostic wallは70.202秒でbaselineではない。Step 91はStep 107より前のtraceなので、転送・同期の症状を示す資料としてのみ使用する。Step 110 SEPPOTF batchは0.899%、Step 112追加融合は0.652%遅化した。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docs/EXPERIMENT_LOG.md (Steps 91, 108, 110, 112)</a:t>
            </a:r>
          </a:p>
          <a:p xmlns:a="http://schemas.openxmlformats.org/drawingml/2006/main">
            <a:r>
              <a:t>- docs/tddft_gpu_progress_summary_ja.md</a:t>
            </a:r>
          </a:p>
          <a:p xmlns:a="http://schemas.openxmlformats.org/drawingml/2006/main">
            <a:r>
              <a:t>- docs/HANDOFF.md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Step 116の仮説は未選定。MPSとGPU側MPI rank増加は調査のみで終了し、実行対象にしない。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docs/HANDOFF.md</a:t>
            </a:r>
          </a:p>
          <a:p xmlns:a="http://schemas.openxmlformats.org/drawingml/2006/main">
            <a:r>
              <a:t>- docs/PROGRESS_REPORT_2026-07-31_JA.md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HEADには文書、検証、x86測定支援を含む。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docs/HANDOFF.md</a:t>
            </a:r>
          </a:p>
          <a:p xmlns:a="http://schemas.openxmlformats.org/drawingml/2006/main">
            <a:r>
              <a:t>- docs/PERFORMANCE_BASELINE.md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最新コードの主要な実装位置を示す。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FPSEID21/tddft_2022October/</a:t>
            </a:r>
          </a:p>
          <a:p xmlns:a="http://schemas.openxmlformats.org/drawingml/2006/main">
            <a:r>
              <a:t>- docs/POWERPOINT_GPU_IMPLEMENTATION_SUMMARY_JA.md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コードは説明用に宣言と変更のない箇所を省略している。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FPSEID21/tddft_2022October/fft_cufft.f</a:t>
            </a:r>
          </a:p>
          <a:p xmlns:a="http://schemas.openxmlformats.org/drawingml/2006/main">
            <a:r>
              <a:t>- FPSEID21/tddft_2022October/fft_fftw.f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PowerPoint上でコードは通常のテキストボックスとして編集できる。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FPSEID21/tddft_2022October/tmevl10_Avec_v4.f</a:t>
            </a:r>
          </a:p>
          <a:p xmlns:a="http://schemas.openxmlformats.org/drawingml/2006/main">
            <a:r>
              <a:t>- FPSEID21/tddft_2022October/fft_cufft.f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forward/reverseの数値順序を維持したkernel融合である。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FPSEID21/tddft_2022October/tmevl10_Avec_v4.f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authorityを明確にしたうえでGPU経路だけ不要処理を外した。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FPSEID21/tddft_2022October/frprmn_tm12_check_Vext_Avec_v4.f</a:t>
            </a:r>
          </a:p>
          <a:p xmlns:a="http://schemas.openxmlformats.org/drawingml/2006/main">
            <a:r>
              <a:t>- docs/tddft_gpu_progress_summary_ja.md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移し替えやすさを優先したシンプルな編集可能構成である。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docs/POWERPOINT_GPU_IMPLEMENTATION_SUMMARY_JA.md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更新時はPowerPointだけでなく、これら正本文書も同時に確認する。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docs/PERFORMANCE_BASELINE.md</a:t>
            </a:r>
          </a:p>
          <a:p xmlns:a="http://schemas.openxmlformats.org/drawingml/2006/main">
            <a:r>
              <a:t>- docs/EXPERIMENT_LOG.md</a:t>
            </a:r>
          </a:p>
          <a:p xmlns:a="http://schemas.openxmlformats.org/drawingml/2006/main">
            <a:r>
              <a:t>- docs/HANDOFF.md</a:t>
            </a:r>
          </a:p>
          <a:p xmlns:a="http://schemas.openxmlformats.org/drawingml/2006/main">
            <a:r>
              <a:t>- docs/tddft_gpu_progress_summary_ja.md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99d5e89afa458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69b21c547ca43d6" /><Relationship Type="http://schemas.openxmlformats.org/officeDocument/2006/relationships/slideLayout" Target="/ppt/slideLayouts/slideLayout1.xml" Id="Rd37bf53f555e4c4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37bf53f555e4c4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8bae77f3ca409b" /><Relationship Type="http://schemas.openxmlformats.org/officeDocument/2006/relationships/notesSlide" Target="/ppt/notesSlides/notesSlide1.xml" Id="R8a3286c13ab04b6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ce06fa639b4a53" /><Relationship Type="http://schemas.openxmlformats.org/officeDocument/2006/relationships/notesSlide" Target="/ppt/notesSlides/notesSlide2.xml" Id="R3bc55a7bb6e342b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0ed9a188cb4c2a" /><Relationship Type="http://schemas.openxmlformats.org/officeDocument/2006/relationships/notesSlide" Target="/ppt/notesSlides/notesSlide3.xml" Id="R3fa86386d304407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ba52dcf99f4189" /><Relationship Type="http://schemas.openxmlformats.org/officeDocument/2006/relationships/notesSlide" Target="/ppt/notesSlides/notesSlide4.xml" Id="R6f88170c316b447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5f0a06a4524a37" /><Relationship Type="http://schemas.openxmlformats.org/officeDocument/2006/relationships/notesSlide" Target="/ppt/notesSlides/notesSlide5.xml" Id="Rf7c1bd1f1e0547c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1004751832419e" /><Relationship Type="http://schemas.openxmlformats.org/officeDocument/2006/relationships/notesSlide" Target="/ppt/notesSlides/notesSlide6.xml" Id="R5aff23b8c07d448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22ed62807e4768" /><Relationship Type="http://schemas.openxmlformats.org/officeDocument/2006/relationships/notesSlide" Target="/ppt/notesSlides/notesSlide7.xml" Id="R35b06eb52b86401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e80f4306a44c48" /><Relationship Type="http://schemas.openxmlformats.org/officeDocument/2006/relationships/notesSlide" Target="/ppt/notesSlides/notesSlide8.xml" Id="Rf2508dcb387f46b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158004d7134aa8" /><Relationship Type="http://schemas.openxmlformats.org/officeDocument/2006/relationships/notesSlide" Target="/ppt/notesSlides/notesSlide9.xml" Id="R99bd8ba15928402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b7f953f1894e76" /><Relationship Type="http://schemas.openxmlformats.org/officeDocument/2006/relationships/notesSlide" Target="/ppt/notesSlides/notesSlide10.xml" Id="R13d2ed494c4e48f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59a02491774e33" /><Relationship Type="http://schemas.openxmlformats.org/officeDocument/2006/relationships/chart" Target="/ppt/slides/charts/chart1.xml" Id="R786cf734e2fd41f9" /><Relationship Type="http://schemas.openxmlformats.org/officeDocument/2006/relationships/notesSlide" Target="/ppt/notesSlides/notesSlide11.xml" Id="R768cd8d787f340e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38e82256924ec5" /><Relationship Type="http://schemas.openxmlformats.org/officeDocument/2006/relationships/notesSlide" Target="/ppt/notesSlides/notesSlide12.xml" Id="Rd3e96cd2e3ff421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6b4428411b4e88" /><Relationship Type="http://schemas.openxmlformats.org/officeDocument/2006/relationships/notesSlide" Target="/ppt/notesSlides/notesSlide13.xml" Id="R7932352464bc484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f34de88f5d45ee" /><Relationship Type="http://schemas.openxmlformats.org/officeDocument/2006/relationships/chart" Target="/ppt/slides/charts/chart2.xml" Id="Re7a4ef2fc99249eb" /><Relationship Type="http://schemas.openxmlformats.org/officeDocument/2006/relationships/notesSlide" Target="/ppt/notesSlides/notesSlide14.xml" Id="R18a027c6064f428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928c8aaf394e48" /><Relationship Type="http://schemas.openxmlformats.org/officeDocument/2006/relationships/notesSlide" Target="/ppt/notesSlides/notesSlide15.xml" Id="R84e12619c7df485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3311e7c3784b84" /><Relationship Type="http://schemas.openxmlformats.org/officeDocument/2006/relationships/notesSlide" Target="/ppt/notesSlides/notesSlide16.xml" Id="Ra9ce38c2d0cf4ab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a3255f0b8546e5" /><Relationship Type="http://schemas.openxmlformats.org/officeDocument/2006/relationships/notesSlide" Target="/ppt/notesSlides/notesSlide17.xml" Id="Rae6a3e9aaf5742a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9e8594e7654337" /><Relationship Type="http://schemas.openxmlformats.org/officeDocument/2006/relationships/notesSlide" Target="/ppt/notesSlides/notesSlide18.xml" Id="Rbe31bb09a6a34b0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0b824899104215" /><Relationship Type="http://schemas.openxmlformats.org/officeDocument/2006/relationships/notesSlide" Target="/ppt/notesSlides/notesSlide19.xml" Id="Rcc229dd795744be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14ddd11348431f" /><Relationship Type="http://schemas.openxmlformats.org/officeDocument/2006/relationships/notesSlide" Target="/ppt/notesSlides/notesSlide20.xml" Id="R17f28870a84e429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a68525b42b4c99" /><Relationship Type="http://schemas.openxmlformats.org/officeDocument/2006/relationships/notesSlide" Target="/ppt/notesSlides/notesSlide21.xml" Id="Rb68a6fb47df04a6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2d79b1354544f1" /><Relationship Type="http://schemas.openxmlformats.org/officeDocument/2006/relationships/notesSlide" Target="/ppt/notesSlides/notesSlide22.xml" Id="R3264d8a464ac4b5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68dceff53d4542" /><Relationship Type="http://schemas.openxmlformats.org/officeDocument/2006/relationships/notesSlide" Target="/ppt/notesSlides/notesSlide23.xml" Id="R198d37d6f0ce4aa2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100-step wall (秒)</c:v>
          </c:tx>
          <c:spPr>
            <a:ln xmlns:a="http://schemas.openxmlformats.org/drawingml/2006/main" w="38100">
              <a:solidFill>
                <a:srgbClr val="1769AA"/>
              </a:solidFill>
              <a:prstDash val="solid"/>
            </a:ln>
          </c:spPr>
          <c:marker>
            <c:symbol val="circle"/>
            <c:size val="8"/>
          </c:marker>
          <c:cat>
            <c:numLit>
              <c:formatCode>General</c:formatCode>
              <c:ptCount val="11"/>
              <c:pt idx="0">
                <c:v>21</c:v>
              </c:pt>
              <c:pt idx="1">
                <c:v>25</c:v>
              </c:pt>
              <c:pt idx="2">
                <c:v>33</c:v>
              </c:pt>
              <c:pt idx="3">
                <c:v>37</c:v>
              </c:pt>
              <c:pt idx="4">
                <c:v>52</c:v>
              </c:pt>
              <c:pt idx="5">
                <c:v>57</c:v>
              </c:pt>
              <c:pt idx="6">
                <c:v>80</c:v>
              </c:pt>
              <c:pt idx="7">
                <c:v>86</c:v>
              </c:pt>
              <c:pt idx="8">
                <c:v>99</c:v>
              </c:pt>
              <c:pt idx="9">
                <c:v>102</c:v>
              </c:pt>
              <c:pt idx="10">
                <c:v>107</c:v>
              </c:pt>
            </c:numLit>
          </c:cat>
          <c:val>
            <c:numLit>
              <c:formatCode>0.000</c:formatCode>
              <c:ptCount val="11"/>
              <c:pt idx="0">
                <c:v>146.54</c:v>
              </c:pt>
              <c:pt idx="1">
                <c:v>130.608</c:v>
              </c:pt>
              <c:pt idx="2">
                <c:v>116.125</c:v>
              </c:pt>
              <c:pt idx="3">
                <c:v>108.096</c:v>
              </c:pt>
              <c:pt idx="4">
                <c:v>73.437</c:v>
              </c:pt>
              <c:pt idx="5">
                <c:v>71.291</c:v>
              </c:pt>
              <c:pt idx="6">
                <c:v>67.421</c:v>
              </c:pt>
              <c:pt idx="7">
                <c:v>66.502</c:v>
              </c:pt>
              <c:pt idx="8">
                <c:v>64.302</c:v>
              </c:pt>
              <c:pt idx="9">
                <c:v>63.839</c:v>
              </c:pt>
              <c:pt idx="10">
                <c:v>63.214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>
                  <a:solidFill>
                    <a:srgbClr val="1F2937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050">
                    <a:solidFill>
                      <a:srgbClr val="667085"/>
                    </a:solidFill>
                  </a:rPr>
                  <a:t>Logical step</a:t>
                </a:r>
              </a:p>
            </c:rich>
          </c:tx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>
                  <a:solidFill>
                    <a:srgbClr val="667085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60"/>
          <c:min val="5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BD5E1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050">
                    <a:solidFill>
                      <a:srgbClr val="667085"/>
                    </a:solidFill>
                  </a:rPr>
                  <a:t>実行時間（秒）</a:t>
                </a:r>
              </a:p>
            </c:rich>
          </c:tx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>
                  <a:solidFill>
                    <a:srgbClr val="667085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診断時間（秒）</c:v>
          </c:tx>
          <c:spPr>
            <a:solidFill xmlns:a="http://schemas.openxmlformats.org/drawingml/2006/main">
              <a:srgbClr val="1769AA"/>
            </a:solidFill>
          </c:spPr>
          <c:cat>
            <c:strLit>
              <c:ptCount val="5"/>
              <c:pt idx="0">
                <c:v>S2 NONLOCAL</c:v>
              </c:pt>
              <c:pt idx="1">
                <c:v>GEMM wrapper</c:v>
              </c:pt>
              <c:pt idx="2">
                <c:v>fused EXNLP</c:v>
              </c:pt>
              <c:pt idx="3">
                <c:v>ELECTF NONLOCF</c:v>
              </c:pt>
              <c:pt idx="4">
                <c:v>SEPPOTF</c:v>
              </c:pt>
            </c:strLit>
          </c:cat>
          <c:val>
            <c:numLit>
              <c:formatCode>0.000</c:formatCode>
              <c:ptCount val="5"/>
              <c:pt idx="0">
                <c:v>16.046</c:v>
              </c:pt>
              <c:pt idx="1">
                <c:v>10.202</c:v>
              </c:pt>
              <c:pt idx="2">
                <c:v>8.413</c:v>
              </c:pt>
              <c:pt idx="3">
                <c:v>5.077</c:v>
              </c:pt>
              <c:pt idx="4">
                <c:v>4.262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F2937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CBD5E1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67085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F2937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accent-bar">
            <a:extLst xmlns:a="http://schemas.openxmlformats.org/drawingml/2006/main">
              <a:ext uri="{FF2B5EF4-FFF2-40B4-BE49-F238E27FC236}">
                <a16:creationId xmlns:a16="http://schemas.microsoft.com/office/drawing/2014/main" id="{A7E1FDBF-1A06-455F-B5A7-2AB9497C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2" name="deck-title">
            <a:extLst xmlns:a="http://schemas.openxmlformats.org/drawingml/2006/main">
              <a:ext uri="{FF2B5EF4-FFF2-40B4-BE49-F238E27FC236}">
                <a16:creationId xmlns:a16="http://schemas.microsoft.com/office/drawing/2014/main" id="{97790E37-37E2-47E1-953A-255B905D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28750"/>
            <a:ext cx="9810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7324D"/>
                </a:solidFill>
              </a:defRPr>
            </a:pPr>
            <a:r>
              <a:rPr sz="3900" b="1">
                <a:solidFill>
                  <a:srgbClr val="17324D"/>
                </a:solidFill>
              </a:rPr>
              <a:t>FPSEID21 TDDFTの</a:t>
            </a:r>
          </a:p>
          <a:p xmlns:a="http://schemas.openxmlformats.org/drawingml/2006/main">
            <a:pPr algn="l">
              <a:buNone/>
              <a:defRPr sz="3900" b="1">
                <a:solidFill>
                  <a:srgbClr val="17324D"/>
                </a:solidFill>
              </a:defRPr>
            </a:pPr>
            <a:r>
              <a:rPr sz="3900" b="1">
                <a:solidFill>
                  <a:srgbClr val="17324D"/>
                </a:solidFill>
              </a:rPr>
              <a:t>OpenACC／cuFFTによるGPU化</a:t>
            </a:r>
          </a:p>
        </p:txBody>
      </p:sp>
      <p:sp>
        <p:nvSpPr>
          <p:cNvPr id="3" name="deck-subtitle">
            <a:extLst xmlns:a="http://schemas.openxmlformats.org/drawingml/2006/main">
              <a:ext uri="{FF2B5EF4-FFF2-40B4-BE49-F238E27FC236}">
                <a16:creationId xmlns:a16="http://schemas.microsoft.com/office/drawing/2014/main" id="{12481F63-8713-4B3A-AB1E-F809D1AC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6230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667085"/>
                </a:solidFill>
              </a:defRPr>
            </a:pPr>
            <a:r>
              <a:rPr sz="1800" b="0">
                <a:solidFill>
                  <a:srgbClr val="667085"/>
                </a:solidFill>
              </a:rPr>
              <a:t>主要計算のGPU化、データ常駐化、各プラットフォームの性能評価</a:t>
            </a:r>
          </a:p>
        </p:txBody>
      </p:sp>
      <p:sp>
        <p:nvSpPr>
          <p:cNvPr id="4" name="deck-date">
            <a:extLst xmlns:a="http://schemas.openxmlformats.org/drawingml/2006/main">
              <a:ext uri="{FF2B5EF4-FFF2-40B4-BE49-F238E27FC236}">
                <a16:creationId xmlns:a16="http://schemas.microsoft.com/office/drawing/2014/main" id="{249D71A4-B3A2-4FAA-B97C-823ADA50A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197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F2937"/>
                </a:solidFill>
              </a:defRPr>
            </a:pPr>
            <a:r>
              <a:rPr sz="1350" b="0">
                <a:solidFill>
                  <a:srgbClr val="1F2937"/>
                </a:solidFill>
              </a:rPr>
              <a:t>2026年8月4日</a:t>
            </a:r>
          </a:p>
        </p:txBody>
      </p:sp>
      <p:sp>
        <p:nvSpPr>
          <p:cNvPr id="5" name="deck-scope">
            <a:extLst xmlns:a="http://schemas.openxmlformats.org/drawingml/2006/main">
              <a:ext uri="{FF2B5EF4-FFF2-40B4-BE49-F238E27FC236}">
                <a16:creationId xmlns:a16="http://schemas.microsoft.com/office/drawing/2014/main" id="{CD76A86E-8583-4CFE-84A9-D84752D27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197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69AA"/>
                </a:solidFill>
              </a:defRPr>
            </a:pPr>
            <a:r>
              <a:rPr sz="1275" b="1">
                <a:solidFill>
                  <a:srgbClr val="1769AA"/>
                </a:solidFill>
              </a:rPr>
              <a:t>Si111-H｜TDDFT 100 steps｜diagnostic OFF</a:t>
            </a:r>
          </a:p>
        </p:txBody>
      </p:sp>
      <p:sp>
        <p:nvSpPr>
          <p:cNvPr id="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25E2EE30-DD44-4A8C-AA85-D3B8608F7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7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534D4EC1-8B60-43D8-B026-A4E99FA3E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626225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F820225F-31DB-408E-B483-D3411DF3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FPSEID21 TDDFT GPU化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2E3C5F7-53F0-4404-9C3D-870E83A96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主要な時間発展処理をGPUへ移し、A100で約2.32倍高速化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D6820995-D072-4946-8A30-45D8172C5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a100-value">
            <a:extLst xmlns:a="http://schemas.openxmlformats.org/drawingml/2006/main">
              <a:ext uri="{FF2B5EF4-FFF2-40B4-BE49-F238E27FC236}">
                <a16:creationId xmlns:a16="http://schemas.microsoft.com/office/drawing/2014/main" id="{2D1C57EF-370D-4669-9848-5A312DA72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66875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1769AA"/>
                </a:solidFill>
              </a:defRPr>
            </a:pPr>
            <a:r>
              <a:rPr sz="2850" b="1">
                <a:solidFill>
                  <a:srgbClr val="1769AA"/>
                </a:solidFill>
              </a:rPr>
              <a:t>63.214秒</a:t>
            </a:r>
          </a:p>
        </p:txBody>
      </p:sp>
      <p:sp>
        <p:nvSpPr>
          <p:cNvPr id="5" name="a100-label">
            <a:extLst xmlns:a="http://schemas.openxmlformats.org/drawingml/2006/main">
              <a:ext uri="{FF2B5EF4-FFF2-40B4-BE49-F238E27FC236}">
                <a16:creationId xmlns:a16="http://schemas.microsoft.com/office/drawing/2014/main" id="{115B1310-E8A1-4E25-B2FB-F3DE42711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19325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A100正式baseline</a:t>
            </a:r>
          </a:p>
        </p:txBody>
      </p:sp>
      <p:sp>
        <p:nvSpPr>
          <p:cNvPr id="6" name="h100-value">
            <a:extLst xmlns:a="http://schemas.openxmlformats.org/drawingml/2006/main">
              <a:ext uri="{FF2B5EF4-FFF2-40B4-BE49-F238E27FC236}">
                <a16:creationId xmlns:a16="http://schemas.microsoft.com/office/drawing/2014/main" id="{8D004629-7C5D-4E30-9045-4A77C9BA5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666875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2D9CDB"/>
                </a:solidFill>
              </a:defRPr>
            </a:pPr>
            <a:r>
              <a:rPr sz="2850" b="1">
                <a:solidFill>
                  <a:srgbClr val="2D9CDB"/>
                </a:solidFill>
              </a:rPr>
              <a:t>34.109秒</a:t>
            </a:r>
          </a:p>
        </p:txBody>
      </p:sp>
      <p:sp>
        <p:nvSpPr>
          <p:cNvPr id="7" name="h100-label">
            <a:extLst xmlns:a="http://schemas.openxmlformats.org/drawingml/2006/main">
              <a:ext uri="{FF2B5EF4-FFF2-40B4-BE49-F238E27FC236}">
                <a16:creationId xmlns:a16="http://schemas.microsoft.com/office/drawing/2014/main" id="{D324F732-0D7F-4139-B606-45EAA7134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19325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H100独立baseline</a:t>
            </a:r>
          </a:p>
        </p:txBody>
      </p:sp>
      <p:sp>
        <p:nvSpPr>
          <p:cNvPr id="8" name="coverage-value">
            <a:extLst xmlns:a="http://schemas.openxmlformats.org/drawingml/2006/main">
              <a:ext uri="{FF2B5EF4-FFF2-40B4-BE49-F238E27FC236}">
                <a16:creationId xmlns:a16="http://schemas.microsoft.com/office/drawing/2014/main" id="{C0B2C281-445D-4F99-B011-CB8EA8361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66875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2E7D32"/>
                </a:solidFill>
              </a:defRPr>
            </a:pPr>
            <a:r>
              <a:rPr sz="2850" b="1">
                <a:solidFill>
                  <a:srgbClr val="2E7D32"/>
                </a:solidFill>
              </a:rPr>
              <a:t>26 / 39</a:t>
            </a:r>
          </a:p>
        </p:txBody>
      </p:sp>
      <p:sp>
        <p:nvSpPr>
          <p:cNvPr id="9" name="coverage-label">
            <a:extLst xmlns:a="http://schemas.openxmlformats.org/drawingml/2006/main">
              <a:ext uri="{FF2B5EF4-FFF2-40B4-BE49-F238E27FC236}">
                <a16:creationId xmlns:a16="http://schemas.microsoft.com/office/drawing/2014/main" id="{ABF889CB-0295-47FD-89CA-4404639D6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219325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GPU化候補箇所</a:t>
            </a:r>
          </a:p>
        </p:txBody>
      </p:sp>
      <p:sp>
        <p:nvSpPr>
          <p:cNvPr id="10" name="outcome-box">
            <a:extLst xmlns:a="http://schemas.openxmlformats.org/drawingml/2006/main">
              <a:ext uri="{FF2B5EF4-FFF2-40B4-BE49-F238E27FC236}">
                <a16:creationId xmlns:a16="http://schemas.microsoft.com/office/drawing/2014/main" id="{09A4AAC5-23C2-4E19-8C40-72138B4D5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0"/>
            <a:ext cx="10096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outcome-list">
            <a:extLst xmlns:a="http://schemas.openxmlformats.org/drawingml/2006/main">
              <a:ext uri="{FF2B5EF4-FFF2-40B4-BE49-F238E27FC236}">
                <a16:creationId xmlns:a16="http://schemas.microsoft.com/office/drawing/2014/main" id="{626ED5E3-124C-4449-8DCF-CB12664CF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9334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A100: 146.540秒から63.214秒へ短縮（約56.9%短縮）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H100: 最新の採用済み数値経路で3回測定の正式baselineを確立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CPU/FFTW fallbackと1 GPU / 1 MPI rankの検証経路を維持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全正式baselineで計算結果の正常性を確認</a:t>
            </a:r>
          </a:p>
        </p:txBody>
      </p:sp>
      <p:sp>
        <p:nvSpPr>
          <p:cNvPr id="12" name="footer-left">
            <a:extLst xmlns:a="http://schemas.openxmlformats.org/drawingml/2006/main">
              <a:ext uri="{FF2B5EF4-FFF2-40B4-BE49-F238E27FC236}">
                <a16:creationId xmlns:a16="http://schemas.microsoft.com/office/drawing/2014/main" id="{53980A5D-9414-4B3C-9FCD-9A371ECE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13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4261E085-2940-41C6-B5AA-CCAAED57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515726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03882BEC-0A8F-402E-BF60-8B50E2FDB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FPSEID21 TDDFT GPU化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55D85AC-2986-4A15-88FF-F04686E00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性能だけでなく、数値一致とCPU経路を採用条件にした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AC2EA8C3-72AA-4936-94BF-A41F4DFF0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validation-left">
            <a:extLst xmlns:a="http://schemas.openxmlformats.org/drawingml/2006/main">
              <a:ext uri="{FF2B5EF4-FFF2-40B4-BE49-F238E27FC236}">
                <a16:creationId xmlns:a16="http://schemas.microsoft.com/office/drawing/2014/main" id="{788A0E55-DCC4-40D6-9F6E-A434C71F7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5048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• 数式、配列shape、projector適用順を維持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• 逐次ia更新とreverse適用順を維持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• CPU/FFTW版を継続してbuild・実行可能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• 診断機能をOFFにして性能測定</a:t>
            </a:r>
          </a:p>
        </p:txBody>
      </p:sp>
      <p:sp>
        <p:nvSpPr>
          <p:cNvPr id="5" name="validation-right">
            <a:extLst xmlns:a="http://schemas.openxmlformats.org/drawingml/2006/main">
              <a:ext uri="{FF2B5EF4-FFF2-40B4-BE49-F238E27FC236}">
                <a16:creationId xmlns:a16="http://schemas.microsoft.com/office/drawing/2014/main" id="{CB0E5238-EDD3-4A89-82DC-D7C6CEB1D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19250"/>
            <a:ext cx="4857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• 同一条件で3回実行し中央値で評価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• normal checkとrelaxed compareを必須化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• run-to-run rangeも記録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• 効果のない変更は記録後にrevert</a:t>
            </a:r>
          </a:p>
        </p:txBody>
      </p:sp>
      <p:sp>
        <p:nvSpPr>
          <p:cNvPr id="6" name="validation-callout">
            <a:extLst xmlns:a="http://schemas.openxmlformats.org/drawingml/2006/main">
              <a:ext uri="{FF2B5EF4-FFF2-40B4-BE49-F238E27FC236}">
                <a16:creationId xmlns:a16="http://schemas.microsoft.com/office/drawing/2014/main" id="{470B4A8A-377D-4966-ACCC-5FA8590A1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57750"/>
            <a:ext cx="9334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9"/>
          </a:solidFill>
          <a:ln xmlns:a="http://schemas.openxmlformats.org/drawingml/2006/main" w="9525">
            <a:solidFill>
              <a:srgbClr val="1769AA"/>
            </a:solidFill>
            <a:prstDash val="solid"/>
          </a:ln>
        </p:spPr>
      </p:sp>
      <p:sp>
        <p:nvSpPr>
          <p:cNvPr id="7" name="validation-callout-text">
            <a:extLst xmlns:a="http://schemas.openxmlformats.org/drawingml/2006/main">
              <a:ext uri="{FF2B5EF4-FFF2-40B4-BE49-F238E27FC236}">
                <a16:creationId xmlns:a16="http://schemas.microsoft.com/office/drawing/2014/main" id="{7C8E7162-35A4-4AC3-8671-8AD19927A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95875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7324D"/>
                </a:solidFill>
              </a:defRPr>
            </a:pPr>
            <a:r>
              <a:rPr sz="1950" b="1">
                <a:solidFill>
                  <a:srgbClr val="17324D"/>
                </a:solidFill>
              </a:rPr>
              <a:t>A100・H100・x86は独立したbaseline系列として管理</a:t>
            </a:r>
          </a:p>
        </p:txBody>
      </p:sp>
      <p:sp>
        <p:nvSpPr>
          <p:cNvPr id="8" name="footer-left">
            <a:extLst xmlns:a="http://schemas.openxmlformats.org/drawingml/2006/main">
              <a:ext uri="{FF2B5EF4-FFF2-40B4-BE49-F238E27FC236}">
                <a16:creationId xmlns:a16="http://schemas.microsoft.com/office/drawing/2014/main" id="{36CCDC45-B2BD-43D3-82BE-A799E9D55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9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20884CB2-851B-4CB3-8D9E-B05BC3C8C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719407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BCEBB870-5741-4F59-A659-9592350C1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FPSEID21 TDDFT GPU化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176AACE-6A9E-4F82-BBBB-2C7FF4EE2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GPU上で処理を連結し、Host往復を減らした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F7E6A9A9-E4A1-4663-A974-466D70614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arrow-0">
            <a:extLst xmlns:a="http://schemas.openxmlformats.org/drawingml/2006/main">
              <a:ext uri="{FF2B5EF4-FFF2-40B4-BE49-F238E27FC236}">
                <a16:creationId xmlns:a16="http://schemas.microsoft.com/office/drawing/2014/main" id="{BEE9F067-35B6-4BD7-BFC5-3F9DF2110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2638425"/>
            <a:ext cx="57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769AA"/>
                </a:solidFill>
              </a:defRPr>
            </a:pPr>
            <a:r>
              <a:rPr sz="2550" b="1">
                <a:solidFill>
                  <a:srgbClr val="1769AA"/>
                </a:solidFill>
              </a:rPr>
              <a:t>→</a:t>
            </a:r>
          </a:p>
        </p:txBody>
      </p:sp>
      <p:sp>
        <p:nvSpPr>
          <p:cNvPr id="5" name="arrow-1">
            <a:extLst xmlns:a="http://schemas.openxmlformats.org/drawingml/2006/main">
              <a:ext uri="{FF2B5EF4-FFF2-40B4-BE49-F238E27FC236}">
                <a16:creationId xmlns:a16="http://schemas.microsoft.com/office/drawing/2014/main" id="{67E388A5-ADCD-4F8C-9557-FF5270495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638425"/>
            <a:ext cx="57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769AA"/>
                </a:solidFill>
              </a:defRPr>
            </a:pPr>
            <a:r>
              <a:rPr sz="2550" b="1">
                <a:solidFill>
                  <a:srgbClr val="1769AA"/>
                </a:solidFill>
              </a:rPr>
              <a:t>→</a:t>
            </a:r>
          </a:p>
        </p:txBody>
      </p:sp>
      <p:sp>
        <p:nvSpPr>
          <p:cNvPr id="6" name="arrow-2">
            <a:extLst xmlns:a="http://schemas.openxmlformats.org/drawingml/2006/main">
              <a:ext uri="{FF2B5EF4-FFF2-40B4-BE49-F238E27FC236}">
                <a16:creationId xmlns:a16="http://schemas.microsoft.com/office/drawing/2014/main" id="{8A48BE09-E587-4BF3-A5BC-5C3A22BE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38425"/>
            <a:ext cx="57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769AA"/>
                </a:solidFill>
              </a:defRPr>
            </a:pPr>
            <a:r>
              <a:rPr sz="2550" b="1">
                <a:solidFill>
                  <a:srgbClr val="1769AA"/>
                </a:solidFill>
              </a:rPr>
              <a:t>→</a:t>
            </a:r>
          </a:p>
        </p:txBody>
      </p:sp>
      <p:sp>
        <p:nvSpPr>
          <p:cNvPr id="7" name="arrow-3">
            <a:extLst xmlns:a="http://schemas.openxmlformats.org/drawingml/2006/main">
              <a:ext uri="{FF2B5EF4-FFF2-40B4-BE49-F238E27FC236}">
                <a16:creationId xmlns:a16="http://schemas.microsoft.com/office/drawing/2014/main" id="{00DBC945-6864-4099-8D79-5D6BF9AD9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638425"/>
            <a:ext cx="57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769AA"/>
                </a:solidFill>
              </a:defRPr>
            </a:pPr>
            <a:r>
              <a:rPr sz="2550" b="1">
                <a:solidFill>
                  <a:srgbClr val="1769AA"/>
                </a:solidFill>
              </a:rPr>
              <a:t>→</a:t>
            </a:r>
          </a:p>
        </p:txBody>
      </p:sp>
      <p:sp>
        <p:nvSpPr>
          <p:cNvPr id="8" name="node-75">
            <a:extLst xmlns:a="http://schemas.openxmlformats.org/drawingml/2006/main">
              <a:ext uri="{FF2B5EF4-FFF2-40B4-BE49-F238E27FC236}">
                <a16:creationId xmlns:a16="http://schemas.microsoft.com/office/drawing/2014/main" id="{74B4813C-9BE6-4615-B682-DB67F4FCB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38375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9525">
            <a:solidFill>
              <a:srgbClr val="1769AA"/>
            </a:solidFill>
            <a:prstDash val="solid"/>
          </a:ln>
        </p:spPr>
      </p:sp>
      <p:sp>
        <p:nvSpPr>
          <p:cNvPr id="9" name="node-label-75">
            <a:extLst xmlns:a="http://schemas.openxmlformats.org/drawingml/2006/main">
              <a:ext uri="{FF2B5EF4-FFF2-40B4-BE49-F238E27FC236}">
                <a16:creationId xmlns:a16="http://schemas.microsoft.com/office/drawing/2014/main" id="{66469664-269F-4FAA-B273-2EECFC0B2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524125"/>
            <a:ext cx="1390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7324D"/>
                </a:solidFill>
              </a:defRPr>
            </a:pPr>
            <a:r>
              <a:rPr sz="1575" b="1">
                <a:solidFill>
                  <a:srgbClr val="17324D"/>
                </a:solidFill>
              </a:rPr>
              <a:t>Host入力</a:t>
            </a:r>
          </a:p>
        </p:txBody>
      </p:sp>
      <p:sp>
        <p:nvSpPr>
          <p:cNvPr id="10" name="node-315">
            <a:extLst xmlns:a="http://schemas.openxmlformats.org/drawingml/2006/main">
              <a:ext uri="{FF2B5EF4-FFF2-40B4-BE49-F238E27FC236}">
                <a16:creationId xmlns:a16="http://schemas.microsoft.com/office/drawing/2014/main" id="{3467B2F4-A0B8-4FB7-8CA7-7CE207ED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238375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9"/>
          </a:solidFill>
          <a:ln xmlns:a="http://schemas.openxmlformats.org/drawingml/2006/main" w="9525">
            <a:solidFill>
              <a:srgbClr val="1769AA"/>
            </a:solidFill>
            <a:prstDash val="solid"/>
          </a:ln>
        </p:spPr>
      </p:sp>
      <p:sp>
        <p:nvSpPr>
          <p:cNvPr id="11" name="node-label-315">
            <a:extLst xmlns:a="http://schemas.openxmlformats.org/drawingml/2006/main">
              <a:ext uri="{FF2B5EF4-FFF2-40B4-BE49-F238E27FC236}">
                <a16:creationId xmlns:a16="http://schemas.microsoft.com/office/drawing/2014/main" id="{78792F84-2EBE-4CBC-960E-7AC66DD7E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524125"/>
            <a:ext cx="1390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7324D"/>
                </a:solidFill>
              </a:defRPr>
            </a:pPr>
            <a:r>
              <a:rPr sz="1575" b="1">
                <a:solidFill>
                  <a:srgbClr val="17324D"/>
                </a:solidFill>
              </a:rPr>
              <a:t>GPU常駐配列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17324D"/>
                </a:solidFill>
              </a:defRPr>
            </a:pPr>
            <a:r>
              <a:rPr sz="1575" b="1">
                <a:solidFill>
                  <a:srgbClr val="17324D"/>
                </a:solidFill>
              </a:rPr>
              <a:t>P・COEF・metadata</a:t>
            </a:r>
          </a:p>
        </p:txBody>
      </p:sp>
      <p:sp>
        <p:nvSpPr>
          <p:cNvPr id="12" name="node-610">
            <a:extLst xmlns:a="http://schemas.openxmlformats.org/drawingml/2006/main">
              <a:ext uri="{FF2B5EF4-FFF2-40B4-BE49-F238E27FC236}">
                <a16:creationId xmlns:a16="http://schemas.microsoft.com/office/drawing/2014/main" id="{B7E80C4E-95A5-4EDB-8DC2-751D780EE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238375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9"/>
          </a:solidFill>
          <a:ln xmlns:a="http://schemas.openxmlformats.org/drawingml/2006/main" w="9525">
            <a:solidFill>
              <a:srgbClr val="1769AA"/>
            </a:solidFill>
            <a:prstDash val="solid"/>
          </a:ln>
        </p:spPr>
      </p:sp>
      <p:sp>
        <p:nvSpPr>
          <p:cNvPr id="13" name="node-label-610">
            <a:extLst xmlns:a="http://schemas.openxmlformats.org/drawingml/2006/main">
              <a:ext uri="{FF2B5EF4-FFF2-40B4-BE49-F238E27FC236}">
                <a16:creationId xmlns:a16="http://schemas.microsoft.com/office/drawing/2014/main" id="{8F232531-CAF1-47E8-9125-29D3312A7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524125"/>
            <a:ext cx="1390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7324D"/>
                </a:solidFill>
              </a:defRPr>
            </a:pPr>
            <a:r>
              <a:rPr sz="1575" b="1">
                <a:solidFill>
                  <a:srgbClr val="17324D"/>
                </a:solidFill>
              </a:rPr>
              <a:t>OpenACC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17324D"/>
                </a:solidFill>
              </a:defRPr>
            </a:pPr>
            <a:r>
              <a:rPr sz="1575" b="1">
                <a:solidFill>
                  <a:srgbClr val="17324D"/>
                </a:solidFill>
              </a:rPr>
              <a:t>kernel</a:t>
            </a:r>
          </a:p>
        </p:txBody>
      </p:sp>
      <p:sp>
        <p:nvSpPr>
          <p:cNvPr id="14" name="node-840">
            <a:extLst xmlns:a="http://schemas.openxmlformats.org/drawingml/2006/main">
              <a:ext uri="{FF2B5EF4-FFF2-40B4-BE49-F238E27FC236}">
                <a16:creationId xmlns:a16="http://schemas.microsoft.com/office/drawing/2014/main" id="{46FBE626-88A4-44EA-AA99-88D2C58E4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38375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9"/>
          </a:solidFill>
          <a:ln xmlns:a="http://schemas.openxmlformats.org/drawingml/2006/main" w="9525">
            <a:solidFill>
              <a:srgbClr val="1769AA"/>
            </a:solidFill>
            <a:prstDash val="solid"/>
          </a:ln>
        </p:spPr>
      </p:sp>
      <p:sp>
        <p:nvSpPr>
          <p:cNvPr id="15" name="node-label-840">
            <a:extLst xmlns:a="http://schemas.openxmlformats.org/drawingml/2006/main">
              <a:ext uri="{FF2B5EF4-FFF2-40B4-BE49-F238E27FC236}">
                <a16:creationId xmlns:a16="http://schemas.microsoft.com/office/drawing/2014/main" id="{6C793C00-7D66-4B60-8AA5-77B137814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24125"/>
            <a:ext cx="1390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7324D"/>
                </a:solidFill>
              </a:defRPr>
            </a:pPr>
            <a:r>
              <a:rPr sz="1575" b="1">
                <a:solidFill>
                  <a:srgbClr val="17324D"/>
                </a:solidFill>
              </a:rPr>
              <a:t>cuFFT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17324D"/>
                </a:solidFill>
              </a:defRPr>
            </a:pPr>
            <a:r>
              <a:rPr sz="1575" b="1">
                <a:solidFill>
                  <a:srgbClr val="17324D"/>
                </a:solidFill>
              </a:rPr>
              <a:t>batch</a:t>
            </a:r>
          </a:p>
        </p:txBody>
      </p:sp>
      <p:sp>
        <p:nvSpPr>
          <p:cNvPr id="16" name="node-1070">
            <a:extLst xmlns:a="http://schemas.openxmlformats.org/drawingml/2006/main">
              <a:ext uri="{FF2B5EF4-FFF2-40B4-BE49-F238E27FC236}">
                <a16:creationId xmlns:a16="http://schemas.microsoft.com/office/drawing/2014/main" id="{D1A71EB8-DD99-447F-B10B-A566DEF79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238375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E5"/>
          </a:solidFill>
          <a:ln xmlns:a="http://schemas.openxmlformats.org/drawingml/2006/main" w="9525">
            <a:solidFill>
              <a:srgbClr val="1769AA"/>
            </a:solidFill>
            <a:prstDash val="solid"/>
          </a:ln>
        </p:spPr>
      </p:sp>
      <p:sp>
        <p:nvSpPr>
          <p:cNvPr id="17" name="node-label-1070">
            <a:extLst xmlns:a="http://schemas.openxmlformats.org/drawingml/2006/main">
              <a:ext uri="{FF2B5EF4-FFF2-40B4-BE49-F238E27FC236}">
                <a16:creationId xmlns:a16="http://schemas.microsoft.com/office/drawing/2014/main" id="{EBFB9537-D3EA-47CE-B9B8-4E1245265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2524125"/>
            <a:ext cx="1390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7324D"/>
                </a:solidFill>
              </a:defRPr>
            </a:pPr>
            <a:r>
              <a:rPr sz="1575" b="1">
                <a:solidFill>
                  <a:srgbClr val="17324D"/>
                </a:solidFill>
              </a:rPr>
              <a:t>MPI／Host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17324D"/>
                </a:solidFill>
              </a:defRPr>
            </a:pPr>
            <a:r>
              <a:rPr sz="1575" b="1">
                <a:solidFill>
                  <a:srgbClr val="17324D"/>
                </a:solidFill>
              </a:rPr>
              <a:t>境界</a:t>
            </a:r>
          </a:p>
        </p:txBody>
      </p:sp>
      <p:sp>
        <p:nvSpPr>
          <p:cNvPr id="18" name="architecture-compute">
            <a:extLst xmlns:a="http://schemas.openxmlformats.org/drawingml/2006/main">
              <a:ext uri="{FF2B5EF4-FFF2-40B4-BE49-F238E27FC236}">
                <a16:creationId xmlns:a16="http://schemas.microsoft.com/office/drawing/2014/main" id="{8CB10F88-0AB2-4E8C-844B-C99787438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386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1F2937"/>
                </a:solidFill>
              </a:defRPr>
            </a:pPr>
            <a:r>
              <a:rPr sz="1350" b="0">
                <a:solidFill>
                  <a:srgbClr val="1F2937"/>
                </a:solidFill>
              </a:rPr>
              <a:t>計算｜主要loopをOpenACC化</a:t>
            </a:r>
          </a:p>
        </p:txBody>
      </p:sp>
      <p:sp>
        <p:nvSpPr>
          <p:cNvPr id="19" name="architecture-data">
            <a:extLst xmlns:a="http://schemas.openxmlformats.org/drawingml/2006/main">
              <a:ext uri="{FF2B5EF4-FFF2-40B4-BE49-F238E27FC236}">
                <a16:creationId xmlns:a16="http://schemas.microsoft.com/office/drawing/2014/main" id="{A9C9C221-3DB4-4057-A616-8A8EBAC10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38625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1F2937"/>
                </a:solidFill>
              </a:defRPr>
            </a:pPr>
            <a:r>
              <a:rPr sz="1350" b="0">
                <a:solidFill>
                  <a:srgbClr val="1F2937"/>
                </a:solidFill>
              </a:rPr>
              <a:t>データ｜外側routineがmappingを所有</a:t>
            </a:r>
          </a:p>
        </p:txBody>
      </p:sp>
      <p:sp>
        <p:nvSpPr>
          <p:cNvPr id="20" name="architecture-fft">
            <a:extLst xmlns:a="http://schemas.openxmlformats.org/drawingml/2006/main">
              <a:ext uri="{FF2B5EF4-FFF2-40B4-BE49-F238E27FC236}">
                <a16:creationId xmlns:a16="http://schemas.microsoft.com/office/drawing/2014/main" id="{C80A06E1-1185-422D-9817-07E0F2FB0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3862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1F2937"/>
                </a:solidFill>
              </a:defRPr>
            </a:pPr>
            <a:r>
              <a:rPr sz="1350" b="0">
                <a:solidFill>
                  <a:srgbClr val="1F2937"/>
                </a:solidFill>
              </a:rPr>
              <a:t>FFT｜device pointerをcuFFTへ直接渡す</a:t>
            </a:r>
          </a:p>
        </p:txBody>
      </p:sp>
      <p:sp>
        <p:nvSpPr>
          <p:cNvPr id="21" name="architecture-note">
            <a:extLst xmlns:a="http://schemas.openxmlformats.org/drawingml/2006/main">
              <a:ext uri="{FF2B5EF4-FFF2-40B4-BE49-F238E27FC236}">
                <a16:creationId xmlns:a16="http://schemas.microsoft.com/office/drawing/2014/main" id="{1B4F080C-9284-402F-B59E-9BC97309F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191125"/>
            <a:ext cx="742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26A00"/>
                </a:solidFill>
              </a:defRPr>
            </a:pPr>
            <a:r>
              <a:rPr sz="1875" b="1">
                <a:solidFill>
                  <a:srgbClr val="C26A00"/>
                </a:solidFill>
              </a:rPr>
              <a:t>必要なHost consumerとMPI境界だけで同期</a:t>
            </a:r>
          </a:p>
        </p:txBody>
      </p:sp>
      <p:sp>
        <p:nvSpPr>
          <p:cNvPr id="22" name="footer-left">
            <a:extLst xmlns:a="http://schemas.openxmlformats.org/drawingml/2006/main">
              <a:ext uri="{FF2B5EF4-FFF2-40B4-BE49-F238E27FC236}">
                <a16:creationId xmlns:a16="http://schemas.microsoft.com/office/drawing/2014/main" id="{DA4227A0-A440-423F-A512-1B860FDBC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23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FA86FF09-BCBD-46E5-8DBD-45DB6933E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90971262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09BEC2D0-7B89-42B8-9992-576C0ED7E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FPSEID21 TDDFT GPU化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B2DA1DD-53E5-49EC-8182-41E9E56CB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時間発展ループの主要領域をGPU化した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F4161864-F892-4D95-B9D8-501B8195C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coverage-area-0">
            <a:extLst xmlns:a="http://schemas.openxmlformats.org/drawingml/2006/main">
              <a:ext uri="{FF2B5EF4-FFF2-40B4-BE49-F238E27FC236}">
                <a16:creationId xmlns:a16="http://schemas.microsoft.com/office/drawing/2014/main" id="{9A7D5026-BFE1-41AF-924B-A288671A0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049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69AA"/>
                </a:solidFill>
              </a:defRPr>
            </a:pPr>
            <a:r>
              <a:rPr sz="1650" b="1">
                <a:solidFill>
                  <a:srgbClr val="1769AA"/>
                </a:solidFill>
              </a:rPr>
              <a:t>S2局所項</a:t>
            </a:r>
          </a:p>
        </p:txBody>
      </p:sp>
      <p:sp>
        <p:nvSpPr>
          <p:cNvPr id="5" name="coverage-detail-0">
            <a:extLst xmlns:a="http://schemas.openxmlformats.org/drawingml/2006/main">
              <a:ext uri="{FF2B5EF4-FFF2-40B4-BE49-F238E27FC236}">
                <a16:creationId xmlns:a16="http://schemas.microsoft.com/office/drawing/2014/main" id="{004229BE-E8C8-4E63-B2BC-115D223F6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scatter・局所potential・cuFFT・gather</a:t>
            </a:r>
          </a:p>
        </p:txBody>
      </p:sp>
      <p:sp>
        <p:nvSpPr>
          <p:cNvPr id="6" name="coverage-rule-0">
            <a:extLst xmlns:a="http://schemas.openxmlformats.org/drawingml/2006/main">
              <a:ext uri="{FF2B5EF4-FFF2-40B4-BE49-F238E27FC236}">
                <a16:creationId xmlns:a16="http://schemas.microsoft.com/office/drawing/2014/main" id="{60FBB61F-19A5-4B25-966E-D1D608236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0250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7" name="coverage-area-1">
            <a:extLst xmlns:a="http://schemas.openxmlformats.org/drawingml/2006/main">
              <a:ext uri="{FF2B5EF4-FFF2-40B4-BE49-F238E27FC236}">
                <a16:creationId xmlns:a16="http://schemas.microsoft.com/office/drawing/2014/main" id="{5194CBD9-E61F-41E4-9C7D-6D420C557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69AA"/>
                </a:solidFill>
              </a:defRPr>
            </a:pPr>
            <a:r>
              <a:rPr sz="1650" b="1">
                <a:solidFill>
                  <a:srgbClr val="1769AA"/>
                </a:solidFill>
              </a:rPr>
              <a:t>非局所項</a:t>
            </a:r>
          </a:p>
        </p:txBody>
      </p:sp>
      <p:sp>
        <p:nvSpPr>
          <p:cNvPr id="8" name="coverage-detail-1">
            <a:extLst xmlns:a="http://schemas.openxmlformats.org/drawingml/2006/main">
              <a:ext uri="{FF2B5EF4-FFF2-40B4-BE49-F238E27FC236}">
                <a16:creationId xmlns:a16="http://schemas.microsoft.com/office/drawing/2014/main" id="{65091AAC-AFE4-4FD1-931D-82DDB11B4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19075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projector dot・係数更新・kernel融合</a:t>
            </a:r>
          </a:p>
        </p:txBody>
      </p:sp>
      <p:sp>
        <p:nvSpPr>
          <p:cNvPr id="9" name="coverage-rule-1">
            <a:extLst xmlns:a="http://schemas.openxmlformats.org/drawingml/2006/main">
              <a:ext uri="{FF2B5EF4-FFF2-40B4-BE49-F238E27FC236}">
                <a16:creationId xmlns:a16="http://schemas.microsoft.com/office/drawing/2014/main" id="{F08AC915-A5E3-4BCA-9E53-D2878AF25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86050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10" name="coverage-area-2">
            <a:extLst xmlns:a="http://schemas.openxmlformats.org/drawingml/2006/main">
              <a:ext uri="{FF2B5EF4-FFF2-40B4-BE49-F238E27FC236}">
                <a16:creationId xmlns:a16="http://schemas.microsoft.com/office/drawing/2014/main" id="{1ED62902-666B-4A1C-BAB0-2ED9D22EB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765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69AA"/>
                </a:solidFill>
              </a:defRPr>
            </a:pPr>
            <a:r>
              <a:rPr sz="1650" b="1">
                <a:solidFill>
                  <a:srgbClr val="1769AA"/>
                </a:solidFill>
              </a:rPr>
              <a:t>電荷密度</a:t>
            </a:r>
          </a:p>
        </p:txBody>
      </p:sp>
      <p:sp>
        <p:nvSpPr>
          <p:cNvPr id="11" name="coverage-detail-2">
            <a:extLst xmlns:a="http://schemas.openxmlformats.org/drawingml/2006/main">
              <a:ext uri="{FF2B5EF4-FFF2-40B4-BE49-F238E27FC236}">
                <a16:creationId xmlns:a16="http://schemas.microsoft.com/office/drawing/2014/main" id="{AAC12408-8E4C-46E1-84A4-D1BD6EBEE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87655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resident COEFから再構築・batch FFT</a:t>
            </a:r>
          </a:p>
        </p:txBody>
      </p:sp>
      <p:sp>
        <p:nvSpPr>
          <p:cNvPr id="12" name="coverage-rule-2">
            <a:extLst xmlns:a="http://schemas.openxmlformats.org/drawingml/2006/main">
              <a:ext uri="{FF2B5EF4-FFF2-40B4-BE49-F238E27FC236}">
                <a16:creationId xmlns:a16="http://schemas.microsoft.com/office/drawing/2014/main" id="{355E5F17-1C93-4B4A-B253-1839380C0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71850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13" name="coverage-area-3">
            <a:extLst xmlns:a="http://schemas.openxmlformats.org/drawingml/2006/main">
              <a:ext uri="{FF2B5EF4-FFF2-40B4-BE49-F238E27FC236}">
                <a16:creationId xmlns:a16="http://schemas.microsoft.com/office/drawing/2014/main" id="{D10CCF95-EBBB-4CC2-8AE7-F28323CA2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623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69AA"/>
                </a:solidFill>
              </a:defRPr>
            </a:pPr>
            <a:r>
              <a:rPr sz="1650" b="1">
                <a:solidFill>
                  <a:srgbClr val="1769AA"/>
                </a:solidFill>
              </a:rPr>
              <a:t>FRPRMN</a:t>
            </a:r>
          </a:p>
        </p:txBody>
      </p:sp>
      <p:sp>
        <p:nvSpPr>
          <p:cNvPr id="14" name="coverage-detail-3">
            <a:extLst xmlns:a="http://schemas.openxmlformats.org/drawingml/2006/main">
              <a:ext uri="{FF2B5EF4-FFF2-40B4-BE49-F238E27FC236}">
                <a16:creationId xmlns:a16="http://schemas.microsoft.com/office/drawing/2014/main" id="{D64D111E-EE68-4943-9D25-15B58153C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56235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COEF/COEF0常駐・同期削減・再利用</a:t>
            </a:r>
          </a:p>
        </p:txBody>
      </p:sp>
      <p:sp>
        <p:nvSpPr>
          <p:cNvPr id="15" name="coverage-rule-3">
            <a:extLst xmlns:a="http://schemas.openxmlformats.org/drawingml/2006/main">
              <a:ext uri="{FF2B5EF4-FFF2-40B4-BE49-F238E27FC236}">
                <a16:creationId xmlns:a16="http://schemas.microsoft.com/office/drawing/2014/main" id="{9B78A0DC-D4D8-4A97-AA03-EFD089581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57650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16" name="coverage-area-4">
            <a:extLst xmlns:a="http://schemas.openxmlformats.org/drawingml/2006/main">
              <a:ext uri="{FF2B5EF4-FFF2-40B4-BE49-F238E27FC236}">
                <a16:creationId xmlns:a16="http://schemas.microsoft.com/office/drawing/2014/main" id="{7C9AE2A0-005D-427E-A375-6392C1800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481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69AA"/>
                </a:solidFill>
              </a:defRPr>
            </a:pPr>
            <a:r>
              <a:rPr sz="1650" b="1">
                <a:solidFill>
                  <a:srgbClr val="1769AA"/>
                </a:solidFill>
              </a:rPr>
              <a:t>potential</a:t>
            </a:r>
          </a:p>
        </p:txBody>
      </p:sp>
      <p:sp>
        <p:nvSpPr>
          <p:cNvPr id="17" name="coverage-detail-4">
            <a:extLst xmlns:a="http://schemas.openxmlformats.org/drawingml/2006/main">
              <a:ext uri="{FF2B5EF4-FFF2-40B4-BE49-F238E27FC236}">
                <a16:creationId xmlns:a16="http://schemas.microsoft.com/office/drawing/2014/main" id="{1C75F922-FE68-4798-989F-0C3BAA437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24815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VPJ・LOCPOT・交換相関・EWALD</a:t>
            </a:r>
          </a:p>
        </p:txBody>
      </p:sp>
      <p:sp>
        <p:nvSpPr>
          <p:cNvPr id="18" name="coverage-rule-4">
            <a:extLst xmlns:a="http://schemas.openxmlformats.org/drawingml/2006/main">
              <a:ext uri="{FF2B5EF4-FFF2-40B4-BE49-F238E27FC236}">
                <a16:creationId xmlns:a16="http://schemas.microsoft.com/office/drawing/2014/main" id="{674E0758-7AA9-4681-A7F9-5FA325FE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43450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19" name="coverage-area-5">
            <a:extLst xmlns:a="http://schemas.openxmlformats.org/drawingml/2006/main">
              <a:ext uri="{FF2B5EF4-FFF2-40B4-BE49-F238E27FC236}">
                <a16:creationId xmlns:a16="http://schemas.microsoft.com/office/drawing/2014/main" id="{99B4374A-55F7-4056-BBBA-F8F04E1D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339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69AA"/>
                </a:solidFill>
              </a:defRPr>
            </a:pPr>
            <a:r>
              <a:rPr sz="1650" b="1">
                <a:solidFill>
                  <a:srgbClr val="1769AA"/>
                </a:solidFill>
              </a:rPr>
              <a:t>HLOCAL</a:t>
            </a:r>
          </a:p>
        </p:txBody>
      </p:sp>
      <p:sp>
        <p:nvSpPr>
          <p:cNvPr id="20" name="coverage-detail-5">
            <a:extLst xmlns:a="http://schemas.openxmlformats.org/drawingml/2006/main">
              <a:ext uri="{FF2B5EF4-FFF2-40B4-BE49-F238E27FC236}">
                <a16:creationId xmlns:a16="http://schemas.microsoft.com/office/drawing/2014/main" id="{953F7893-2CF2-4A0B-8ED1-9C2FBCB4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93395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zeroからFFT・multiply・gatherまで連続実行</a:t>
            </a:r>
          </a:p>
        </p:txBody>
      </p:sp>
      <p:sp>
        <p:nvSpPr>
          <p:cNvPr id="21" name="coverage-rule-5">
            <a:extLst xmlns:a="http://schemas.openxmlformats.org/drawingml/2006/main">
              <a:ext uri="{FF2B5EF4-FFF2-40B4-BE49-F238E27FC236}">
                <a16:creationId xmlns:a16="http://schemas.microsoft.com/office/drawing/2014/main" id="{A17AB232-D817-4D92-9205-BBDA6D0BF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29250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22" name="coverage-callout">
            <a:extLst xmlns:a="http://schemas.openxmlformats.org/drawingml/2006/main">
              <a:ext uri="{FF2B5EF4-FFF2-40B4-BE49-F238E27FC236}">
                <a16:creationId xmlns:a16="http://schemas.microsoft.com/office/drawing/2014/main" id="{D60A32E2-91CD-4F60-988C-88CCC949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572125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2025" b="1">
                <a:solidFill>
                  <a:srgbClr val="2E7D32"/>
                </a:solidFill>
              </a:defRPr>
            </a:pPr>
            <a:r>
              <a:rPr sz="2025" b="1">
                <a:solidFill>
                  <a:srgbClr val="2E7D32"/>
                </a:solidFill>
              </a:rPr>
              <a:t>26 / 39箇所 = 約66.7%</a:t>
            </a:r>
          </a:p>
        </p:txBody>
      </p:sp>
      <p:sp>
        <p:nvSpPr>
          <p:cNvPr id="2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D26DC4BF-4878-4E37-B519-63AA30DC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24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8B3480D4-E053-42C3-B0CB-79D436EFE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5329789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8DF63616-9ADF-4221-8A8B-B4EA63373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GPU化候補の読み方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2DF7286-640D-4B6E-97D5-A46372F72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7324D"/>
                </a:solidFill>
              </a:defRPr>
            </a:pPr>
            <a:r>
              <a:rPr sz="2625" b="1">
                <a:solidFill>
                  <a:srgbClr val="17324D"/>
                </a:solidFill>
              </a:rPr>
              <a:t>26/39の残り13は固定された実装待ちリストではない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A2E3322D-1CFA-44B2-9C11-5C7A5EA6B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AC26E16B-A14E-4B01-9D5A-AC5F1F68A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C2364F2C-99B1-46A8-874F-E57801499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7085"/>
                </a:solidFill>
              </a:defRPr>
            </a:pPr>
            <a:r>
              <a:t>6</a:t>
            </a:r>
          </a:p>
        </p:txBody>
      </p:sp>
      <p:sp>
        <p:nvSpPr>
          <p:cNvPr id="6" name="gap-definition">
            <a:extLst xmlns:a="http://schemas.openxmlformats.org/drawingml/2006/main">
              <a:ext uri="{FF2B5EF4-FFF2-40B4-BE49-F238E27FC236}">
                <a16:creationId xmlns:a16="http://schemas.microsoft.com/office/drawing/2014/main" id="{69BDEB70-2D5C-4FA4-9A59-F4A5440D2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381125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26A00"/>
                </a:solidFill>
              </a:defRPr>
            </a:pPr>
            <a:r>
              <a:rPr sz="1575" b="1">
                <a:solidFill>
                  <a:srgbClr val="C26A00"/>
                </a:solidFill>
              </a:rPr>
              <a:t>残り13相当 = 暫定indexの算術差。現在のsourceに1対1で対応する13個のbacklogではない。</a:t>
            </a:r>
          </a:p>
        </p:txBody>
      </p:sp>
      <p:graphicFrame>
        <p:nvGraphicFramePr>
          <p:cNvPr id="17" name=""/>
          <p:cNvGraphicFramePr/>
          <p:nvPr/>
        </p:nvGraphicFramePr>
        <p:xfrm>
          <a:off xmlns:a="http://schemas.openxmlformats.org/drawingml/2006/main" x="523875" y="1952625"/>
          <a:ext xmlns:a="http://schemas.openxmlformats.org/drawingml/2006/main" cx="11144250" cy="3476625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476500"/>
                <a:gridCol w="3429000"/>
                <a:gridCol w="5238750"/>
              </a:tblGrid>
              <a:tr h="49666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区分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主な候補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GPU化しない／残している理由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</a:tr>
              <a:tr h="49666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69AA"/>
                          </a:solidFill>
                        </a:rPr>
                        <a:t>memory中心の小loop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</a:rPr>
                        <a:t>density smoothing・配列copy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</a:rPr>
                        <a:t>演算量よりmapping・同期・転送costが大きい</a:t>
                      </a:r>
                    </a:p>
                  </a:txBody>
                  <a:tcPr marL="91440" marR="91440" marT="45720" marB="45720"/>
                </a:tc>
              </a:tr>
              <a:tr h="49666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69AA"/>
                          </a:solidFill>
                        </a:rPr>
                        <a:t>predictor／履歴更新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</a:rPr>
                        <a:t>VG0～VG5・VGOLD・interpolation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</a:rPr>
                        <a:t>分岐とHost authorityがあり、一括offloadで回帰</a:t>
                      </a:r>
                    </a:p>
                  </a:txBody>
                  <a:tcPr marL="91440" marR="91440" marT="45720" marB="45720"/>
                </a:tc>
              </a:tr>
              <a:tr h="49666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69AA"/>
                          </a:solidFill>
                        </a:rPr>
                        <a:t>potential／E-field境界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</a:rPr>
                        <a:t>VG・VPLT・VEXT組立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</a:rPr>
                        <a:t>直後のHost consumerによりD2Hが必要</a:t>
                      </a:r>
                    </a:p>
                  </a:txBody>
                  <a:tcPr marL="91440" marR="91440" marT="45720" marB="45720"/>
                </a:tc>
              </a:tr>
              <a:tr h="49666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69AA"/>
                          </a:solidFill>
                        </a:rPr>
                        <a:t>reduction／行列処理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</a:rPr>
                        <a:t>energy・CMAT・収束判定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</a:rPr>
                        <a:t>演算順序・MPI riskに対して改善上限が小さい</a:t>
                      </a:r>
                    </a:p>
                  </a:txBody>
                  <a:tcPr marL="91440" marR="91440" marT="45720" marB="45720"/>
                </a:tc>
              </a:tr>
              <a:tr h="49666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69AA"/>
                          </a:solidFill>
                        </a:rPr>
                        <a:t>producer／非活性経路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</a:rPr>
                        <a:t>EXTAU・GGA G2VXC2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</a:rPr>
                        <a:t>GPU生成は回帰、GGA経路はSi111-Hで非活性</a:t>
                      </a:r>
                    </a:p>
                  </a:txBody>
                  <a:tcPr marL="91440" marR="91440" marT="45720" marB="45720"/>
                </a:tc>
              </a:tr>
              <a:tr h="49666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69AA"/>
                          </a:solidFill>
                        </a:rPr>
                        <a:t>正常だが不採用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</a:rPr>
                        <a:t>SEPPOTF batch・追加kernel融合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</a:rPr>
                        <a:t>checkはPASSしたが正式baselineより遅い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8" name="gap-footnote">
            <a:extLst xmlns:a="http://schemas.openxmlformats.org/drawingml/2006/main">
              <a:ext uri="{FF2B5EF4-FFF2-40B4-BE49-F238E27FC236}">
                <a16:creationId xmlns:a16="http://schemas.microsoft.com/office/drawing/2014/main" id="{7094BA1E-3832-443C-B4D9-CDE92958C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715000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母数39 = Step 80採用済み19 site + Step 78で一時offloadしてrevertした20 site</a:t>
            </a:r>
          </a:p>
        </p:txBody>
      </p:sp>
    </p:spTree>
    <p:extLst>
      <p:ext uri="{BB962C8B-B14F-4D97-AF65-F5344CB8AC3E}">
        <p14:creationId xmlns:p14="http://schemas.microsoft.com/office/powerpoint/2010/main" val="19651008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B5027C90-892B-414C-A068-537121EF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FPSEID21 TDDFT GPU化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94FEA70-B8F9-4923-AD8F-736D31CFA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device pointerとbatch化でFFT前後の転送を削減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2915E371-1D52-42E3-B0C3-E2CCCD7DD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fft-before">
            <a:extLst xmlns:a="http://schemas.openxmlformats.org/drawingml/2006/main">
              <a:ext uri="{FF2B5EF4-FFF2-40B4-BE49-F238E27FC236}">
                <a16:creationId xmlns:a16="http://schemas.microsoft.com/office/drawing/2014/main" id="{7651817A-1708-4229-91D7-D03BF8837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953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fft-before-title">
            <a:extLst xmlns:a="http://schemas.openxmlformats.org/drawingml/2006/main">
              <a:ext uri="{FF2B5EF4-FFF2-40B4-BE49-F238E27FC236}">
                <a16:creationId xmlns:a16="http://schemas.microsoft.com/office/drawing/2014/main" id="{40F1BCFE-A6EA-460B-850D-4EF1C6968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621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085"/>
                </a:solidFill>
              </a:defRPr>
            </a:pPr>
            <a:r>
              <a:rPr sz="1350" b="1">
                <a:solidFill>
                  <a:srgbClr val="667085"/>
                </a:solidFill>
              </a:rPr>
              <a:t>変更前</a:t>
            </a:r>
          </a:p>
        </p:txBody>
      </p:sp>
      <p:sp>
        <p:nvSpPr>
          <p:cNvPr id="6" name="fft-before-flow">
            <a:extLst xmlns:a="http://schemas.openxmlformats.org/drawingml/2006/main">
              <a:ext uri="{FF2B5EF4-FFF2-40B4-BE49-F238E27FC236}">
                <a16:creationId xmlns:a16="http://schemas.microsoft.com/office/drawing/2014/main" id="{FBA51FE9-D362-4729-9DDF-9619E357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43125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Host → H2D → cuFFT → D2H → Host</a:t>
            </a:r>
          </a:p>
        </p:txBody>
      </p:sp>
      <p:sp>
        <p:nvSpPr>
          <p:cNvPr id="7" name="fft-after">
            <a:extLst xmlns:a="http://schemas.openxmlformats.org/drawingml/2006/main">
              <a:ext uri="{FF2B5EF4-FFF2-40B4-BE49-F238E27FC236}">
                <a16:creationId xmlns:a16="http://schemas.microsoft.com/office/drawing/2014/main" id="{FF003D6F-4FCB-4CAC-8D09-779C120C4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19250"/>
            <a:ext cx="4953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9"/>
          </a:solidFill>
          <a:ln xmlns:a="http://schemas.openxmlformats.org/drawingml/2006/main" w="9525">
            <a:solidFill>
              <a:srgbClr val="1769AA"/>
            </a:solidFill>
            <a:prstDash val="solid"/>
          </a:ln>
        </p:spPr>
      </p:sp>
      <p:sp>
        <p:nvSpPr>
          <p:cNvPr id="8" name="fft-after-title">
            <a:extLst xmlns:a="http://schemas.openxmlformats.org/drawingml/2006/main">
              <a:ext uri="{FF2B5EF4-FFF2-40B4-BE49-F238E27FC236}">
                <a16:creationId xmlns:a16="http://schemas.microsoft.com/office/drawing/2014/main" id="{FAC21263-3DE5-4B13-9C42-AB2B20717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621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9AA"/>
                </a:solidFill>
              </a:defRPr>
            </a:pPr>
            <a:r>
              <a:rPr sz="1350" b="1">
                <a:solidFill>
                  <a:srgbClr val="1769AA"/>
                </a:solidFill>
              </a:rPr>
              <a:t>変更後</a:t>
            </a:r>
          </a:p>
        </p:txBody>
      </p:sp>
      <p:sp>
        <p:nvSpPr>
          <p:cNvPr id="9" name="fft-after-flow">
            <a:extLst xmlns:a="http://schemas.openxmlformats.org/drawingml/2006/main">
              <a:ext uri="{FF2B5EF4-FFF2-40B4-BE49-F238E27FC236}">
                <a16:creationId xmlns:a16="http://schemas.microsoft.com/office/drawing/2014/main" id="{AEC9919F-3B3F-436A-9A77-9A63F022C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43125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324D"/>
                </a:solidFill>
              </a:defRPr>
            </a:pPr>
            <a:r>
              <a:rPr sz="1725" b="1">
                <a:solidFill>
                  <a:srgbClr val="17324D"/>
                </a:solidFill>
              </a:rPr>
              <a:t>Device配列 → cuFFT → Device配列</a:t>
            </a:r>
          </a:p>
        </p:txBody>
      </p:sp>
      <p:sp>
        <p:nvSpPr>
          <p:cNvPr id="10" name="fft-bullets">
            <a:extLst xmlns:a="http://schemas.openxmlformats.org/drawingml/2006/main">
              <a:ext uri="{FF2B5EF4-FFF2-40B4-BE49-F238E27FC236}">
                <a16:creationId xmlns:a16="http://schemas.microsoft.com/office/drawing/2014/main" id="{0D6FCCA1-1406-4844-AC7F-C6A300508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238500"/>
            <a:ext cx="6667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host_data use_deviceでOpenACC管理配列を直接渡す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cufftPlanManyでlocal bandsを一括処理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S2局所FFTと電荷密度再構築をbatch化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CPU/FFTW側には互換entryを維持</a:t>
            </a:r>
          </a:p>
        </p:txBody>
      </p:sp>
      <p:sp>
        <p:nvSpPr>
          <p:cNvPr id="11" name="fft-s2-value">
            <a:extLst xmlns:a="http://schemas.openxmlformats.org/drawingml/2006/main">
              <a:ext uri="{FF2B5EF4-FFF2-40B4-BE49-F238E27FC236}">
                <a16:creationId xmlns:a16="http://schemas.microsoft.com/office/drawing/2014/main" id="{3C235F2B-E697-43D1-AAB6-1D486848C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333750"/>
            <a:ext cx="323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1769AA"/>
                </a:solidFill>
              </a:defRPr>
            </a:pPr>
            <a:r>
              <a:rPr sz="2850" b="1">
                <a:solidFill>
                  <a:srgbClr val="1769AA"/>
                </a:solidFill>
              </a:rPr>
              <a:t>22.480 → 5.030秒</a:t>
            </a:r>
          </a:p>
        </p:txBody>
      </p:sp>
      <p:sp>
        <p:nvSpPr>
          <p:cNvPr id="12" name="fft-s2-label">
            <a:extLst xmlns:a="http://schemas.openxmlformats.org/drawingml/2006/main">
              <a:ext uri="{FF2B5EF4-FFF2-40B4-BE49-F238E27FC236}">
                <a16:creationId xmlns:a16="http://schemas.microsoft.com/office/drawing/2014/main" id="{758879EE-DD62-40A4-BB98-0DA8254F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886200"/>
            <a:ext cx="323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s2_fft_local</a:t>
            </a:r>
          </a:p>
        </p:txBody>
      </p:sp>
      <p:sp>
        <p:nvSpPr>
          <p:cNvPr id="13" name="fft-rho-value">
            <a:extLst xmlns:a="http://schemas.openxmlformats.org/drawingml/2006/main">
              <a:ext uri="{FF2B5EF4-FFF2-40B4-BE49-F238E27FC236}">
                <a16:creationId xmlns:a16="http://schemas.microsoft.com/office/drawing/2014/main" id="{AFA7CD48-88B4-4EE9-8E5C-13B62DF1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524375"/>
            <a:ext cx="323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2E7D32"/>
                </a:solidFill>
              </a:defRPr>
            </a:pPr>
            <a:r>
              <a:rPr sz="2850" b="1">
                <a:solidFill>
                  <a:srgbClr val="2E7D32"/>
                </a:solidFill>
              </a:rPr>
              <a:t>14.510 → 0.730秒</a:t>
            </a:r>
          </a:p>
        </p:txBody>
      </p:sp>
      <p:sp>
        <p:nvSpPr>
          <p:cNvPr id="14" name="fft-rho-label">
            <a:extLst xmlns:a="http://schemas.openxmlformats.org/drawingml/2006/main">
              <a:ext uri="{FF2B5EF4-FFF2-40B4-BE49-F238E27FC236}">
                <a16:creationId xmlns:a16="http://schemas.microsoft.com/office/drawing/2014/main" id="{0A6D10F1-2EDE-45F7-BA49-669AC8CE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076825"/>
            <a:ext cx="323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frprmn_rhoofk</a:t>
            </a:r>
          </a:p>
        </p:txBody>
      </p:sp>
      <p:sp>
        <p:nvSpPr>
          <p:cNvPr id="1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7A0E6D20-CE0A-48BB-B80F-D9CF5B60B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1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565C91B1-310A-4F04-95B5-1EA85A362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82752065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BBECB8CE-6902-41F5-8D5E-F3290B92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FPSEID21 TDDFT GPU化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FA9A5AC-8B9A-4C72-A720-2FFB04E30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非局所projectorはkernel融合で起動回数を減らした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00490E77-E03F-4F45-83D0-F673DB033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nonlocal-list">
            <a:extLst xmlns:a="http://schemas.openxmlformats.org/drawingml/2006/main">
              <a:ext uri="{FF2B5EF4-FFF2-40B4-BE49-F238E27FC236}">
                <a16:creationId xmlns:a16="http://schemas.microsoft.com/office/drawing/2014/main" id="{0714B813-1504-460D-9100-D3A3E073B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619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• dot productをOpenACC reduction化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• coefficient更新を同一kernelへ融合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• 一時配列とゼロ初期化kernelを削除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• bandをgangへ割り当て、band内のiaはseq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• forward/reverse phaseでbufferを再利用</a:t>
            </a:r>
          </a:p>
        </p:txBody>
      </p:sp>
      <p:sp>
        <p:nvSpPr>
          <p:cNvPr id="5" name="nonlocal-launch-value">
            <a:extLst xmlns:a="http://schemas.openxmlformats.org/drawingml/2006/main">
              <a:ext uri="{FF2B5EF4-FFF2-40B4-BE49-F238E27FC236}">
                <a16:creationId xmlns:a16="http://schemas.microsoft.com/office/drawing/2014/main" id="{44B3331F-A327-4B3F-A67D-90CB281F9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952625"/>
            <a:ext cx="3619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1769AA"/>
                </a:solidFill>
              </a:defRPr>
            </a:pPr>
            <a:r>
              <a:rPr sz="2850" b="1">
                <a:solidFill>
                  <a:srgbClr val="1769AA"/>
                </a:solidFill>
              </a:rPr>
              <a:t>453,120 → 9,440回</a:t>
            </a:r>
          </a:p>
        </p:txBody>
      </p:sp>
      <p:sp>
        <p:nvSpPr>
          <p:cNvPr id="6" name="nonlocal-launch-label">
            <a:extLst xmlns:a="http://schemas.openxmlformats.org/drawingml/2006/main">
              <a:ext uri="{FF2B5EF4-FFF2-40B4-BE49-F238E27FC236}">
                <a16:creationId xmlns:a16="http://schemas.microsoft.com/office/drawing/2014/main" id="{E24B4F87-C055-4D2B-A2C8-FE65297EE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05075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kernel起動回数</a:t>
            </a:r>
          </a:p>
        </p:txBody>
      </p:sp>
      <p:sp>
        <p:nvSpPr>
          <p:cNvPr id="7" name="nonlocal-time-value">
            <a:extLst xmlns:a="http://schemas.openxmlformats.org/drawingml/2006/main">
              <a:ext uri="{FF2B5EF4-FFF2-40B4-BE49-F238E27FC236}">
                <a16:creationId xmlns:a16="http://schemas.microsoft.com/office/drawing/2014/main" id="{013389F3-0F55-4F32-8239-710BB12D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476625"/>
            <a:ext cx="3619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2E7D32"/>
                </a:solidFill>
              </a:defRPr>
            </a:pPr>
            <a:r>
              <a:rPr sz="2850" b="1">
                <a:solidFill>
                  <a:srgbClr val="2E7D32"/>
                </a:solidFill>
              </a:rPr>
              <a:t>18.370 → 8.440秒</a:t>
            </a:r>
          </a:p>
        </p:txBody>
      </p:sp>
      <p:sp>
        <p:nvSpPr>
          <p:cNvPr id="8" name="nonlocal-time-label">
            <a:extLst xmlns:a="http://schemas.openxmlformats.org/drawingml/2006/main">
              <a:ext uri="{FF2B5EF4-FFF2-40B4-BE49-F238E27FC236}">
                <a16:creationId xmlns:a16="http://schemas.microsoft.com/office/drawing/2014/main" id="{2664661D-7950-49B5-831E-5A46D7E50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29075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exnlp_gemm_dot</a:t>
            </a:r>
          </a:p>
        </p:txBody>
      </p:sp>
      <p:sp>
        <p:nvSpPr>
          <p:cNvPr id="9" name="nonlocal-note-box">
            <a:extLst xmlns:a="http://schemas.openxmlformats.org/drawingml/2006/main">
              <a:ext uri="{FF2B5EF4-FFF2-40B4-BE49-F238E27FC236}">
                <a16:creationId xmlns:a16="http://schemas.microsoft.com/office/drawing/2014/main" id="{A86EEA64-8FAF-4E04-A557-D506EFBDA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34000"/>
            <a:ext cx="9906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E5"/>
          </a:solidFill>
          <a:ln xmlns:a="http://schemas.openxmlformats.org/drawingml/2006/main" w="9525">
            <a:solidFill>
              <a:srgbClr val="C26A00"/>
            </a:solidFill>
            <a:prstDash val="solid"/>
          </a:ln>
        </p:spPr>
      </p:sp>
      <p:sp>
        <p:nvSpPr>
          <p:cNvPr id="10" name="nonlocal-note">
            <a:extLst xmlns:a="http://schemas.openxmlformats.org/drawingml/2006/main">
              <a:ext uri="{FF2B5EF4-FFF2-40B4-BE49-F238E27FC236}">
                <a16:creationId xmlns:a16="http://schemas.microsoft.com/office/drawing/2014/main" id="{9C42F417-EDE6-42AF-B44E-384102C00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245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26A00"/>
                </a:solidFill>
              </a:defRPr>
            </a:pPr>
            <a:r>
              <a:rPr sz="1725" b="1">
                <a:solidFill>
                  <a:srgbClr val="C26A00"/>
                </a:solidFill>
              </a:rPr>
              <a:t>原子適用順とreverse phaseの逆順は維持</a:t>
            </a:r>
          </a:p>
        </p:txBody>
      </p:sp>
      <p:sp>
        <p:nvSpPr>
          <p:cNvPr id="11" name="footer-left">
            <a:extLst xmlns:a="http://schemas.openxmlformats.org/drawingml/2006/main">
              <a:ext uri="{FF2B5EF4-FFF2-40B4-BE49-F238E27FC236}">
                <a16:creationId xmlns:a16="http://schemas.microsoft.com/office/drawing/2014/main" id="{AF09637D-7973-4A1B-BAA0-C87DF11E5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12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B7416732-7F83-4450-9C3B-0F1B3AB6D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55617864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D92A9F36-C0F8-447B-91CA-A75C06E1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FPSEID21 TDDFT GPU化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9504737-D9C7-455E-8F9F-8CAE32CEA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FRPRMNとpotential処理をGPU内でつないだ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25C0552E-235C-43A9-B1D1-F39B9EC46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frprmn-list">
            <a:extLst xmlns:a="http://schemas.openxmlformats.org/drawingml/2006/main">
              <a:ext uri="{FF2B5EF4-FFF2-40B4-BE49-F238E27FC236}">
                <a16:creationId xmlns:a16="http://schemas.microsoft.com/office/drawing/2014/main" id="{38E7B7AC-D231-4697-838B-23AF64BC2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4295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COEF／COEF0をpredictor-correctorからELECTFまで常駐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seed初期化をHost copy＋H2DからGPU内copyへ変更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band非依存のYLMとphase情報を事前計算・再利用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VPJ、LOCPOT、LDA交換相関、EWALDをOpenACC化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HLOCALを1つのdata領域で連続実行</a:t>
            </a:r>
          </a:p>
        </p:txBody>
      </p:sp>
      <p:sp>
        <p:nvSpPr>
          <p:cNvPr id="5" name="vpj-value">
            <a:extLst xmlns:a="http://schemas.openxmlformats.org/drawingml/2006/main">
              <a:ext uri="{FF2B5EF4-FFF2-40B4-BE49-F238E27FC236}">
                <a16:creationId xmlns:a16="http://schemas.microsoft.com/office/drawing/2014/main" id="{D9F9B0BE-BB51-4058-B1F0-712CEBF9A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66875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E7D32"/>
                </a:solidFill>
              </a:defRPr>
            </a:pPr>
            <a:r>
              <a:rPr sz="2325" b="1">
                <a:solidFill>
                  <a:srgbClr val="2E7D32"/>
                </a:solidFill>
              </a:rPr>
              <a:t>36.130 → 1.800秒</a:t>
            </a:r>
          </a:p>
        </p:txBody>
      </p:sp>
      <p:sp>
        <p:nvSpPr>
          <p:cNvPr id="6" name="vpj-label">
            <a:extLst xmlns:a="http://schemas.openxmlformats.org/drawingml/2006/main">
              <a:ext uri="{FF2B5EF4-FFF2-40B4-BE49-F238E27FC236}">
                <a16:creationId xmlns:a16="http://schemas.microsoft.com/office/drawing/2014/main" id="{73CB0216-64F1-451D-BB76-5EDFFB1DF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219325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VPJ積分</a:t>
            </a:r>
          </a:p>
        </p:txBody>
      </p:sp>
      <p:sp>
        <p:nvSpPr>
          <p:cNvPr id="7" name="locpot-value">
            <a:extLst xmlns:a="http://schemas.openxmlformats.org/drawingml/2006/main">
              <a:ext uri="{FF2B5EF4-FFF2-40B4-BE49-F238E27FC236}">
                <a16:creationId xmlns:a16="http://schemas.microsoft.com/office/drawing/2014/main" id="{13EF716A-0806-4CE9-A300-9653E889D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000375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769AA"/>
                </a:solidFill>
              </a:defRPr>
            </a:pPr>
            <a:r>
              <a:rPr sz="2325" b="1">
                <a:solidFill>
                  <a:srgbClr val="1769AA"/>
                </a:solidFill>
              </a:rPr>
              <a:t>2.765 → 0.305秒</a:t>
            </a:r>
          </a:p>
        </p:txBody>
      </p:sp>
      <p:sp>
        <p:nvSpPr>
          <p:cNvPr id="8" name="locpot-label">
            <a:extLst xmlns:a="http://schemas.openxmlformats.org/drawingml/2006/main">
              <a:ext uri="{FF2B5EF4-FFF2-40B4-BE49-F238E27FC236}">
                <a16:creationId xmlns:a16="http://schemas.microsoft.com/office/drawing/2014/main" id="{CA9519AE-3535-4A02-BF81-239A79E35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552825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LOCPOT</a:t>
            </a:r>
          </a:p>
        </p:txBody>
      </p:sp>
      <p:sp>
        <p:nvSpPr>
          <p:cNvPr id="9" name="restore-value">
            <a:extLst xmlns:a="http://schemas.openxmlformats.org/drawingml/2006/main">
              <a:ext uri="{FF2B5EF4-FFF2-40B4-BE49-F238E27FC236}">
                <a16:creationId xmlns:a16="http://schemas.microsoft.com/office/drawing/2014/main" id="{A0D4E12D-F42E-4F90-82B8-CAD8A650B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333875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D9CDB"/>
                </a:solidFill>
              </a:defRPr>
            </a:pPr>
            <a:r>
              <a:rPr sz="2325" b="1">
                <a:solidFill>
                  <a:srgbClr val="2D9CDB"/>
                </a:solidFill>
              </a:rPr>
              <a:t>2.159 → 0.003秒</a:t>
            </a:r>
          </a:p>
        </p:txBody>
      </p:sp>
      <p:sp>
        <p:nvSpPr>
          <p:cNvPr id="10" name="restore-label">
            <a:extLst xmlns:a="http://schemas.openxmlformats.org/drawingml/2006/main">
              <a:ext uri="{FF2B5EF4-FFF2-40B4-BE49-F238E27FC236}">
                <a16:creationId xmlns:a16="http://schemas.microsoft.com/office/drawing/2014/main" id="{F9C807AB-B4FB-42EF-8D0D-A0389AD77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886325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不要なHost復元</a:t>
            </a:r>
          </a:p>
        </p:txBody>
      </p:sp>
      <p:sp>
        <p:nvSpPr>
          <p:cNvPr id="11" name="frprmn-note-box">
            <a:extLst xmlns:a="http://schemas.openxmlformats.org/drawingml/2006/main">
              <a:ext uri="{FF2B5EF4-FFF2-40B4-BE49-F238E27FC236}">
                <a16:creationId xmlns:a16="http://schemas.microsoft.com/office/drawing/2014/main" id="{E44EAFA4-32C7-4B00-88DB-DA4DD5985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429250"/>
            <a:ext cx="981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9"/>
          </a:solidFill>
          <a:ln xmlns:a="http://schemas.openxmlformats.org/drawingml/2006/main" w="9525">
            <a:solidFill>
              <a:srgbClr val="1769AA"/>
            </a:solidFill>
            <a:prstDash val="solid"/>
          </a:ln>
        </p:spPr>
      </p:sp>
      <p:sp>
        <p:nvSpPr>
          <p:cNvPr id="12" name="frprmn-note">
            <a:extLst xmlns:a="http://schemas.openxmlformats.org/drawingml/2006/main">
              <a:ext uri="{FF2B5EF4-FFF2-40B4-BE49-F238E27FC236}">
                <a16:creationId xmlns:a16="http://schemas.microsoft.com/office/drawing/2014/main" id="{D44A038E-3843-4C29-86DD-EF0A897A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591175"/>
            <a:ext cx="914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24D"/>
                </a:solidFill>
              </a:defRPr>
            </a:pPr>
            <a:r>
              <a:rPr sz="1650" b="1">
                <a:solidFill>
                  <a:srgbClr val="17324D"/>
                </a:solidFill>
              </a:rPr>
              <a:t>Step 107の正式改善は限定COEF常駐によるもの</a:t>
            </a:r>
          </a:p>
        </p:txBody>
      </p:sp>
      <p:sp>
        <p:nvSpPr>
          <p:cNvPr id="1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0C803DF2-42DA-4FD0-B45E-F4A2DE137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14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65D7E17D-91F3-4045-9C02-3CABCB45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10215446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DA30AF6B-3F89-4CDC-8D1B-0D64FA3EB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FPSEID21 TDDFT GPU化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6977C0B-4FC2-4AE5-AA3C-5FD28257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データ常駐化がGPU化の実効性を高めた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E8D2D60E-0563-4E80-9606-E0373876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762000" y="1524000"/>
          <a:ext xmlns:a="http://schemas.openxmlformats.org/drawingml/2006/main" cx="10668000" cy="3143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143250"/>
                <a:gridCol w="7524750"/>
              </a:tblGrid>
              <a:tr h="52387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常駐対象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常駐範囲・狙い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69AA"/>
                          </a:solidFill>
                        </a:rPr>
                        <a:t>P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F2937"/>
                          </a:solidFill>
                        </a:rPr>
                        <a:t>TMEVL全体で保持</a:t>
                      </a:r>
                    </a:p>
                  </a:txBody>
                  <a:tcPr marL="91440" marR="91440" marT="45720" marB="45720"/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69AA"/>
                          </a:solidFill>
                        </a:rPr>
                        <a:t>COEF / COEF0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F2937"/>
                          </a:solidFill>
                        </a:rPr>
                        <a:t>predictor-correctorからELECTFまで保持</a:t>
                      </a:r>
                    </a:p>
                  </a:txBody>
                  <a:tcPr marL="91440" marR="91440" marT="45720" marB="45720"/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69AA"/>
                          </a:solidFill>
                        </a:rPr>
                        <a:t>work2_ / cfac_ / ngnl_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F2937"/>
                          </a:solidFill>
                        </a:rPr>
                        <a:t>非局所phase間で再利用</a:t>
                      </a:r>
                    </a:p>
                  </a:txBody>
                  <a:tcPr marL="91440" marR="91440" marT="45720" marB="45720"/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69AA"/>
                          </a:solidFill>
                        </a:rPr>
                        <a:t>J2G / OCC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F2937"/>
                          </a:solidFill>
                        </a:rPr>
                        <a:t>time-step loop全体で保持</a:t>
                      </a:r>
                    </a:p>
                  </a:txBody>
                  <a:tcPr marL="91440" marR="91440" marT="45720" marB="45720"/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69AA"/>
                          </a:solidFill>
                        </a:rPr>
                        <a:t>pseudopotential表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F2937"/>
                          </a:solidFill>
                        </a:rPr>
                        <a:t>static metadataとしてloop外へ移動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residency-results">
            <a:extLst xmlns:a="http://schemas.openxmlformats.org/drawingml/2006/main">
              <a:ext uri="{FF2B5EF4-FFF2-40B4-BE49-F238E27FC236}">
                <a16:creationId xmlns:a16="http://schemas.microsoft.com/office/drawing/2014/main" id="{8CEDA84D-1847-40A5-B6DF-FA7153342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7324D"/>
                </a:solidFill>
              </a:defRPr>
            </a:pPr>
            <a:r>
              <a:rPr sz="1575" b="1">
                <a:solidFill>
                  <a:srgbClr val="17324D"/>
                </a:solidFill>
              </a:rPr>
              <a:t>COEF D2H 944回を削除　｜　必須同期を約103回へ集約　｜　metadata copyinをloop外へ</a:t>
            </a:r>
          </a:p>
        </p:txBody>
      </p:sp>
      <p:sp>
        <p:nvSpPr>
          <p:cNvPr id="6" name="residency-memory">
            <a:extLst xmlns:a="http://schemas.openxmlformats.org/drawingml/2006/main">
              <a:ext uri="{FF2B5EF4-FFF2-40B4-BE49-F238E27FC236}">
                <a16:creationId xmlns:a16="http://schemas.microsoft.com/office/drawing/2014/main" id="{3593F2C5-26A0-4D29-B711-5B2051A40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762625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769AA"/>
                </a:solidFill>
              </a:defRPr>
            </a:pPr>
            <a:r>
              <a:rPr sz="1500" b="0">
                <a:solidFill>
                  <a:srgbClr val="1769AA"/>
                </a:solidFill>
              </a:rPr>
              <a:t>正式設定: separate memory + pinned host allocation</a:t>
            </a:r>
          </a:p>
        </p:txBody>
      </p:sp>
      <p:sp>
        <p:nvSpPr>
          <p:cNvPr id="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62C78EFE-93C7-4172-8F46-80469C328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8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F5E36F13-209E-4767-BE19-703056A5C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8089329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6B2EBB83-8947-46F6-B1C8-0C1097887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FPSEID21 TDDFT GPU化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324B4F8-D8CC-46B1-B502-D8A297DA1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A100では段階的に63.214秒まで短縮した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5CBCE21F-6A66-4825-8C69-2C72C4CA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762000" y="1476375"/>
          <a:ext xmlns:a="http://schemas.openxmlformats.org/drawingml/2006/main" cx="10668000" cy="3857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86cf734e2fd41f9"/>
          </a:graphicData>
        </a:graphic>
      </p:graphicFrame>
      <p:sp>
        <p:nvSpPr>
          <p:cNvPr id="5" name="progress-result">
            <a:extLst xmlns:a="http://schemas.openxmlformats.org/drawingml/2006/main">
              <a:ext uri="{FF2B5EF4-FFF2-40B4-BE49-F238E27FC236}">
                <a16:creationId xmlns:a16="http://schemas.microsoft.com/office/drawing/2014/main" id="{1BEA4B77-362D-4396-86E7-58FD43044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6197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7324D"/>
                </a:solidFill>
              </a:defRPr>
            </a:pPr>
            <a:r>
              <a:rPr sz="1950" b="1">
                <a:solidFill>
                  <a:srgbClr val="17324D"/>
                </a:solidFill>
              </a:rPr>
              <a:t>146.540秒 → 63.214秒　｜　約2.32倍　｜　約56.9%短縮</a:t>
            </a:r>
          </a:p>
        </p:txBody>
      </p:sp>
      <p:sp>
        <p:nvSpPr>
          <p:cNvPr id="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018BF519-2DB9-4546-968C-D1C79BCFE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7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33B3A1E7-AD27-414E-B8E7-C1C9F2008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74750080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63A79E99-B12A-4B2C-85A4-5D2C7A6B2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FPSEID21 TDDFT GPU化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A8DED02-4F5A-4528-8BB8-565B4F8BC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各プラットフォームで正式baselineを確立した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FF3D3246-B4BB-474F-B375-92709765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23875" y="1619250"/>
          <a:ext xmlns:a="http://schemas.openxmlformats.org/drawingml/2006/main" cx="11144250" cy="2476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62250"/>
                <a:gridCol w="4905375"/>
                <a:gridCol w="1333500"/>
                <a:gridCol w="1095375"/>
                <a:gridCol w="1047750"/>
              </a:tblGrid>
              <a:tr h="61912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プラットフォーム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実行構成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中央値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range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正常性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NVIDIA A100-PCIE-40GB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OpenACC/cuFFT、1 GPU / 1 MPI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937"/>
                          </a:solidFill>
                        </a:rPr>
                        <a:t>63.214秒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0.103秒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</a:rPr>
                        <a:t>PASS</a:t>
                      </a:r>
                    </a:p>
                  </a:txBody>
                  <a:tcPr marL="91440" marR="91440" marT="45720" marB="45720"/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NVIDIA H100 PCIe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OpenACC/cuFFT、1 GPU / 1 MPI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937"/>
                          </a:solidFill>
                        </a:rPr>
                        <a:t>34.109秒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0.091秒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</a:rPr>
                        <a:t>PASS</a:t>
                      </a:r>
                    </a:p>
                  </a:txBody>
                  <a:tcPr marL="91440" marR="91440" marT="45720" marB="45720"/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Intel Xeon 6980P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ifx/mpiifx、32 MPI × 8 OpenMP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937"/>
                          </a:solidFill>
                        </a:rPr>
                        <a:t>16.539秒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0.058秒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</a:rPr>
                        <a:t>PASS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platform-note">
            <a:extLst xmlns:a="http://schemas.openxmlformats.org/drawingml/2006/main">
              <a:ext uri="{FF2B5EF4-FFF2-40B4-BE49-F238E27FC236}">
                <a16:creationId xmlns:a16="http://schemas.microsoft.com/office/drawing/2014/main" id="{2895AECB-066A-4839-AD24-92295202A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19625"/>
            <a:ext cx="102870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platform-note-text">
            <a:extLst xmlns:a="http://schemas.openxmlformats.org/drawingml/2006/main">
              <a:ext uri="{FF2B5EF4-FFF2-40B4-BE49-F238E27FC236}">
                <a16:creationId xmlns:a16="http://schemas.microsoft.com/office/drawing/2014/main" id="{584BB144-B5D2-4D36-982A-5AF9CA6F6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905375"/>
            <a:ext cx="962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• H100はA100よりwall timeが約46.0%短く、比率は約1.85倍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• x86は256 CPUコアを使用しており、1 GPUとの装置性能の直接比較ではない</a:t>
            </a:r>
          </a:p>
        </p:txBody>
      </p:sp>
      <p:sp>
        <p:nvSpPr>
          <p:cNvPr id="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8CDEAA4-22B7-4D5E-828F-78457EE4D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8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C3183B65-87AC-475E-9653-BAEFA5EFD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13310553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51054F5D-5DC4-40CD-A29B-410D26A4E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FPSEID21 TDDFT GPU化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C664F8F-9BE3-4645-8A49-FE253E465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正しく動いてもwall timeが改善しない変更は残さなかった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45CDB264-102F-48CE-BBD3-9F8336872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reject-name-0">
            <a:extLst xmlns:a="http://schemas.openxmlformats.org/drawingml/2006/main">
              <a:ext uri="{FF2B5EF4-FFF2-40B4-BE49-F238E27FC236}">
                <a16:creationId xmlns:a16="http://schemas.microsoft.com/office/drawing/2014/main" id="{4FB6FD29-B246-41ED-867E-A07CAE89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71625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63A3A"/>
                </a:solidFill>
              </a:defRPr>
            </a:pPr>
            <a:r>
              <a:rPr sz="1650" b="1">
                <a:solidFill>
                  <a:srgbClr val="A63A3A"/>
                </a:solidFill>
              </a:rPr>
              <a:t>SEPPOTF batch</a:t>
            </a:r>
          </a:p>
        </p:txBody>
      </p:sp>
      <p:sp>
        <p:nvSpPr>
          <p:cNvPr id="5" name="reject-result-0">
            <a:extLst xmlns:a="http://schemas.openxmlformats.org/drawingml/2006/main">
              <a:ext uri="{FF2B5EF4-FFF2-40B4-BE49-F238E27FC236}">
                <a16:creationId xmlns:a16="http://schemas.microsoft.com/office/drawing/2014/main" id="{85E998DB-267D-4447-912F-66EB1E988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571625"/>
            <a:ext cx="657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正常だがA100で遅化</a:t>
            </a:r>
          </a:p>
        </p:txBody>
      </p:sp>
      <p:sp>
        <p:nvSpPr>
          <p:cNvPr id="6" name="reject-name-1">
            <a:extLst xmlns:a="http://schemas.openxmlformats.org/drawingml/2006/main">
              <a:ext uri="{FF2B5EF4-FFF2-40B4-BE49-F238E27FC236}">
                <a16:creationId xmlns:a16="http://schemas.microsoft.com/office/drawing/2014/main" id="{2C1664FB-BE3F-4FB2-8628-4CD818EB1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0505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63A3A"/>
                </a:solidFill>
              </a:defRPr>
            </a:pPr>
            <a:r>
              <a:rPr sz="1650" b="1">
                <a:solidFill>
                  <a:srgbClr val="A63A3A"/>
                </a:solidFill>
              </a:rPr>
              <a:t>compiler flags</a:t>
            </a:r>
          </a:p>
        </p:txBody>
      </p:sp>
      <p:sp>
        <p:nvSpPr>
          <p:cNvPr id="7" name="reject-result-1">
            <a:extLst xmlns:a="http://schemas.openxmlformats.org/drawingml/2006/main">
              <a:ext uri="{FF2B5EF4-FFF2-40B4-BE49-F238E27FC236}">
                <a16:creationId xmlns:a16="http://schemas.microsoft.com/office/drawing/2014/main" id="{3C637635-A8EC-4CA4-97C0-444D4FE3C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05050"/>
            <a:ext cx="657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改善がrun幅付近</a:t>
            </a:r>
          </a:p>
        </p:txBody>
      </p:sp>
      <p:sp>
        <p:nvSpPr>
          <p:cNvPr id="8" name="reject-name-2">
            <a:extLst xmlns:a="http://schemas.openxmlformats.org/drawingml/2006/main">
              <a:ext uri="{FF2B5EF4-FFF2-40B4-BE49-F238E27FC236}">
                <a16:creationId xmlns:a16="http://schemas.microsoft.com/office/drawing/2014/main" id="{34211DAD-F08B-4B93-955C-7DA62561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38475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63A3A"/>
                </a:solidFill>
              </a:defRPr>
            </a:pPr>
            <a:r>
              <a:rPr sz="1650" b="1">
                <a:solidFill>
                  <a:srgbClr val="A63A3A"/>
                </a:solidFill>
              </a:rPr>
              <a:t>managed / unified memory</a:t>
            </a:r>
          </a:p>
        </p:txBody>
      </p:sp>
      <p:sp>
        <p:nvSpPr>
          <p:cNvPr id="9" name="reject-result-2">
            <a:extLst xmlns:a="http://schemas.openxmlformats.org/drawingml/2006/main">
              <a:ext uri="{FF2B5EF4-FFF2-40B4-BE49-F238E27FC236}">
                <a16:creationId xmlns:a16="http://schemas.microsoft.com/office/drawing/2014/main" id="{AA712EBB-20BA-4DCE-B745-93B8009B8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038475"/>
            <a:ext cx="657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正式設定より2倍以上遅化</a:t>
            </a:r>
          </a:p>
        </p:txBody>
      </p:sp>
      <p:sp>
        <p:nvSpPr>
          <p:cNvPr id="10" name="reject-name-3">
            <a:extLst xmlns:a="http://schemas.openxmlformats.org/drawingml/2006/main">
              <a:ext uri="{FF2B5EF4-FFF2-40B4-BE49-F238E27FC236}">
                <a16:creationId xmlns:a16="http://schemas.microsoft.com/office/drawing/2014/main" id="{51C33A5E-C5A3-4D05-9DD5-B32630244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7190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63A3A"/>
                </a:solidFill>
              </a:defRPr>
            </a:pPr>
            <a:r>
              <a:rPr sz="1650" b="1">
                <a:solidFill>
                  <a:srgbClr val="A63A3A"/>
                </a:solidFill>
              </a:rPr>
              <a:t>追加kernel融合・特殊化</a:t>
            </a:r>
          </a:p>
        </p:txBody>
      </p:sp>
      <p:sp>
        <p:nvSpPr>
          <p:cNvPr id="11" name="reject-result-3">
            <a:extLst xmlns:a="http://schemas.openxmlformats.org/drawingml/2006/main">
              <a:ext uri="{FF2B5EF4-FFF2-40B4-BE49-F238E27FC236}">
                <a16:creationId xmlns:a16="http://schemas.microsoft.com/office/drawing/2014/main" id="{9E374361-4B0A-45C1-9BAB-9BE7806B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771900"/>
            <a:ext cx="657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有意な改善なし</a:t>
            </a:r>
          </a:p>
        </p:txBody>
      </p:sp>
      <p:sp>
        <p:nvSpPr>
          <p:cNvPr id="12" name="reject-name-4">
            <a:extLst xmlns:a="http://schemas.openxmlformats.org/drawingml/2006/main">
              <a:ext uri="{FF2B5EF4-FFF2-40B4-BE49-F238E27FC236}">
                <a16:creationId xmlns:a16="http://schemas.microsoft.com/office/drawing/2014/main" id="{81E2887E-4B5E-42CF-8067-B3EAF0476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05325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63A3A"/>
                </a:solidFill>
              </a:defRPr>
            </a:pPr>
            <a:r>
              <a:rPr sz="1650" b="1">
                <a:solidFill>
                  <a:srgbClr val="A63A3A"/>
                </a:solidFill>
              </a:rPr>
              <a:t>Intel MPI scatter</a:t>
            </a:r>
          </a:p>
        </p:txBody>
      </p:sp>
      <p:sp>
        <p:nvSpPr>
          <p:cNvPr id="13" name="reject-result-4">
            <a:extLst xmlns:a="http://schemas.openxmlformats.org/drawingml/2006/main">
              <a:ext uri="{FF2B5EF4-FFF2-40B4-BE49-F238E27FC236}">
                <a16:creationId xmlns:a16="http://schemas.microsoft.com/office/drawing/2014/main" id="{8E17953A-8065-4786-BBCB-BD40C7266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505325"/>
            <a:ext cx="657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IPL2 errorと大幅遅化</a:t>
            </a:r>
          </a:p>
        </p:txBody>
      </p:sp>
      <p:sp>
        <p:nvSpPr>
          <p:cNvPr id="14" name="reject-learning">
            <a:extLst xmlns:a="http://schemas.openxmlformats.org/drawingml/2006/main">
              <a:ext uri="{FF2B5EF4-FFF2-40B4-BE49-F238E27FC236}">
                <a16:creationId xmlns:a16="http://schemas.microsoft.com/office/drawing/2014/main" id="{0452599D-E1A9-4960-AA9F-0924C3292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476875"/>
            <a:ext cx="10287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9"/>
          </a:solidFill>
          <a:ln xmlns:a="http://schemas.openxmlformats.org/drawingml/2006/main" w="9525">
            <a:solidFill>
              <a:srgbClr val="1769AA"/>
            </a:solidFill>
            <a:prstDash val="solid"/>
          </a:ln>
        </p:spPr>
      </p:sp>
      <p:sp>
        <p:nvSpPr>
          <p:cNvPr id="15" name="reject-learning-text">
            <a:extLst xmlns:a="http://schemas.openxmlformats.org/drawingml/2006/main">
              <a:ext uri="{FF2B5EF4-FFF2-40B4-BE49-F238E27FC236}">
                <a16:creationId xmlns:a16="http://schemas.microsoft.com/office/drawing/2014/main" id="{CAA35D88-2331-4D24-899E-3EAC3BBE4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638800"/>
            <a:ext cx="962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324D"/>
                </a:solidFill>
              </a:defRPr>
            </a:pPr>
            <a:r>
              <a:rPr sz="1725" b="1">
                <a:solidFill>
                  <a:srgbClr val="17324D"/>
                </a:solidFill>
              </a:rPr>
              <a:t>tutorial専用の小さなmicro tuningは改善上限が小さい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05D591D5-A4CC-4473-808A-40107AD35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17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B85FB75A-39D3-47FA-8194-77D230E63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81651890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7CE9AEBF-E5EB-4D7C-BBC2-3BE70461A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性能が伸びにくい根拠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6D9BBF6-9DAF-4A2A-AFB9-EB7599ED3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7324D"/>
                </a:solidFill>
              </a:defRPr>
            </a:pPr>
            <a:r>
              <a:rPr sz="2625" b="1">
                <a:solidFill>
                  <a:srgbClr val="17324D"/>
                </a:solidFill>
              </a:rPr>
              <a:t>最新profileが現行tutorialの改善限界を示している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A043013C-C620-4BB9-8159-E6DA9F1FD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C52DE50A-E07E-4A0C-AC00-D494E7970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C504E3BE-318D-4779-98FC-B87FC340F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7085"/>
                </a:solidFill>
              </a:defRPr>
            </a:pPr>
            <a:r>
              <a:t>14</a:t>
            </a:r>
          </a:p>
        </p:txBody>
      </p:sp>
      <p:sp>
        <p:nvSpPr>
          <p:cNvPr id="6" name="profile-left-label">
            <a:extLst xmlns:a="http://schemas.openxmlformats.org/drawingml/2006/main">
              <a:ext uri="{FF2B5EF4-FFF2-40B4-BE49-F238E27FC236}">
                <a16:creationId xmlns:a16="http://schemas.microsoft.com/office/drawing/2014/main" id="{7344965C-16D7-430C-A27A-4BD188FD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381125"/>
            <a:ext cx="5191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69AA"/>
                </a:solidFill>
              </a:defRPr>
            </a:pPr>
            <a:r>
              <a:rPr sz="1500" b="1">
                <a:solidFill>
                  <a:srgbClr val="1769AA"/>
                </a:solidFill>
              </a:rPr>
              <a:t>Step 108｜採用sourceのcurrent timer</a:t>
            </a:r>
          </a:p>
        </p:txBody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23875" y="1714500"/>
          <a:ext xmlns:a="http://schemas.openxmlformats.org/drawingml/2006/main" cx="5619750" cy="3286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7a4ef2fc99249eb"/>
          </a:graphicData>
        </a:graphic>
      </p:graphicFrame>
      <p:sp>
        <p:nvSpPr>
          <p:cNvPr id="8" name="profile-right-label">
            <a:extLst xmlns:a="http://schemas.openxmlformats.org/drawingml/2006/main">
              <a:ext uri="{FF2B5EF4-FFF2-40B4-BE49-F238E27FC236}">
                <a16:creationId xmlns:a16="http://schemas.microsoft.com/office/drawing/2014/main" id="{201B979D-584C-475C-86A9-E0536C45D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381125"/>
            <a:ext cx="4857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C26A00"/>
                </a:solidFill>
              </a:defRPr>
            </a:pPr>
            <a:r>
              <a:rPr sz="1425" b="1">
                <a:solidFill>
                  <a:srgbClr val="C26A00"/>
                </a:solidFill>
              </a:rPr>
              <a:t>Step 91｜最新Nsight転送trace（旧Step 86 source）</a:t>
            </a:r>
          </a:p>
        </p:txBody>
      </p:sp>
      <p:sp>
        <p:nvSpPr>
          <p:cNvPr id="9" name="h2d-box">
            <a:extLst xmlns:a="http://schemas.openxmlformats.org/drawingml/2006/main">
              <a:ext uri="{FF2B5EF4-FFF2-40B4-BE49-F238E27FC236}">
                <a16:creationId xmlns:a16="http://schemas.microsoft.com/office/drawing/2014/main" id="{7E5BAF52-84EB-4E61-A1F0-14974C95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000250"/>
            <a:ext cx="45243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h2d">
            <a:extLst xmlns:a="http://schemas.openxmlformats.org/drawingml/2006/main">
              <a:ext uri="{FF2B5EF4-FFF2-40B4-BE49-F238E27FC236}">
                <a16:creationId xmlns:a16="http://schemas.microsoft.com/office/drawing/2014/main" id="{E6D5DE7F-B00A-4DE7-8508-56A45309C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190750"/>
            <a:ext cx="414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F2937"/>
                </a:solidFill>
              </a:defRPr>
            </a:pPr>
            <a:r>
              <a:rPr sz="1425" b="1">
                <a:solidFill>
                  <a:srgbClr val="1F2937"/>
                </a:solidFill>
              </a:rPr>
              <a:t>H2D　45,663回｜28,361 MB｜2.479秒</a:t>
            </a:r>
          </a:p>
        </p:txBody>
      </p:sp>
      <p:sp>
        <p:nvSpPr>
          <p:cNvPr id="11" name="d2h-box">
            <a:extLst xmlns:a="http://schemas.openxmlformats.org/drawingml/2006/main">
              <a:ext uri="{FF2B5EF4-FFF2-40B4-BE49-F238E27FC236}">
                <a16:creationId xmlns:a16="http://schemas.microsoft.com/office/drawing/2014/main" id="{6BEA3AC3-8736-410F-A305-035040492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905125"/>
            <a:ext cx="45243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d2h">
            <a:extLst xmlns:a="http://schemas.openxmlformats.org/drawingml/2006/main">
              <a:ext uri="{FF2B5EF4-FFF2-40B4-BE49-F238E27FC236}">
                <a16:creationId xmlns:a16="http://schemas.microsoft.com/office/drawing/2014/main" id="{7B2E8679-D05D-48B3-91C8-CFD0E94DF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095625"/>
            <a:ext cx="414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F2937"/>
                </a:solidFill>
              </a:defRPr>
            </a:pPr>
            <a:r>
              <a:rPr sz="1425" b="1">
                <a:solidFill>
                  <a:srgbClr val="1F2937"/>
                </a:solidFill>
              </a:rPr>
              <a:t>D2H　7,759回｜6,037 MB｜0.482秒</a:t>
            </a:r>
          </a:p>
        </p:txBody>
      </p:sp>
      <p:sp>
        <p:nvSpPr>
          <p:cNvPr id="13" name="sync-box">
            <a:extLst xmlns:a="http://schemas.openxmlformats.org/drawingml/2006/main">
              <a:ext uri="{FF2B5EF4-FFF2-40B4-BE49-F238E27FC236}">
                <a16:creationId xmlns:a16="http://schemas.microsoft.com/office/drawing/2014/main" id="{0B468C88-D22A-49A0-BF30-6BD92509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810000"/>
            <a:ext cx="45243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E5"/>
          </a:solidFill>
          <a:ln xmlns:a="http://schemas.openxmlformats.org/drawingml/2006/main" w="9525">
            <a:solidFill>
              <a:srgbClr val="C26A00"/>
            </a:solidFill>
            <a:prstDash val="solid"/>
          </a:ln>
        </p:spPr>
      </p:sp>
      <p:sp>
        <p:nvSpPr>
          <p:cNvPr id="14" name="sync">
            <a:extLst xmlns:a="http://schemas.openxmlformats.org/drawingml/2006/main">
              <a:ext uri="{FF2B5EF4-FFF2-40B4-BE49-F238E27FC236}">
                <a16:creationId xmlns:a16="http://schemas.microsoft.com/office/drawing/2014/main" id="{323B7F83-7F97-409F-804B-20D2FBF40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000500"/>
            <a:ext cx="414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C26A00"/>
                </a:solidFill>
              </a:defRPr>
            </a:pPr>
            <a:r>
              <a:rPr sz="1425" b="1">
                <a:solidFill>
                  <a:srgbClr val="C26A00"/>
                </a:solidFill>
              </a:rPr>
              <a:t>stream＋event同期API　17.236秒*</a:t>
            </a:r>
          </a:p>
        </p:txBody>
      </p:sp>
      <p:sp>
        <p:nvSpPr>
          <p:cNvPr id="15" name="sync-note">
            <a:extLst xmlns:a="http://schemas.openxmlformats.org/drawingml/2006/main">
              <a:ext uri="{FF2B5EF4-FFF2-40B4-BE49-F238E27FC236}">
                <a16:creationId xmlns:a16="http://schemas.microsoft.com/office/drawing/2014/main" id="{1032150F-29C6-4A9A-B99A-209741154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68630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667085"/>
                </a:solidFill>
              </a:defRPr>
            </a:pPr>
            <a:r>
              <a:rPr sz="1050" b="0">
                <a:solidFill>
                  <a:srgbClr val="667085"/>
                </a:solidFill>
              </a:rPr>
              <a:t>* overlapとprofiler overheadを含み、全てが削減可能時間ではない</a:t>
            </a:r>
          </a:p>
        </p:txBody>
      </p:sp>
      <p:sp>
        <p:nvSpPr>
          <p:cNvPr id="16" name="profile-conclusion">
            <a:extLst xmlns:a="http://schemas.openxmlformats.org/drawingml/2006/main">
              <a:ext uri="{FF2B5EF4-FFF2-40B4-BE49-F238E27FC236}">
                <a16:creationId xmlns:a16="http://schemas.microsoft.com/office/drawing/2014/main" id="{290841EA-820B-4E97-9A52-857D5D82A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334000"/>
            <a:ext cx="10572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9"/>
          </a:solidFill>
          <a:ln xmlns:a="http://schemas.openxmlformats.org/drawingml/2006/main" w="9525">
            <a:solidFill>
              <a:srgbClr val="1769AA"/>
            </a:solidFill>
            <a:prstDash val="solid"/>
          </a:ln>
        </p:spPr>
      </p:sp>
      <p:sp>
        <p:nvSpPr>
          <p:cNvPr id="17" name="profile-conclusion-text">
            <a:extLst xmlns:a="http://schemas.openxmlformats.org/drawingml/2006/main">
              <a:ext uri="{FF2B5EF4-FFF2-40B4-BE49-F238E27FC236}">
                <a16:creationId xmlns:a16="http://schemas.microsoft.com/office/drawing/2014/main" id="{1A88AD0C-1BB7-43DF-9511-FE9AB301D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7324D"/>
                </a:solidFill>
              </a:defRPr>
            </a:pPr>
            <a:r>
              <a:rPr sz="1575" b="1">
                <a:solidFill>
                  <a:srgbClr val="17324D"/>
                </a:solidFill>
              </a:rPr>
              <a:t>32 bands → 主要kernelは32 blocks。A100の108 SMを満たせず、追加offloadは境界overheadが勝ちやすい。</a:t>
            </a:r>
          </a:p>
        </p:txBody>
      </p:sp>
    </p:spTree>
    <p:extLst>
      <p:ext uri="{BB962C8B-B14F-4D97-AF65-F5344CB8AC3E}">
        <p14:creationId xmlns:p14="http://schemas.microsoft.com/office/powerpoint/2010/main" val="92714832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C3E93C04-F6BC-4774-A058-12E25F7B6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FPSEID21 TDDFT GPU化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B41CC7B-987C-4D49-A037-690F6B308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次の課題はproduction規模での再評価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5351C4A1-28DB-4BD6-B5A5-89731B68F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next-challenges">
            <a:extLst xmlns:a="http://schemas.openxmlformats.org/drawingml/2006/main">
              <a:ext uri="{FF2B5EF4-FFF2-40B4-BE49-F238E27FC236}">
                <a16:creationId xmlns:a16="http://schemas.microsoft.com/office/drawing/2014/main" id="{D3A56CDE-32BF-4087-9FE7-91352C77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61912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融合非局所kernelが主要な残存処理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Host処理、MPI境界、同期・転送が一部残存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tutorial入力は32 bandsでGPU並列度が不足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F2937"/>
                </a:solidFill>
              </a:defRPr>
            </a:pPr>
            <a:r>
              <a:rPr sz="1650" b="0">
                <a:solidFill>
                  <a:srgbClr val="1F2937"/>
                </a:solidFill>
              </a:rPr>
              <a:t>• production入力と対応する正解referenceが未準備</a:t>
            </a:r>
          </a:p>
        </p:txBody>
      </p:sp>
      <p:sp>
        <p:nvSpPr>
          <p:cNvPr id="5" name="next-actions-title">
            <a:extLst xmlns:a="http://schemas.openxmlformats.org/drawingml/2006/main">
              <a:ext uri="{FF2B5EF4-FFF2-40B4-BE49-F238E27FC236}">
                <a16:creationId xmlns:a16="http://schemas.microsoft.com/office/drawing/2014/main" id="{1CDDE931-09DC-4F66-9B88-4F0D2966C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571625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69AA"/>
                </a:solidFill>
              </a:defRPr>
            </a:pPr>
            <a:r>
              <a:rPr sz="1875" b="1">
                <a:solidFill>
                  <a:srgbClr val="1769AA"/>
                </a:solidFill>
              </a:rPr>
              <a:t>次の進め方</a:t>
            </a:r>
          </a:p>
        </p:txBody>
      </p:sp>
      <p:sp>
        <p:nvSpPr>
          <p:cNvPr id="6" name="next-actions">
            <a:extLst xmlns:a="http://schemas.openxmlformats.org/drawingml/2006/main">
              <a:ext uri="{FF2B5EF4-FFF2-40B4-BE49-F238E27FC236}">
                <a16:creationId xmlns:a16="http://schemas.microsoft.com/office/drawing/2014/main" id="{8D094D84-F2C8-4438-AEE1-31C23367E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95500"/>
            <a:ext cx="3714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F2937"/>
                </a:solidFill>
              </a:defRPr>
            </a:pPr>
            <a:r>
              <a:rPr sz="1575" b="0">
                <a:solidFill>
                  <a:srgbClr val="1F2937"/>
                </a:solidFill>
              </a:rPr>
              <a:t>1　production入力と正解referenceを準備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75" b="0">
                <a:solidFill>
                  <a:srgbClr val="1F2937"/>
                </a:solidFill>
              </a:defRPr>
            </a:pPr>
            <a:r>
              <a:rPr sz="1575" b="0">
                <a:solidFill>
                  <a:srgbClr val="1F2937"/>
                </a:solidFill>
              </a:rPr>
              <a:t>2　A100／H100の新baselineを作成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75" b="0">
                <a:solidFill>
                  <a:srgbClr val="1F2937"/>
                </a:solidFill>
              </a:defRPr>
            </a:pPr>
            <a:r>
              <a:rPr sz="1575" b="0">
                <a:solidFill>
                  <a:srgbClr val="1F2937"/>
                </a:solidFill>
              </a:rPr>
              <a:t>3　kernel・同期・転送量を再分類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75" b="0">
                <a:solidFill>
                  <a:srgbClr val="1F2937"/>
                </a:solidFill>
              </a:defRPr>
            </a:pPr>
            <a:r>
              <a:rPr sz="1575" b="0">
                <a:solidFill>
                  <a:srgbClr val="1F2937"/>
                </a:solidFill>
              </a:rPr>
              <a:t>4　根拠のある箇所を1仮説ずつ最適化</a:t>
            </a:r>
          </a:p>
        </p:txBody>
      </p:sp>
      <p:sp>
        <p:nvSpPr>
          <p:cNvPr id="7" name="next-stop">
            <a:extLst xmlns:a="http://schemas.openxmlformats.org/drawingml/2006/main">
              <a:ext uri="{FF2B5EF4-FFF2-40B4-BE49-F238E27FC236}">
                <a16:creationId xmlns:a16="http://schemas.microsoft.com/office/drawing/2014/main" id="{BB919C33-B6DF-43C5-BAF8-09E5D5327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476875"/>
            <a:ext cx="10287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E5"/>
          </a:solidFill>
          <a:ln xmlns:a="http://schemas.openxmlformats.org/drawingml/2006/main" w="9525">
            <a:solidFill>
              <a:srgbClr val="C26A00"/>
            </a:solidFill>
            <a:prstDash val="solid"/>
          </a:ln>
        </p:spPr>
      </p:sp>
      <p:sp>
        <p:nvSpPr>
          <p:cNvPr id="8" name="next-stop-text">
            <a:extLst xmlns:a="http://schemas.openxmlformats.org/drawingml/2006/main">
              <a:ext uri="{FF2B5EF4-FFF2-40B4-BE49-F238E27FC236}">
                <a16:creationId xmlns:a16="http://schemas.microsoft.com/office/drawing/2014/main" id="{944EBB0C-B018-4E14-92EC-77B9683E7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648325"/>
            <a:ext cx="971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26A00"/>
                </a:solidFill>
              </a:defRPr>
            </a:pPr>
            <a:r>
              <a:rPr sz="1650" b="1">
                <a:solidFill>
                  <a:srgbClr val="C26A00"/>
                </a:solidFill>
              </a:rPr>
              <a:t>新しいprofiler根拠なしにtutorialの微調整を再開しない</a:t>
            </a:r>
          </a:p>
        </p:txBody>
      </p:sp>
      <p:sp>
        <p:nvSpPr>
          <p:cNvPr id="9" name="footer-left">
            <a:extLst xmlns:a="http://schemas.openxmlformats.org/drawingml/2006/main">
              <a:ext uri="{FF2B5EF4-FFF2-40B4-BE49-F238E27FC236}">
                <a16:creationId xmlns:a16="http://schemas.microsoft.com/office/drawing/2014/main" id="{9F17B940-E24C-4155-A668-87F7F0507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1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EB54114B-B970-43B8-85AE-5A2A234F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81317401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8A8437B8-1555-4FE5-AA0A-E081FFFE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技術付録 A1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090992B-E59A-466B-A272-8F6F1BD06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正式baselineの識別情報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AFB81D52-1F2C-4840-A2FA-493925B89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714375" y="1666875"/>
          <a:ext xmlns:a="http://schemas.openxmlformats.org/drawingml/2006/main" cx="10763250" cy="2333625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690813"/>
                <a:gridCol w="2690813"/>
                <a:gridCol w="2690813"/>
                <a:gridCol w="2690813"/>
              </a:tblGrid>
              <a:tr h="583406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系列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logical step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revision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条件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</a:tr>
              <a:tr h="583406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F2937"/>
                          </a:solidFill>
                        </a:rPr>
                        <a:t>A100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F2937"/>
                          </a:solidFill>
                        </a:rPr>
                        <a:t>Step 107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F2937"/>
                          </a:solidFill>
                        </a:rPr>
                        <a:t>c46cfa9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F2937"/>
                          </a:solidFill>
                        </a:rPr>
                        <a:t>cc80、1 GPU / 1 MPI、diagnostic OFF</a:t>
                      </a:r>
                    </a:p>
                  </a:txBody>
                  <a:tcPr marL="91440" marR="91440" marT="45720" marB="45720"/>
                </a:tc>
              </a:tr>
              <a:tr h="583406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F2937"/>
                          </a:solidFill>
                        </a:rPr>
                        <a:t>H100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F2937"/>
                          </a:solidFill>
                        </a:rPr>
                        <a:t>Step 115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F2937"/>
                          </a:solidFill>
                        </a:rPr>
                        <a:t>e6ad059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F2937"/>
                          </a:solidFill>
                        </a:rPr>
                        <a:t>cc90、1 GPU / 1 MPI、diagnostic OFF</a:t>
                      </a:r>
                    </a:p>
                  </a:txBody>
                  <a:tcPr marL="91440" marR="91440" marT="45720" marB="45720"/>
                </a:tc>
              </a:tr>
              <a:tr h="583406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F2937"/>
                          </a:solidFill>
                        </a:rPr>
                        <a:t>x86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F2937"/>
                          </a:solidFill>
                        </a:rPr>
                        <a:t>formal baseline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F2937"/>
                          </a:solidFill>
                        </a:rPr>
                        <a:t>7318e59系列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F2937"/>
                          </a:solidFill>
                        </a:rPr>
                        <a:t>ifx/mpiifx、32 MPI × 8 OpenMP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baseline-head">
            <a:extLst xmlns:a="http://schemas.openxmlformats.org/drawingml/2006/main">
              <a:ext uri="{FF2B5EF4-FFF2-40B4-BE49-F238E27FC236}">
                <a16:creationId xmlns:a16="http://schemas.microsoft.com/office/drawing/2014/main" id="{92FF11A6-EAE6-4B10-98F3-7440D5C1F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14875"/>
            <a:ext cx="523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69AA"/>
                </a:solidFill>
              </a:defRPr>
            </a:pPr>
            <a:r>
              <a:rPr sz="1575" b="1">
                <a:solidFill>
                  <a:srgbClr val="1769AA"/>
                </a:solidFill>
              </a:rPr>
              <a:t>原稿更新根拠のコードHEAD: 4ef4d7e</a:t>
            </a:r>
          </a:p>
        </p:txBody>
      </p:sp>
      <p:sp>
        <p:nvSpPr>
          <p:cNvPr id="6" name="baseline-notes">
            <a:extLst xmlns:a="http://schemas.openxmlformats.org/drawingml/2006/main">
              <a:ext uri="{FF2B5EF4-FFF2-40B4-BE49-F238E27FC236}">
                <a16:creationId xmlns:a16="http://schemas.microsoft.com/office/drawing/2014/main" id="{B84AE194-B582-4643-AD1D-674BE16B0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91125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• GPUの採用済み数値計算経路はc46cfa9と一致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• H100とA100のbaselineは混合・置換しない</a:t>
            </a:r>
          </a:p>
        </p:txBody>
      </p:sp>
      <p:sp>
        <p:nvSpPr>
          <p:cNvPr id="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ADF00594-DBC8-4D0D-935F-2B9648C65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8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F67769A5-A013-499C-A33A-0FB54576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6615246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7C27FE8C-303F-49A5-9BFF-ADB88CA73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技術付録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628DA77-866A-42BF-8449-8BAED87F3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主な変更ファイル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3C9CAB06-CE9B-445A-9CAA-852EEA403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appendix-body-15">
            <a:extLst xmlns:a="http://schemas.openxmlformats.org/drawingml/2006/main">
              <a:ext uri="{FF2B5EF4-FFF2-40B4-BE49-F238E27FC236}">
                <a16:creationId xmlns:a16="http://schemas.microsoft.com/office/drawing/2014/main" id="{4F4B25FE-AA20-478E-AC0B-7C9ACEBD9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10572750" cy="457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tmevl10_Avec_v4.f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　S2、exkin、非局所kernel、P常駐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frprmn_tm12_check_Vext_Avec_v4.f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　COEF常駐、密度再構築、再利用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electf4_Vext_Avec.f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　ELECTF境界、EWALD、限定COEF常駐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fft_cufft.f / fpseid_cufft_wrap.c / fft_fftw.f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　device pointer版・batch版cuFFT、CPU fallback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vpj_gen.f / lib4_ASL_2_check_Vext_SXACE.f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　VPJ、LOCPOT、交換相関</a:t>
            </a:r>
          </a:p>
        </p:txBody>
      </p:sp>
      <p:sp>
        <p:nvSpPr>
          <p:cNvPr id="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373A585D-9CB8-4134-A065-D618AE3B5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7649AD84-8EBC-4EB9-A2CC-A3AC3298A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55313882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C28A243B-832E-4912-BF06-529BBDAA2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技術付録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4D8EA17-38E6-4889-8786-E7E0659E3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cuFFTをdevice pointer版へ変更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E561A741-E99C-4780-ADB6-8F8AA9E33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appendix-body-16">
            <a:extLst xmlns:a="http://schemas.openxmlformats.org/drawingml/2006/main">
              <a:ext uri="{FF2B5EF4-FFF2-40B4-BE49-F238E27FC236}">
                <a16:creationId xmlns:a16="http://schemas.microsoft.com/office/drawing/2014/main" id="{45939502-66A4-47C3-AF65-55E4D6522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10572750" cy="457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SUBROUTINE FFT3BX_fftwASL_ACC(...)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!$acc host_data use_device(RHOG)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call fpseid_cufft_exec_device(plancbp,RHOG,NG,1,ierr)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!$acc end host_data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・OpenACC管理配列のdevice pointerをcuFFTへ直接渡す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・forward FFTとbatch FFTにも同じ境界を使用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・CPU/FFTW側は互換entryを維持</a:t>
            </a:r>
          </a:p>
        </p:txBody>
      </p:sp>
      <p:sp>
        <p:nvSpPr>
          <p:cNvPr id="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EF2AF1C3-DDC9-497D-BAA2-F6E45C42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BB8939CB-C1E8-4B46-974A-FE8910DCC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37155684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B4B4E883-DF11-4BD4-B1F4-A1E102784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技術付録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CBD94E5-9182-432D-9446-43C78D49D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bandごとのFFTをbatch化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DC08A73B-0490-4879-81E5-7E5F3D80D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appendix-body-17">
            <a:extLst xmlns:a="http://schemas.openxmlformats.org/drawingml/2006/main">
              <a:ext uri="{FF2B5EF4-FFF2-40B4-BE49-F238E27FC236}">
                <a16:creationId xmlns:a16="http://schemas.microsoft.com/office/drawing/2014/main" id="{62BCD346-01F0-48AA-BCDC-02DB6CD48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10572750" cy="457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変更前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  do ib=nbegin,nend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    CALL FFT3BX_fftwASL_ACC(...,RHO1_(1,iib),...)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  enddo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変更後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  CALL FFT3BX_fftwASL_ACC_BATCH(...,nbndloc,RHO1_,RHO2_,...)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・複数bandをcufftPlanManyで一括実行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・wrapper呼出しと同期を削減</a:t>
            </a:r>
          </a:p>
        </p:txBody>
      </p:sp>
      <p:sp>
        <p:nvSpPr>
          <p:cNvPr id="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789A4963-06E2-4B98-B21A-0A6025CB8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8E769A55-258F-4BD1-AAFC-90E18FDF3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600018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7A04F031-BE36-4A40-BA87-5479E1B5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技術付録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2CF7A7A-DD23-49D0-ACCF-A10A2FCDC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非局所kernelで原子順序を保持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57BE41CC-FF60-40F6-AF84-6DFBFA7A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appendix-body-18">
            <a:extLst xmlns:a="http://schemas.openxmlformats.org/drawingml/2006/main">
              <a:ext uri="{FF2B5EF4-FFF2-40B4-BE49-F238E27FC236}">
                <a16:creationId xmlns:a16="http://schemas.microsoft.com/office/drawing/2014/main" id="{46B7FA34-5331-455D-AF14-AE5134DCB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10572750" cy="457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!$acc parallel loop gang vector_length(256)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do iib = 1, nbndloc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  !$acc loop seq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  do ia = 1, loopcnt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    ja = ia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    if (reverse_order) ja = loopcnt-ia+1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    ...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    !$acc loop vector reduction(+:sr,si)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    do ig = 1, ngnl(ja)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      ...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    end do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  end do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end do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・band間を並列化し、各band内の逐次ia適用順を維持</a:t>
            </a:r>
          </a:p>
        </p:txBody>
      </p:sp>
      <p:sp>
        <p:nvSpPr>
          <p:cNvPr id="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90E35C0-278C-4F00-917E-FC47F644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E1172A96-D25B-4716-8B9D-22F9B3061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10274895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FE65BC86-F47E-441C-940B-84BDE12DB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技術付録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DE0F755-5A6D-4071-959F-7685790A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OpenACC時の不要なHost復元を省略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0835735E-0F36-408B-9C68-8F30C9A7C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appendix-body-19">
            <a:extLst xmlns:a="http://schemas.openxmlformats.org/drawingml/2006/main">
              <a:ext uri="{FF2B5EF4-FFF2-40B4-BE49-F238E27FC236}">
                <a16:creationId xmlns:a16="http://schemas.microsoft.com/office/drawing/2014/main" id="{1E6F87B0-697B-44BF-B3DD-E5DCA59C4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10572750" cy="457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#ifndef _OPENACC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  call coefcp(coef0(1,1,ik0),coef(1,1,ik0),ng2q*nblng)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#endif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OpenACC経路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　device上のCOEF0が正本 → Host復元を省略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CPU/FFTW経路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　従来のHost copyを維持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結果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　約2.159秒 → 0.003秒</a:t>
            </a:r>
          </a:p>
        </p:txBody>
      </p:sp>
      <p:sp>
        <p:nvSpPr>
          <p:cNvPr id="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CC030E2C-5F25-48C1-AD51-9E05A230E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6BA8FED6-52F9-44A8-B8B3-23194377C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85999741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F9CA88DB-E3F0-4A90-BA57-85DB487E3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技術付録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DC46058-0ECD-4528-BA18-1A7B674F4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別テンプレートへ移す際の推奨手順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0EA63416-4344-42CB-BB44-338FB446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appendix-body-20">
            <a:extLst xmlns:a="http://schemas.openxmlformats.org/drawingml/2006/main">
              <a:ext uri="{FF2B5EF4-FFF2-40B4-BE49-F238E27FC236}">
                <a16:creationId xmlns:a16="http://schemas.microsoft.com/office/drawing/2014/main" id="{0F7DA07B-C705-490D-AB95-75C9AC79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10572750" cy="457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1　移行先テンプレートで新しいスライドを作成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2　本ファイルからタイトル、本文、図表をスライド単位でコピー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3　移行先のレイアウトに合わせて「貼り付け先のテーマを使用」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4　グラフと表はPowerPointオブジェクトのまま貼り付け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5　発表者ノートをコピーし、末尾の[Sources]も保持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本ファイルは背景画像、特殊フォント、複雑なマスター依存を使用していない。</a:t>
            </a:r>
          </a:p>
        </p:txBody>
      </p:sp>
      <p:sp>
        <p:nvSpPr>
          <p:cNvPr id="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AC5B6680-10B9-4E14-861D-129C9551A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940A4DE4-D609-453F-8BB5-1C30DC0D5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29838963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C20C4C20-8F1A-4000-8C56-B7DB3AEF7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技術付録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3D1357E-22AF-48AA-989A-BA64E0E2B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324D"/>
                </a:solidFill>
              </a:defRPr>
            </a:pPr>
            <a:r>
              <a:rPr sz="2700" b="1">
                <a:solidFill>
                  <a:srgbClr val="17324D"/>
                </a:solidFill>
              </a:rPr>
              <a:t>数値と実装情報の出典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607782F1-28B2-42F3-A772-B7611A35E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solidFill>
              <a:srgbClr val="1769AA"/>
            </a:solidFill>
            <a:prstDash val="solid"/>
          </a:ln>
        </p:spPr>
      </p:sp>
      <p:sp>
        <p:nvSpPr>
          <p:cNvPr id="4" name="appendix-body-21">
            <a:extLst xmlns:a="http://schemas.openxmlformats.org/drawingml/2006/main">
              <a:ext uri="{FF2B5EF4-FFF2-40B4-BE49-F238E27FC236}">
                <a16:creationId xmlns:a16="http://schemas.microsoft.com/office/drawing/2014/main" id="{098B2947-1F0B-4B75-851E-6B99CFD4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10572750" cy="457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正式baseline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　docs/PERFORMANCE_BASELINE.md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採否と各Stepの履歴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　docs/EXPERIMENT_LOG.md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現在地点と保留事項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　docs/HANDOFF.md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GPU化率と実装履歴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　docs/tddft_gpu_progress_summary_ja.md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原稿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　docs/POWERPOINT_GPU_IMPLEMENTATION_SUMMARY_JA.md</a:t>
            </a:r>
          </a:p>
        </p:txBody>
      </p:sp>
      <p:sp>
        <p:nvSpPr>
          <p:cNvPr id="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302D539D-B291-4671-9D0B-2DAD36824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FPSEID21 TDDFT GPU化｜2026-08-04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9832C4F7-FB58-48DC-A06F-937A346AA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29032637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2026-08-04T00:24:43.1390000Z</dcterms:created>
  <dcterms:modified xsi:type="dcterms:W3CDTF">2026-08-04T00:24:43.1390000Z</dcterms:modified>
</coreProperties>
</file>