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3f38dc7c254885" /><Relationship Type="http://schemas.openxmlformats.org/officeDocument/2006/relationships/extended-properties" Target="/docProps/app.xml" Id="Redcfe19a437c4165" /><Relationship Type="http://schemas.openxmlformats.org/officeDocument/2006/relationships/officeDocument" Target="/ppt/presentation.xml" Id="R5a3f83d3993647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a4fcc8ab4c48ca"/>
  </p:sldMasterIdLst>
  <p:notesMasterIdLst>
    <p:notesMasterId xmlns:r="http://schemas.openxmlformats.org/officeDocument/2006/relationships" r:id="R7607fe44fdc34ee0"/>
  </p:notesMasterIdLst>
  <p:sldIdLst>
    <p:sldId xmlns:r="http://schemas.openxmlformats.org/officeDocument/2006/relationships" id="256" r:id="Rc61ce58caf3a4b5b"/>
    <p:sldId xmlns:r="http://schemas.openxmlformats.org/officeDocument/2006/relationships" id="257" r:id="R7c02b2f771d14f57"/>
    <p:sldId xmlns:r="http://schemas.openxmlformats.org/officeDocument/2006/relationships" id="258" r:id="R4a5d64747ca9480e"/>
    <p:sldId xmlns:r="http://schemas.openxmlformats.org/officeDocument/2006/relationships" id="259" r:id="R4f849cbfb27d4c87"/>
    <p:sldId xmlns:r="http://schemas.openxmlformats.org/officeDocument/2006/relationships" id="260" r:id="Ra89a5e1993a34bfb"/>
    <p:sldId xmlns:r="http://schemas.openxmlformats.org/officeDocument/2006/relationships" id="261" r:id="Rc2f20bfbf9024cae"/>
    <p:sldId xmlns:r="http://schemas.openxmlformats.org/officeDocument/2006/relationships" id="262" r:id="Rdf83ee65699f4d67"/>
    <p:sldId xmlns:r="http://schemas.openxmlformats.org/officeDocument/2006/relationships" id="263" r:id="R9a9afeaa80464cf0"/>
    <p:sldId xmlns:r="http://schemas.openxmlformats.org/officeDocument/2006/relationships" id="264" r:id="Rca08a56cc27d4595"/>
    <p:sldId xmlns:r="http://schemas.openxmlformats.org/officeDocument/2006/relationships" id="265" r:id="Rdb4e5ed7ca494a1d"/>
    <p:sldId xmlns:r="http://schemas.openxmlformats.org/officeDocument/2006/relationships" id="266" r:id="R5e4cff6398644e25"/>
    <p:sldId xmlns:r="http://schemas.openxmlformats.org/officeDocument/2006/relationships" id="267" r:id="Rd8bd19f6d25f48fe"/>
    <p:sldId xmlns:r="http://schemas.openxmlformats.org/officeDocument/2006/relationships" id="268" r:id="R2a132469a77d47ba"/>
    <p:sldId xmlns:r="http://schemas.openxmlformats.org/officeDocument/2006/relationships" id="269" r:id="R7dd1cb7146be4b21"/>
    <p:sldId xmlns:r="http://schemas.openxmlformats.org/officeDocument/2006/relationships" id="270" r:id="Rb04844cca4324c43"/>
    <p:sldId xmlns:r="http://schemas.openxmlformats.org/officeDocument/2006/relationships" id="271" r:id="R3fca8a1d30d84759"/>
    <p:sldId xmlns:r="http://schemas.openxmlformats.org/officeDocument/2006/relationships" id="272" r:id="R5b3198d4cca147e0"/>
    <p:sldId xmlns:r="http://schemas.openxmlformats.org/officeDocument/2006/relationships" id="273" r:id="R3d5065aab6ed4a28"/>
    <p:sldId xmlns:r="http://schemas.openxmlformats.org/officeDocument/2006/relationships" id="274" r:id="R8a31fa6ef2614905"/>
    <p:sldId xmlns:r="http://schemas.openxmlformats.org/officeDocument/2006/relationships" id="275" r:id="R570d08dcb7b44dc7"/>
    <p:sldId xmlns:r="http://schemas.openxmlformats.org/officeDocument/2006/relationships" id="276" r:id="Rb025deb8c9b344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8000c369374f85" /><Relationship Type="http://schemas.openxmlformats.org/officeDocument/2006/relationships/slideMaster" Target="/ppt/slideMasters/slideMaster1.xml" Id="R68a4fcc8ab4c48ca" /><Relationship Type="http://schemas.openxmlformats.org/officeDocument/2006/relationships/notesMaster" Target="/ppt/notesMasters/notesMaster1.xml" Id="R7607fe44fdc34ee0" /><Relationship Type="http://schemas.openxmlformats.org/officeDocument/2006/relationships/presProps" Target="/ppt/presProps.xml" Id="Rc2a8b39d4d4d4e76" /><Relationship Type="http://schemas.openxmlformats.org/officeDocument/2006/relationships/tableStyles" Target="/ppt/tableStyles.xml" Id="R210e400f79df4322" /><Relationship Type="http://schemas.openxmlformats.org/officeDocument/2006/relationships/slide" Target="/ppt/slides/slide1.xml" Id="Rc61ce58caf3a4b5b" /><Relationship Type="http://schemas.openxmlformats.org/officeDocument/2006/relationships/slide" Target="/ppt/slides/slide2.xml" Id="R7c02b2f771d14f57" /><Relationship Type="http://schemas.openxmlformats.org/officeDocument/2006/relationships/slide" Target="/ppt/slides/slide3.xml" Id="R4a5d64747ca9480e" /><Relationship Type="http://schemas.openxmlformats.org/officeDocument/2006/relationships/slide" Target="/ppt/slides/slide4.xml" Id="R4f849cbfb27d4c87" /><Relationship Type="http://schemas.openxmlformats.org/officeDocument/2006/relationships/slide" Target="/ppt/slides/slide5.xml" Id="Ra89a5e1993a34bfb" /><Relationship Type="http://schemas.openxmlformats.org/officeDocument/2006/relationships/slide" Target="/ppt/slides/slide6.xml" Id="Rc2f20bfbf9024cae" /><Relationship Type="http://schemas.openxmlformats.org/officeDocument/2006/relationships/slide" Target="/ppt/slides/slide7.xml" Id="Rdf83ee65699f4d67" /><Relationship Type="http://schemas.openxmlformats.org/officeDocument/2006/relationships/slide" Target="/ppt/slides/slide8.xml" Id="R9a9afeaa80464cf0" /><Relationship Type="http://schemas.openxmlformats.org/officeDocument/2006/relationships/slide" Target="/ppt/slides/slide9.xml" Id="Rca08a56cc27d4595" /><Relationship Type="http://schemas.openxmlformats.org/officeDocument/2006/relationships/slide" Target="/ppt/slides/slide10.xml" Id="Rdb4e5ed7ca494a1d" /><Relationship Type="http://schemas.openxmlformats.org/officeDocument/2006/relationships/slide" Target="/ppt/slides/slide11.xml" Id="R5e4cff6398644e25" /><Relationship Type="http://schemas.openxmlformats.org/officeDocument/2006/relationships/slide" Target="/ppt/slides/slide12.xml" Id="Rd8bd19f6d25f48fe" /><Relationship Type="http://schemas.openxmlformats.org/officeDocument/2006/relationships/slide" Target="/ppt/slides/slide13.xml" Id="R2a132469a77d47ba" /><Relationship Type="http://schemas.openxmlformats.org/officeDocument/2006/relationships/slide" Target="/ppt/slides/slide14.xml" Id="R7dd1cb7146be4b21" /><Relationship Type="http://schemas.openxmlformats.org/officeDocument/2006/relationships/slide" Target="/ppt/slides/slide15.xml" Id="Rb04844cca4324c43" /><Relationship Type="http://schemas.openxmlformats.org/officeDocument/2006/relationships/slide" Target="/ppt/slides/slide16.xml" Id="R3fca8a1d30d84759" /><Relationship Type="http://schemas.openxmlformats.org/officeDocument/2006/relationships/slide" Target="/ppt/slides/slide17.xml" Id="R5b3198d4cca147e0" /><Relationship Type="http://schemas.openxmlformats.org/officeDocument/2006/relationships/slide" Target="/ppt/slides/slide18.xml" Id="R3d5065aab6ed4a28" /><Relationship Type="http://schemas.openxmlformats.org/officeDocument/2006/relationships/slide" Target="/ppt/slides/slide19.xml" Id="R8a31fa6ef2614905" /><Relationship Type="http://schemas.openxmlformats.org/officeDocument/2006/relationships/slide" Target="/ppt/slides/slide20.xml" Id="R570d08dcb7b44dc7" /><Relationship Type="http://schemas.openxmlformats.org/officeDocument/2006/relationships/slide" Target="/ppt/slides/slide21.xml" Id="Rb025deb8c9b344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1d91c5f33d4b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cfd34c45b442d7" /><Relationship Type="http://schemas.openxmlformats.org/officeDocument/2006/relationships/notesMaster" Target="/ppt/notesMasters/notesMaster1.xml" Id="R08c4c20afe7940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1b25919fcc4305" /><Relationship Type="http://schemas.openxmlformats.org/officeDocument/2006/relationships/notesMaster" Target="/ppt/notesMasters/notesMaster1.xml" Id="R2ac48d8699ee49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60c879907d480a" /><Relationship Type="http://schemas.openxmlformats.org/officeDocument/2006/relationships/notesMaster" Target="/ppt/notesMasters/notesMaster1.xml" Id="R0083452570e94e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d24a4e0a5146fd" /><Relationship Type="http://schemas.openxmlformats.org/officeDocument/2006/relationships/notesMaster" Target="/ppt/notesMasters/notesMaster1.xml" Id="Re2b70e9fa40f46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719ce69007443b" /><Relationship Type="http://schemas.openxmlformats.org/officeDocument/2006/relationships/notesMaster" Target="/ppt/notesMasters/notesMaster1.xml" Id="Rf89c6fbf3d2c4f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9026fb77ea4d10" /><Relationship Type="http://schemas.openxmlformats.org/officeDocument/2006/relationships/notesMaster" Target="/ppt/notesMasters/notesMaster1.xml" Id="R32c5f3faec304e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0011c2e3f741a7" /><Relationship Type="http://schemas.openxmlformats.org/officeDocument/2006/relationships/notesMaster" Target="/ppt/notesMasters/notesMaster1.xml" Id="Rd3dbbb1bfc8c4d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4cd1660e7f4b72" /><Relationship Type="http://schemas.openxmlformats.org/officeDocument/2006/relationships/notesMaster" Target="/ppt/notesMasters/notesMaster1.xml" Id="Rab105db8ffc14f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17f4fded74470e" /><Relationship Type="http://schemas.openxmlformats.org/officeDocument/2006/relationships/notesMaster" Target="/ppt/notesMasters/notesMaster1.xml" Id="Rb85be85b42974d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566b21a24b4002" /><Relationship Type="http://schemas.openxmlformats.org/officeDocument/2006/relationships/notesMaster" Target="/ppt/notesMasters/notesMaster1.xml" Id="R4e7a3396ecb94d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30221850b64b51" /><Relationship Type="http://schemas.openxmlformats.org/officeDocument/2006/relationships/notesMaster" Target="/ppt/notesMasters/notesMaster1.xml" Id="Rad61b14a8b09472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b0fb55687c408f" /><Relationship Type="http://schemas.openxmlformats.org/officeDocument/2006/relationships/notesMaster" Target="/ppt/notesMasters/notesMaster1.xml" Id="R27a62841f8ea48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d48ee2b51954a4f" /><Relationship Type="http://schemas.openxmlformats.org/officeDocument/2006/relationships/notesMaster" Target="/ppt/notesMasters/notesMaster1.xml" Id="Rf96587444c634b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861efacab24558" /><Relationship Type="http://schemas.openxmlformats.org/officeDocument/2006/relationships/notesMaster" Target="/ppt/notesMasters/notesMaster1.xml" Id="Rd8bdae04a6ed4b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00d8eaddb24f04" /><Relationship Type="http://schemas.openxmlformats.org/officeDocument/2006/relationships/notesMaster" Target="/ppt/notesMasters/notesMaster1.xml" Id="Rfe69fe3877f246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7410efdc3f4f18" /><Relationship Type="http://schemas.openxmlformats.org/officeDocument/2006/relationships/notesMaster" Target="/ppt/notesMasters/notesMaster1.xml" Id="R54de0b189d7746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3f98a7941f14913" /><Relationship Type="http://schemas.openxmlformats.org/officeDocument/2006/relationships/notesMaster" Target="/ppt/notesMasters/notesMaster1.xml" Id="R0d2bf80ded0f49c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0b7675e61e14728" /><Relationship Type="http://schemas.openxmlformats.org/officeDocument/2006/relationships/notesMaster" Target="/ppt/notesMasters/notesMaster1.xml" Id="Re99ea30886964a2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6b4ab232514de7" /><Relationship Type="http://schemas.openxmlformats.org/officeDocument/2006/relationships/notesMaster" Target="/ppt/notesMasters/notesMaster1.xml" Id="Rb67e9ac39219422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9b07570c78c420c" /><Relationship Type="http://schemas.openxmlformats.org/officeDocument/2006/relationships/notesMaster" Target="/ppt/notesMasters/notesMaster1.xml" Id="Rdd5b92f8634a44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96a9ba31e244b48" /><Relationship Type="http://schemas.openxmlformats.org/officeDocument/2006/relationships/notesMaster" Target="/ppt/notesMasters/notesMaster1.xml" Id="R84c845efe11c4f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GPU kernelの追加だけでなく、配列常駐、FFT batch化、同期削減を一体で進めた成果を説明する。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docs/POWERPOINT_GPU_IMPLEMENTATION_SUMMARY_JA.md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A100はStep 107、H100はStep 115。採用済み数値sourceはc46cfa9である。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docs/PROGRESS_REPORT_2026-07-31_JA.md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最新HEADを自動的に正式baselineとせず、数値source、測定revision、ハードウェア系列を分けて管理している。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docs/VALIDATION_WORKFLOW.md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初期版はFFTごとにHostへ戻していた。現在はOpenACC data region内でkernelとcuFFTをつなぐ。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docs/tddft_gpu_residency_plan_ja.md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66.7%はsource candidate siteの対応率であり、GPU使用率や処理時間比率ではない。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docs/tddft_gpu_progress_summary_ja.md</a:t>
            </a:r>
          </a:p>
          <a:p xmlns:a="http://schemas.openxmlformats.org/drawingml/2006/main">
            <a:r>
              <a:t>- tools/report_tddft_source_gpu_index.sh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個別FFT呼出しをbatch化し、wrapper呼出しは43,949回から14,685回へ減少した。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docs/POWERPOINT_GPU_IMPLEMENTATION_SUMMARY_JA.md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融合非局所kernelは改善後も主要な残存コストである。数学的順序を変えずに起動回数を減らした。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docs/tddft_gpu_progress_summary_ja.md</a:t>
            </a:r>
          </a:p>
          <a:p xmlns:a="http://schemas.openxmlformats.org/drawingml/2006/main">
            <a:r>
              <a:t>- FPSEID21/tddft_2022October/tmevl10_Avec_v4.f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107で提案したSEPPOTF batch経路はtutorial入力では非活性であり、採用効果へ数えない。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docs/HANDOFF.md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HostとDeviceのauthorityをroutine境界ごとに整理した。managed/unified memoryは正式設定より2倍以上遅かった。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docs/tddft_gpu_residency_plan_ja.md</a:t>
            </a:r>
          </a:p>
          <a:p xmlns:a="http://schemas.openxmlformats.org/drawingml/2006/main">
            <a:r>
              <a:t>- docs/EXPERIMENT_LOG.md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診断runは含めず、A100の採用系列だけを表示している。Step 107は限定COEF常駐の効果。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A100、H100、x86は独立baseline。x86は16 MPI × 1 OpenMPの29.352秒から16.539秒へ短縮した。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docs/PROGRESS_REPORT_2026-07-31_JA.md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採否は正しさだけでなく、同一条件の3回中央値とrun幅を見て判断した。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docs/HANDOFF.md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116の仮説は未選定。MPSとGPU側MPI rank増加は調査のみで終了し、実行対象にしない。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docs/PROGRESS_REPORT_2026-07-31_JA.md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HEADには文書、検証、x86測定支援を含む。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最新コードの主要な実装位置を示す。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</a:t>
            </a:r>
          </a:p>
          <a:p xmlns:a="http://schemas.openxmlformats.org/drawingml/2006/main">
            <a:r>
              <a:t>- docs/POWERPOINT_GPU_IMPLEMENTATION_SUMMARY_JA.md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コードは説明用に宣言と変更のない箇所を省略している。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FPSEID21/tddft_2022October/fft_cufft.f</a:t>
            </a:r>
          </a:p>
          <a:p xmlns:a="http://schemas.openxmlformats.org/drawingml/2006/main">
            <a:r>
              <a:t>- FPSEID21/tddft_2022October/fft_fftw.f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PowerPoint上でコードは通常のテキストボックスとして編集できる。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FPSEID21/tddft_2022October/tmevl10_Avec_v4.f</a:t>
            </a:r>
          </a:p>
          <a:p xmlns:a="http://schemas.openxmlformats.org/drawingml/2006/main">
            <a:r>
              <a:t>- FPSEID21/tddft_2022October/fft_cufft.f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forward/reverseの数値順序を維持したkernel融合である。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FPSEID21/tddft_2022October/tmevl10_Avec_v4.f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authorityを明確にしたうえでGPU経路だけ不要処理を外した。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FPSEID21/tddft_2022October/frprmn_tm12_check_Vext_Avec_v4.f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移し替えやすさを優先したシンプルな編集可能構成である。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docs/POWERPOINT_GPU_IMPLEMENTATION_SUMMARY_JA.md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更新時はPowerPointだけでなく、これら正本文書も同時に確認する。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80dc81af104f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eb6ad8b12c42a2" /><Relationship Type="http://schemas.openxmlformats.org/officeDocument/2006/relationships/slideLayout" Target="/ppt/slideLayouts/slideLayout1.xml" Id="R5df34aad34f545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f34aad34f545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53a4041ca43c6" /><Relationship Type="http://schemas.openxmlformats.org/officeDocument/2006/relationships/notesSlide" Target="/ppt/notesSlides/notesSlide1.xml" Id="R48c0612d9f5c4e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80c011c3244af" /><Relationship Type="http://schemas.openxmlformats.org/officeDocument/2006/relationships/notesSlide" Target="/ppt/notesSlides/notesSlide2.xml" Id="R202a9843cd5a40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2bd5386364c91" /><Relationship Type="http://schemas.openxmlformats.org/officeDocument/2006/relationships/notesSlide" Target="/ppt/notesSlides/notesSlide3.xml" Id="R8930665f6e7044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aafe095514b38" /><Relationship Type="http://schemas.openxmlformats.org/officeDocument/2006/relationships/notesSlide" Target="/ppt/notesSlides/notesSlide4.xml" Id="Rea6ba38fa44d43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0ab9c7fe04f2b" /><Relationship Type="http://schemas.openxmlformats.org/officeDocument/2006/relationships/notesSlide" Target="/ppt/notesSlides/notesSlide5.xml" Id="Rc1cc94e1111c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bc4ff5ff34f8d" /><Relationship Type="http://schemas.openxmlformats.org/officeDocument/2006/relationships/notesSlide" Target="/ppt/notesSlides/notesSlide6.xml" Id="Rb7e5825a36b648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748fbac4a4622" /><Relationship Type="http://schemas.openxmlformats.org/officeDocument/2006/relationships/notesSlide" Target="/ppt/notesSlides/notesSlide7.xml" Id="Rd2aa2587ef0d4a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c684ffcbc4ffa" /><Relationship Type="http://schemas.openxmlformats.org/officeDocument/2006/relationships/notesSlide" Target="/ppt/notesSlides/notesSlide8.xml" Id="Re7175d8ef5b645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c8c5111d344d1" /><Relationship Type="http://schemas.openxmlformats.org/officeDocument/2006/relationships/notesSlide" Target="/ppt/notesSlides/notesSlide9.xml" Id="R2435c04310d54c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f4f3cac624843" /><Relationship Type="http://schemas.openxmlformats.org/officeDocument/2006/relationships/chart" Target="/ppt/slides/charts/chart1.xml" Id="R546a185de86648c5" /><Relationship Type="http://schemas.openxmlformats.org/officeDocument/2006/relationships/notesSlide" Target="/ppt/notesSlides/notesSlide10.xml" Id="Rfdd704e566be45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2c59996704ebf" /><Relationship Type="http://schemas.openxmlformats.org/officeDocument/2006/relationships/notesSlide" Target="/ppt/notesSlides/notesSlide11.xml" Id="R213ae27ce50544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71ad80d4042d2" /><Relationship Type="http://schemas.openxmlformats.org/officeDocument/2006/relationships/notesSlide" Target="/ppt/notesSlides/notesSlide12.xml" Id="R6649b9ab0acd4e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f0e8664a74b68" /><Relationship Type="http://schemas.openxmlformats.org/officeDocument/2006/relationships/notesSlide" Target="/ppt/notesSlides/notesSlide13.xml" Id="Rd303fb49fa4541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b9e3355c64dd9" /><Relationship Type="http://schemas.openxmlformats.org/officeDocument/2006/relationships/notesSlide" Target="/ppt/notesSlides/notesSlide14.xml" Id="R6f9d3e96d64244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aba2bbd604f0f" /><Relationship Type="http://schemas.openxmlformats.org/officeDocument/2006/relationships/notesSlide" Target="/ppt/notesSlides/notesSlide15.xml" Id="R3a6b296e79ab48b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4deb65c0a41ca" /><Relationship Type="http://schemas.openxmlformats.org/officeDocument/2006/relationships/notesSlide" Target="/ppt/notesSlides/notesSlide16.xml" Id="Rd55ab995e0294af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6375254134232" /><Relationship Type="http://schemas.openxmlformats.org/officeDocument/2006/relationships/notesSlide" Target="/ppt/notesSlides/notesSlide17.xml" Id="R7e4e3b558a3b49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8ee66c13f4f04" /><Relationship Type="http://schemas.openxmlformats.org/officeDocument/2006/relationships/notesSlide" Target="/ppt/notesSlides/notesSlide18.xml" Id="R4b896f5183424ea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f29904d544b50" /><Relationship Type="http://schemas.openxmlformats.org/officeDocument/2006/relationships/notesSlide" Target="/ppt/notesSlides/notesSlide19.xml" Id="R04dab341266b44b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ee41793684798" /><Relationship Type="http://schemas.openxmlformats.org/officeDocument/2006/relationships/notesSlide" Target="/ppt/notesSlides/notesSlide20.xml" Id="R63fa999b69634ac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974eff27e41b2" /><Relationship Type="http://schemas.openxmlformats.org/officeDocument/2006/relationships/notesSlide" Target="/ppt/notesSlides/notesSlide21.xml" Id="Ra0d15e7d2665475b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100-step wall (秒)</c:v>
          </c:tx>
          <c:spPr>
            <a:ln xmlns:a="http://schemas.openxmlformats.org/drawingml/2006/main" w="38100">
              <a:solidFill>
                <a:srgbClr val="1769AA"/>
              </a:solidFill>
              <a:prstDash val="solid"/>
            </a:ln>
          </c:spPr>
          <c:marker>
            <c:symbol val="circle"/>
            <c:size val="8"/>
          </c:marker>
          <c:cat>
            <c:numLit>
              <c:formatCode>General</c:formatCode>
              <c:ptCount val="11"/>
              <c:pt idx="0">
                <c:v>21</c:v>
              </c:pt>
              <c:pt idx="1">
                <c:v>25</c:v>
              </c:pt>
              <c:pt idx="2">
                <c:v>33</c:v>
              </c:pt>
              <c:pt idx="3">
                <c:v>37</c:v>
              </c:pt>
              <c:pt idx="4">
                <c:v>52</c:v>
              </c:pt>
              <c:pt idx="5">
                <c:v>57</c:v>
              </c:pt>
              <c:pt idx="6">
                <c:v>80</c:v>
              </c:pt>
              <c:pt idx="7">
                <c:v>86</c:v>
              </c:pt>
              <c:pt idx="8">
                <c:v>99</c:v>
              </c:pt>
              <c:pt idx="9">
                <c:v>102</c:v>
              </c:pt>
              <c:pt idx="10">
                <c:v>107</c:v>
              </c:pt>
            </c:numLit>
          </c:cat>
          <c:val>
            <c:numLit>
              <c:formatCode>0.000</c:formatCode>
              <c:ptCount val="11"/>
              <c:pt idx="0">
                <c:v>146.54</c:v>
              </c:pt>
              <c:pt idx="1">
                <c:v>130.608</c:v>
              </c:pt>
              <c:pt idx="2">
                <c:v>116.125</c:v>
              </c:pt>
              <c:pt idx="3">
                <c:v>108.096</c:v>
              </c:pt>
              <c:pt idx="4">
                <c:v>73.437</c:v>
              </c:pt>
              <c:pt idx="5">
                <c:v>71.291</c:v>
              </c:pt>
              <c:pt idx="6">
                <c:v>67.421</c:v>
              </c:pt>
              <c:pt idx="7">
                <c:v>66.502</c:v>
              </c:pt>
              <c:pt idx="8">
                <c:v>64.302</c:v>
              </c:pt>
              <c:pt idx="9">
                <c:v>63.839</c:v>
              </c:pt>
              <c:pt idx="10">
                <c:v>63.214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667085"/>
                    </a:solidFill>
                  </a:rPr>
                  <a:t>Logical step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60"/>
          <c:min val="5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5E1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667085"/>
                    </a:solidFill>
                  </a:rPr>
                  <a:t>実行時間（秒）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cent-bar">
            <a:extLst xmlns:a="http://schemas.openxmlformats.org/drawingml/2006/main">
              <a:ext uri="{FF2B5EF4-FFF2-40B4-BE49-F238E27FC236}">
                <a16:creationId xmlns:a16="http://schemas.microsoft.com/office/drawing/2014/main" id="{A7E1FDBF-1A06-455F-B5A7-2AB9497C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97790E37-37E2-47E1-953A-255B905D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981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324D"/>
                </a:solidFill>
              </a:defRPr>
            </a:pPr>
            <a:r>
              <a:rPr sz="3900" b="1">
                <a:solidFill>
                  <a:srgbClr val="17324D"/>
                </a:solidFill>
              </a:rPr>
              <a:t>FPSEID21 TDDFTの</a:t>
            </a:r>
          </a:p>
          <a:p xmlns:a="http://schemas.openxmlformats.org/drawingml/2006/main">
            <a:pPr algn="l">
              <a:defRPr sz="3900" b="1">
                <a:solidFill>
                  <a:srgbClr val="17324D"/>
                </a:solidFill>
              </a:defRPr>
            </a:pPr>
            <a:r>
              <a:rPr sz="3900" b="1">
                <a:solidFill>
                  <a:srgbClr val="17324D"/>
                </a:solidFill>
              </a:rPr>
              <a:t>OpenACC／cuFFTによるGPU化</a:t>
            </a:r>
          </a:p>
        </p:txBody>
      </p:sp>
      <p:sp>
        <p:nvSpPr>
          <p:cNvPr id="3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12481F63-8713-4B3A-AB1E-F809D1A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主要計算のGPU化、データ常駐化、各プラットフォームの性能評価</a:t>
            </a:r>
          </a:p>
        </p:txBody>
      </p:sp>
      <p:sp>
        <p:nvSpPr>
          <p:cNvPr id="4" name="deck-date">
            <a:extLst xmlns:a="http://schemas.openxmlformats.org/drawingml/2006/main">
              <a:ext uri="{FF2B5EF4-FFF2-40B4-BE49-F238E27FC236}">
                <a16:creationId xmlns:a16="http://schemas.microsoft.com/office/drawing/2014/main" id="{249D71A4-B3A2-4FAA-B97C-823ADA50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2026年8月4日</a:t>
            </a:r>
          </a:p>
        </p:txBody>
      </p:sp>
      <p:sp>
        <p:nvSpPr>
          <p:cNvPr id="5" name="deck-scope">
            <a:extLst xmlns:a="http://schemas.openxmlformats.org/drawingml/2006/main">
              <a:ext uri="{FF2B5EF4-FFF2-40B4-BE49-F238E27FC236}">
                <a16:creationId xmlns:a16="http://schemas.microsoft.com/office/drawing/2014/main" id="{CD76A86E-8583-4CFE-84A9-D84752D2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9AA"/>
                </a:solidFill>
              </a:defRPr>
            </a:pPr>
            <a:r>
              <a:rPr sz="1275" b="1">
                <a:solidFill>
                  <a:srgbClr val="1769AA"/>
                </a:solidFill>
              </a:rPr>
              <a:t>Si111-H｜TDDFT 100 steps｜diagnostic OFF</a:t>
            </a:r>
          </a:p>
        </p:txBody>
      </p:sp>
      <p:sp>
        <p:nvSpPr>
          <p:cNvPr id="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5E2EE30-DD44-4A8C-AA85-D3B8608F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34D4EC1-8B60-43D8-B026-A4E99FA3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62622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820225F-31DB-408E-B483-D3411DF3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E3C5F7-53F0-4404-9C3D-870E83A9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主要な時間発展処理をGPUへ移し、A100で約2.32倍高速化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6820995-D072-4946-8A30-45D8172C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100-value">
            <a:extLst xmlns:a="http://schemas.openxmlformats.org/drawingml/2006/main">
              <a:ext uri="{FF2B5EF4-FFF2-40B4-BE49-F238E27FC236}">
                <a16:creationId xmlns:a16="http://schemas.microsoft.com/office/drawing/2014/main" id="{2D1C57EF-370D-4669-9848-5A312DA7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69AA"/>
                </a:solidFill>
              </a:defRPr>
            </a:pPr>
            <a:r>
              <a:rPr sz="2850" b="1">
                <a:solidFill>
                  <a:srgbClr val="1769AA"/>
                </a:solidFill>
              </a:rPr>
              <a:t>63.214秒</a:t>
            </a:r>
          </a:p>
        </p:txBody>
      </p:sp>
      <p:sp>
        <p:nvSpPr>
          <p:cNvPr id="5" name="a100-label">
            <a:extLst xmlns:a="http://schemas.openxmlformats.org/drawingml/2006/main">
              <a:ext uri="{FF2B5EF4-FFF2-40B4-BE49-F238E27FC236}">
                <a16:creationId xmlns:a16="http://schemas.microsoft.com/office/drawing/2014/main" id="{115B1310-E8A1-4E25-B2FB-F3DE4271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1932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A100正式baseline</a:t>
            </a:r>
          </a:p>
        </p:txBody>
      </p:sp>
      <p:sp>
        <p:nvSpPr>
          <p:cNvPr id="6" name="h100-value">
            <a:extLst xmlns:a="http://schemas.openxmlformats.org/drawingml/2006/main">
              <a:ext uri="{FF2B5EF4-FFF2-40B4-BE49-F238E27FC236}">
                <a16:creationId xmlns:a16="http://schemas.microsoft.com/office/drawing/2014/main" id="{8D004629-7C5D-4E30-9045-4A77C9BA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66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D9CDB"/>
                </a:solidFill>
              </a:defRPr>
            </a:pPr>
            <a:r>
              <a:rPr sz="2850" b="1">
                <a:solidFill>
                  <a:srgbClr val="2D9CDB"/>
                </a:solidFill>
              </a:rPr>
              <a:t>34.109秒</a:t>
            </a:r>
          </a:p>
        </p:txBody>
      </p:sp>
      <p:sp>
        <p:nvSpPr>
          <p:cNvPr id="7" name="h100-label">
            <a:extLst xmlns:a="http://schemas.openxmlformats.org/drawingml/2006/main">
              <a:ext uri="{FF2B5EF4-FFF2-40B4-BE49-F238E27FC236}">
                <a16:creationId xmlns:a16="http://schemas.microsoft.com/office/drawing/2014/main" id="{D324F732-0D7F-4139-B606-45EAA713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1932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H100独立baseline</a:t>
            </a:r>
          </a:p>
        </p:txBody>
      </p:sp>
      <p:sp>
        <p:nvSpPr>
          <p:cNvPr id="8" name="coverage-value">
            <a:extLst xmlns:a="http://schemas.openxmlformats.org/drawingml/2006/main">
              <a:ext uri="{FF2B5EF4-FFF2-40B4-BE49-F238E27FC236}">
                <a16:creationId xmlns:a16="http://schemas.microsoft.com/office/drawing/2014/main" id="{C0B2C281-445D-4F99-B011-CB8EA836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66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E7D32"/>
                </a:solidFill>
              </a:defRPr>
            </a:pPr>
            <a:r>
              <a:rPr sz="2850" b="1">
                <a:solidFill>
                  <a:srgbClr val="2E7D32"/>
                </a:solidFill>
              </a:rPr>
              <a:t>26 / 39</a:t>
            </a:r>
          </a:p>
        </p:txBody>
      </p:sp>
      <p:sp>
        <p:nvSpPr>
          <p:cNvPr id="9" name="coverage-label">
            <a:extLst xmlns:a="http://schemas.openxmlformats.org/drawingml/2006/main">
              <a:ext uri="{FF2B5EF4-FFF2-40B4-BE49-F238E27FC236}">
                <a16:creationId xmlns:a16="http://schemas.microsoft.com/office/drawing/2014/main" id="{ABF889CB-0295-47FD-89CA-4404639D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1932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GPU化候補箇所</a:t>
            </a:r>
          </a:p>
        </p:txBody>
      </p:sp>
      <p:sp>
        <p:nvSpPr>
          <p:cNvPr id="10" name="outcome-box">
            <a:extLst xmlns:a="http://schemas.openxmlformats.org/drawingml/2006/main">
              <a:ext uri="{FF2B5EF4-FFF2-40B4-BE49-F238E27FC236}">
                <a16:creationId xmlns:a16="http://schemas.microsoft.com/office/drawing/2014/main" id="{09A4AAC5-23C2-4E19-8C40-72138B4D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10096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outcome-list">
            <a:extLst xmlns:a="http://schemas.openxmlformats.org/drawingml/2006/main">
              <a:ext uri="{FF2B5EF4-FFF2-40B4-BE49-F238E27FC236}">
                <a16:creationId xmlns:a16="http://schemas.microsoft.com/office/drawing/2014/main" id="{626ED5E3-124C-4449-8DCF-CB12664C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A100: 146.540秒から63.214秒へ短縮（約56.9%短縮）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H100: 最新の採用済み数値経路で3回測定の正式baselineを確立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CPU/FFTW fallbackと1 GPU / 1 MPI rankの検証経路を維持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全正式baselineで計算結果の正常性を確認</a:t>
            </a:r>
          </a:p>
        </p:txBody>
      </p:sp>
      <p:sp>
        <p:nvSpPr>
          <p:cNvPr id="1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3980A5D-9414-4B3C-9FCD-9A371EC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261E085-2940-41C6-B5AA-CCAAED57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515726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3882BEC-0A8F-402E-BF60-8B50E2FD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5D85AC-2986-4A15-88FF-F04686E0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性能だけでなく、数値一致とCPU経路を採用条件にした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C2EA8C3-72AA-4936-94BF-A41F4DFF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validation-left">
            <a:extLst xmlns:a="http://schemas.openxmlformats.org/drawingml/2006/main">
              <a:ext uri="{FF2B5EF4-FFF2-40B4-BE49-F238E27FC236}">
                <a16:creationId xmlns:a16="http://schemas.microsoft.com/office/drawing/2014/main" id="{788A0E55-DCC4-40D6-9F6E-A434C71F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5048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数式、配列shape、projector適用順を維持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逐次ia更新とreverse適用順を維持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CPU/FFTW版を継続してbuild・実行可能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診断機能をOFFにして性能測定</a:t>
            </a:r>
          </a:p>
        </p:txBody>
      </p:sp>
      <p:sp>
        <p:nvSpPr>
          <p:cNvPr id="5" name="validation-right">
            <a:extLst xmlns:a="http://schemas.openxmlformats.org/drawingml/2006/main">
              <a:ext uri="{FF2B5EF4-FFF2-40B4-BE49-F238E27FC236}">
                <a16:creationId xmlns:a16="http://schemas.microsoft.com/office/drawing/2014/main" id="{CB0E5238-EDD3-4A89-82DC-D7C6CEB1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同一条件で3回実行し中央値で評価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normal checkとrelaxed compareを必須化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run-to-run rangeも記録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効果のない変更は記録後にrevert</a:t>
            </a:r>
          </a:p>
        </p:txBody>
      </p:sp>
      <p:sp>
        <p:nvSpPr>
          <p:cNvPr id="6" name="validation-callout">
            <a:extLst xmlns:a="http://schemas.openxmlformats.org/drawingml/2006/main">
              <a:ext uri="{FF2B5EF4-FFF2-40B4-BE49-F238E27FC236}">
                <a16:creationId xmlns:a16="http://schemas.microsoft.com/office/drawing/2014/main" id="{470B4A8A-377D-4966-ACCC-5FA8590A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7" name="validation-callout-text">
            <a:extLst xmlns:a="http://schemas.openxmlformats.org/drawingml/2006/main">
              <a:ext uri="{FF2B5EF4-FFF2-40B4-BE49-F238E27FC236}">
                <a16:creationId xmlns:a16="http://schemas.microsoft.com/office/drawing/2014/main" id="{7C8E7162-35A4-4AC3-8671-8AD19927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324D"/>
                </a:solidFill>
              </a:defRPr>
            </a:pPr>
            <a:r>
              <a:rPr sz="1950" b="1">
                <a:solidFill>
                  <a:srgbClr val="17324D"/>
                </a:solidFill>
              </a:rPr>
              <a:t>A100・H100・x86は独立したbaseline系列として管理</a:t>
            </a:r>
          </a:p>
        </p:txBody>
      </p:sp>
      <p:sp>
        <p:nvSpPr>
          <p:cNvPr id="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CCDC45-B2BD-43D3-82BE-A799E9D5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9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0884CB2-851B-4CB3-8D9E-B05BC3C8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719407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CEBB870-5741-4F59-A659-9592350C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76AACE-6A9E-4F82-BBBB-2C7FF4EE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GPU上で処理を連結し、Host往復を減らした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7E6A9A9-E4A1-4663-A974-466D7061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rrow-0">
            <a:extLst xmlns:a="http://schemas.openxmlformats.org/drawingml/2006/main">
              <a:ext uri="{FF2B5EF4-FFF2-40B4-BE49-F238E27FC236}">
                <a16:creationId xmlns:a16="http://schemas.microsoft.com/office/drawing/2014/main" id="{BEE9F067-35B6-4BD7-BFC5-3F9DF211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5" name="arrow-1">
            <a:extLst xmlns:a="http://schemas.openxmlformats.org/drawingml/2006/main">
              <a:ext uri="{FF2B5EF4-FFF2-40B4-BE49-F238E27FC236}">
                <a16:creationId xmlns:a16="http://schemas.microsoft.com/office/drawing/2014/main" id="{67E388A5-ADCD-4F8C-9557-FF527049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6" name="arrow-2">
            <a:extLst xmlns:a="http://schemas.openxmlformats.org/drawingml/2006/main">
              <a:ext uri="{FF2B5EF4-FFF2-40B4-BE49-F238E27FC236}">
                <a16:creationId xmlns:a16="http://schemas.microsoft.com/office/drawing/2014/main" id="{8A48BE09-E587-4BF3-A5BC-5C3A22BE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7" name="arrow-3">
            <a:extLst xmlns:a="http://schemas.openxmlformats.org/drawingml/2006/main">
              <a:ext uri="{FF2B5EF4-FFF2-40B4-BE49-F238E27FC236}">
                <a16:creationId xmlns:a16="http://schemas.microsoft.com/office/drawing/2014/main" id="{00DBC945-6864-4099-8D79-5D6BF9AD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8" name="node-75">
            <a:extLst xmlns:a="http://schemas.openxmlformats.org/drawingml/2006/main">
              <a:ext uri="{FF2B5EF4-FFF2-40B4-BE49-F238E27FC236}">
                <a16:creationId xmlns:a16="http://schemas.microsoft.com/office/drawing/2014/main" id="{74B4813C-9BE6-4615-B682-DB67F4FC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9" name="node-label-75">
            <a:extLst xmlns:a="http://schemas.openxmlformats.org/drawingml/2006/main">
              <a:ext uri="{FF2B5EF4-FFF2-40B4-BE49-F238E27FC236}">
                <a16:creationId xmlns:a16="http://schemas.microsoft.com/office/drawing/2014/main" id="{66469664-269F-4FAA-B273-2EECFC0B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Host入力</a:t>
            </a:r>
          </a:p>
        </p:txBody>
      </p:sp>
      <p:sp>
        <p:nvSpPr>
          <p:cNvPr id="10" name="node-315">
            <a:extLst xmlns:a="http://schemas.openxmlformats.org/drawingml/2006/main">
              <a:ext uri="{FF2B5EF4-FFF2-40B4-BE49-F238E27FC236}">
                <a16:creationId xmlns:a16="http://schemas.microsoft.com/office/drawing/2014/main" id="{3467B2F4-A0B8-4FB7-8CA7-7CE207ED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1" name="node-label-315">
            <a:extLst xmlns:a="http://schemas.openxmlformats.org/drawingml/2006/main">
              <a:ext uri="{FF2B5EF4-FFF2-40B4-BE49-F238E27FC236}">
                <a16:creationId xmlns:a16="http://schemas.microsoft.com/office/drawing/2014/main" id="{78792F84-2EBE-4CBC-960E-7AC66DD7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GPU常駐配列</a:t>
            </a:r>
          </a:p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P・COEF・metadata</a:t>
            </a:r>
          </a:p>
        </p:txBody>
      </p:sp>
      <p:sp>
        <p:nvSpPr>
          <p:cNvPr id="12" name="node-610">
            <a:extLst xmlns:a="http://schemas.openxmlformats.org/drawingml/2006/main">
              <a:ext uri="{FF2B5EF4-FFF2-40B4-BE49-F238E27FC236}">
                <a16:creationId xmlns:a16="http://schemas.microsoft.com/office/drawing/2014/main" id="{B7E80C4E-95A5-4EDB-8DC2-751D780E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3" name="node-label-610">
            <a:extLst xmlns:a="http://schemas.openxmlformats.org/drawingml/2006/main">
              <a:ext uri="{FF2B5EF4-FFF2-40B4-BE49-F238E27FC236}">
                <a16:creationId xmlns:a16="http://schemas.microsoft.com/office/drawing/2014/main" id="{8F232531-CAF1-47E8-9125-29D3312A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OpenACC</a:t>
            </a:r>
          </a:p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kernel</a:t>
            </a:r>
          </a:p>
        </p:txBody>
      </p:sp>
      <p:sp>
        <p:nvSpPr>
          <p:cNvPr id="14" name="node-840">
            <a:extLst xmlns:a="http://schemas.openxmlformats.org/drawingml/2006/main">
              <a:ext uri="{FF2B5EF4-FFF2-40B4-BE49-F238E27FC236}">
                <a16:creationId xmlns:a16="http://schemas.microsoft.com/office/drawing/2014/main" id="{46FBE626-88A4-44EA-AA99-88D2C58E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5" name="node-label-840">
            <a:extLst xmlns:a="http://schemas.openxmlformats.org/drawingml/2006/main">
              <a:ext uri="{FF2B5EF4-FFF2-40B4-BE49-F238E27FC236}">
                <a16:creationId xmlns:a16="http://schemas.microsoft.com/office/drawing/2014/main" id="{6C793C00-7D66-4B60-8AA5-77B13781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cuFFT</a:t>
            </a:r>
          </a:p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batch</a:t>
            </a:r>
          </a:p>
        </p:txBody>
      </p:sp>
      <p:sp>
        <p:nvSpPr>
          <p:cNvPr id="16" name="node-1070">
            <a:extLst xmlns:a="http://schemas.openxmlformats.org/drawingml/2006/main">
              <a:ext uri="{FF2B5EF4-FFF2-40B4-BE49-F238E27FC236}">
                <a16:creationId xmlns:a16="http://schemas.microsoft.com/office/drawing/2014/main" id="{D1A71EB8-DD99-447F-B10B-A566DEF7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7" name="node-label-1070">
            <a:extLst xmlns:a="http://schemas.openxmlformats.org/drawingml/2006/main">
              <a:ext uri="{FF2B5EF4-FFF2-40B4-BE49-F238E27FC236}">
                <a16:creationId xmlns:a16="http://schemas.microsoft.com/office/drawing/2014/main" id="{EBFB9537-D3EA-47CE-B9B8-4E124526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MPI／Host</a:t>
            </a:r>
          </a:p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境界</a:t>
            </a:r>
          </a:p>
        </p:txBody>
      </p:sp>
      <p:sp>
        <p:nvSpPr>
          <p:cNvPr id="18" name="architecture-compute">
            <a:extLst xmlns:a="http://schemas.openxmlformats.org/drawingml/2006/main">
              <a:ext uri="{FF2B5EF4-FFF2-40B4-BE49-F238E27FC236}">
                <a16:creationId xmlns:a16="http://schemas.microsoft.com/office/drawing/2014/main" id="{8CB10F88-0AB2-4E8C-844B-C997874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計算｜主要loopをOpenACC化</a:t>
            </a:r>
          </a:p>
        </p:txBody>
      </p:sp>
      <p:sp>
        <p:nvSpPr>
          <p:cNvPr id="19" name="architecture-data">
            <a:extLst xmlns:a="http://schemas.openxmlformats.org/drawingml/2006/main">
              <a:ext uri="{FF2B5EF4-FFF2-40B4-BE49-F238E27FC236}">
                <a16:creationId xmlns:a16="http://schemas.microsoft.com/office/drawing/2014/main" id="{A9C9C221-3DB4-4057-A616-8A8EBAC1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38625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データ｜外側routineがmappingを所有</a:t>
            </a:r>
          </a:p>
        </p:txBody>
      </p:sp>
      <p:sp>
        <p:nvSpPr>
          <p:cNvPr id="20" name="architecture-fft">
            <a:extLst xmlns:a="http://schemas.openxmlformats.org/drawingml/2006/main">
              <a:ext uri="{FF2B5EF4-FFF2-40B4-BE49-F238E27FC236}">
                <a16:creationId xmlns:a16="http://schemas.microsoft.com/office/drawing/2014/main" id="{C80A06E1-1185-422D-9817-07E0F2FB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38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FFT｜device pointerをcuFFTへ直接渡す</a:t>
            </a:r>
          </a:p>
        </p:txBody>
      </p:sp>
      <p:sp>
        <p:nvSpPr>
          <p:cNvPr id="21" name="architecture-note">
            <a:extLst xmlns:a="http://schemas.openxmlformats.org/drawingml/2006/main">
              <a:ext uri="{FF2B5EF4-FFF2-40B4-BE49-F238E27FC236}">
                <a16:creationId xmlns:a16="http://schemas.microsoft.com/office/drawing/2014/main" id="{1B4F080C-9284-402F-B59E-9BC97309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26A00"/>
                </a:solidFill>
              </a:defRPr>
            </a:pPr>
            <a:r>
              <a:rPr sz="1875" b="1">
                <a:solidFill>
                  <a:srgbClr val="C26A00"/>
                </a:solidFill>
              </a:rPr>
              <a:t>必要なHost consumerとMPI境界だけで同期</a:t>
            </a:r>
          </a:p>
        </p:txBody>
      </p:sp>
      <p:sp>
        <p:nvSpPr>
          <p:cNvPr id="2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A4227A0-A440-423F-A512-1B860FDB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2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A86FF09-BCBD-46E5-8DBD-45DB6933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097126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9BEC2D0-7B89-42B8-9992-576C0ED7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2DA1DD-53E5-49EC-8182-41E9E56C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時間発展ループの主要領域をGPU化した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4161864-F892-4D95-B9D8-501B8195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coverage-area-0">
            <a:extLst xmlns:a="http://schemas.openxmlformats.org/drawingml/2006/main">
              <a:ext uri="{FF2B5EF4-FFF2-40B4-BE49-F238E27FC236}">
                <a16:creationId xmlns:a16="http://schemas.microsoft.com/office/drawing/2014/main" id="{9A7D5026-BFE1-41AF-924B-A288671A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S2局所項</a:t>
            </a:r>
          </a:p>
        </p:txBody>
      </p:sp>
      <p:sp>
        <p:nvSpPr>
          <p:cNvPr id="5" name="coverage-detail-0">
            <a:extLst xmlns:a="http://schemas.openxmlformats.org/drawingml/2006/main">
              <a:ext uri="{FF2B5EF4-FFF2-40B4-BE49-F238E27FC236}">
                <a16:creationId xmlns:a16="http://schemas.microsoft.com/office/drawing/2014/main" id="{004229BE-E8C8-4E63-B2BC-115D223F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scatter・局所potential・cuFFT・gather</a:t>
            </a:r>
          </a:p>
        </p:txBody>
      </p:sp>
      <p:sp>
        <p:nvSpPr>
          <p:cNvPr id="6" name="coverage-rule-0">
            <a:extLst xmlns:a="http://schemas.openxmlformats.org/drawingml/2006/main">
              <a:ext uri="{FF2B5EF4-FFF2-40B4-BE49-F238E27FC236}">
                <a16:creationId xmlns:a16="http://schemas.microsoft.com/office/drawing/2014/main" id="{60FBB61F-19A5-4B25-966E-D1D60823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7" name="coverage-area-1">
            <a:extLst xmlns:a="http://schemas.openxmlformats.org/drawingml/2006/main">
              <a:ext uri="{FF2B5EF4-FFF2-40B4-BE49-F238E27FC236}">
                <a16:creationId xmlns:a16="http://schemas.microsoft.com/office/drawing/2014/main" id="{5194CBD9-E61F-41E4-9C7D-6D420C55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非局所項</a:t>
            </a:r>
          </a:p>
        </p:txBody>
      </p:sp>
      <p:sp>
        <p:nvSpPr>
          <p:cNvPr id="8" name="coverage-detail-1">
            <a:extLst xmlns:a="http://schemas.openxmlformats.org/drawingml/2006/main">
              <a:ext uri="{FF2B5EF4-FFF2-40B4-BE49-F238E27FC236}">
                <a16:creationId xmlns:a16="http://schemas.microsoft.com/office/drawing/2014/main" id="{65091AAC-AFE4-4FD1-931D-82DDB11B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projector dot・係数更新・kernel融合</a:t>
            </a:r>
          </a:p>
        </p:txBody>
      </p:sp>
      <p:sp>
        <p:nvSpPr>
          <p:cNvPr id="9" name="coverage-rule-1">
            <a:extLst xmlns:a="http://schemas.openxmlformats.org/drawingml/2006/main">
              <a:ext uri="{FF2B5EF4-FFF2-40B4-BE49-F238E27FC236}">
                <a16:creationId xmlns:a16="http://schemas.microsoft.com/office/drawing/2014/main" id="{F08AC915-A5E3-4BCA-9E53-D2878AF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0" name="coverage-area-2">
            <a:extLst xmlns:a="http://schemas.openxmlformats.org/drawingml/2006/main">
              <a:ext uri="{FF2B5EF4-FFF2-40B4-BE49-F238E27FC236}">
                <a16:creationId xmlns:a16="http://schemas.microsoft.com/office/drawing/2014/main" id="{1ED62902-666B-4A1C-BAB0-2ED9D22E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電荷密度</a:t>
            </a:r>
          </a:p>
        </p:txBody>
      </p:sp>
      <p:sp>
        <p:nvSpPr>
          <p:cNvPr id="11" name="coverage-detail-2">
            <a:extLst xmlns:a="http://schemas.openxmlformats.org/drawingml/2006/main">
              <a:ext uri="{FF2B5EF4-FFF2-40B4-BE49-F238E27FC236}">
                <a16:creationId xmlns:a16="http://schemas.microsoft.com/office/drawing/2014/main" id="{AAC12408-8E4C-46E1-84A4-D1BD6EBE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765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resident COEFから再構築・batch FFT</a:t>
            </a:r>
          </a:p>
        </p:txBody>
      </p:sp>
      <p:sp>
        <p:nvSpPr>
          <p:cNvPr id="12" name="coverage-rule-2">
            <a:extLst xmlns:a="http://schemas.openxmlformats.org/drawingml/2006/main">
              <a:ext uri="{FF2B5EF4-FFF2-40B4-BE49-F238E27FC236}">
                <a16:creationId xmlns:a16="http://schemas.microsoft.com/office/drawing/2014/main" id="{355E5F17-1C93-4B4A-B253-1839380C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3" name="coverage-area-3">
            <a:extLst xmlns:a="http://schemas.openxmlformats.org/drawingml/2006/main">
              <a:ext uri="{FF2B5EF4-FFF2-40B4-BE49-F238E27FC236}">
                <a16:creationId xmlns:a16="http://schemas.microsoft.com/office/drawing/2014/main" id="{D10CCF95-EBBB-4CC2-8AE7-F28323CA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FRPRMN</a:t>
            </a:r>
          </a:p>
        </p:txBody>
      </p:sp>
      <p:sp>
        <p:nvSpPr>
          <p:cNvPr id="14" name="coverage-detail-3">
            <a:extLst xmlns:a="http://schemas.openxmlformats.org/drawingml/2006/main">
              <a:ext uri="{FF2B5EF4-FFF2-40B4-BE49-F238E27FC236}">
                <a16:creationId xmlns:a16="http://schemas.microsoft.com/office/drawing/2014/main" id="{D64D111E-EE68-4943-9D25-15B58153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623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COEF/COEF0常駐・同期削減・再利用</a:t>
            </a:r>
          </a:p>
        </p:txBody>
      </p:sp>
      <p:sp>
        <p:nvSpPr>
          <p:cNvPr id="15" name="coverage-rule-3">
            <a:extLst xmlns:a="http://schemas.openxmlformats.org/drawingml/2006/main">
              <a:ext uri="{FF2B5EF4-FFF2-40B4-BE49-F238E27FC236}">
                <a16:creationId xmlns:a16="http://schemas.microsoft.com/office/drawing/2014/main" id="{9B78A0DC-D4D8-4A97-AA03-EFD08958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6" name="coverage-area-4">
            <a:extLst xmlns:a="http://schemas.openxmlformats.org/drawingml/2006/main">
              <a:ext uri="{FF2B5EF4-FFF2-40B4-BE49-F238E27FC236}">
                <a16:creationId xmlns:a16="http://schemas.microsoft.com/office/drawing/2014/main" id="{7C9AE2A0-005D-427E-A375-6392C180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potential</a:t>
            </a:r>
          </a:p>
        </p:txBody>
      </p:sp>
      <p:sp>
        <p:nvSpPr>
          <p:cNvPr id="17" name="coverage-detail-4">
            <a:extLst xmlns:a="http://schemas.openxmlformats.org/drawingml/2006/main">
              <a:ext uri="{FF2B5EF4-FFF2-40B4-BE49-F238E27FC236}">
                <a16:creationId xmlns:a16="http://schemas.microsoft.com/office/drawing/2014/main" id="{1C75F922-FE68-4798-989F-0C3BAA43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481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VPJ・LOCPOT・交換相関・EWALD</a:t>
            </a:r>
          </a:p>
        </p:txBody>
      </p:sp>
      <p:sp>
        <p:nvSpPr>
          <p:cNvPr id="18" name="coverage-rule-4">
            <a:extLst xmlns:a="http://schemas.openxmlformats.org/drawingml/2006/main">
              <a:ext uri="{FF2B5EF4-FFF2-40B4-BE49-F238E27FC236}">
                <a16:creationId xmlns:a16="http://schemas.microsoft.com/office/drawing/2014/main" id="{674E0758-7AA9-4681-A7F9-5FA325FE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9" name="coverage-area-5">
            <a:extLst xmlns:a="http://schemas.openxmlformats.org/drawingml/2006/main">
              <a:ext uri="{FF2B5EF4-FFF2-40B4-BE49-F238E27FC236}">
                <a16:creationId xmlns:a16="http://schemas.microsoft.com/office/drawing/2014/main" id="{99B4374A-55F7-4056-BBBA-F8F04E1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HLOCAL</a:t>
            </a:r>
          </a:p>
        </p:txBody>
      </p:sp>
      <p:sp>
        <p:nvSpPr>
          <p:cNvPr id="20" name="coverage-detail-5">
            <a:extLst xmlns:a="http://schemas.openxmlformats.org/drawingml/2006/main">
              <a:ext uri="{FF2B5EF4-FFF2-40B4-BE49-F238E27FC236}">
                <a16:creationId xmlns:a16="http://schemas.microsoft.com/office/drawing/2014/main" id="{953F7893-2CF2-4A0B-8ED1-9C2FBCB4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33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zeroからFFT・multiply・gatherまで連続実行</a:t>
            </a:r>
          </a:p>
        </p:txBody>
      </p:sp>
      <p:sp>
        <p:nvSpPr>
          <p:cNvPr id="21" name="coverage-rule-5">
            <a:extLst xmlns:a="http://schemas.openxmlformats.org/drawingml/2006/main">
              <a:ext uri="{FF2B5EF4-FFF2-40B4-BE49-F238E27FC236}">
                <a16:creationId xmlns:a16="http://schemas.microsoft.com/office/drawing/2014/main" id="{A17AB232-D817-4D92-9205-BBDA6D0B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292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22" name="coverage-callout">
            <a:extLst xmlns:a="http://schemas.openxmlformats.org/drawingml/2006/main">
              <a:ext uri="{FF2B5EF4-FFF2-40B4-BE49-F238E27FC236}">
                <a16:creationId xmlns:a16="http://schemas.microsoft.com/office/drawing/2014/main" id="{D60A32E2-91CD-4F60-988C-88CCC949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721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025" b="1">
                <a:solidFill>
                  <a:srgbClr val="2E7D32"/>
                </a:solidFill>
              </a:defRPr>
            </a:pPr>
            <a:r>
              <a:rPr sz="2025" b="1">
                <a:solidFill>
                  <a:srgbClr val="2E7D32"/>
                </a:solidFill>
              </a:rPr>
              <a:t>26 / 39箇所 = 約66.7%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26DC4BF-4878-4E37-B519-63AA30DC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2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B3480D4-E053-42C3-B0CB-79D436EF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329789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5027C90-892B-414C-A068-537121EF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4FEA70-B8F9-4923-AD8F-736D31CF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device pointerとbatch化でFFT前後の転送を削減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915E371-1D52-42E3-B0C3-E2CCCD7D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fft-before">
            <a:extLst xmlns:a="http://schemas.openxmlformats.org/drawingml/2006/main">
              <a:ext uri="{FF2B5EF4-FFF2-40B4-BE49-F238E27FC236}">
                <a16:creationId xmlns:a16="http://schemas.microsoft.com/office/drawing/2014/main" id="{7651817A-1708-4229-91D7-D03BF883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ft-before-title">
            <a:extLst xmlns:a="http://schemas.openxmlformats.org/drawingml/2006/main">
              <a:ext uri="{FF2B5EF4-FFF2-40B4-BE49-F238E27FC236}">
                <a16:creationId xmlns:a16="http://schemas.microsoft.com/office/drawing/2014/main" id="{40F1BCFE-A6EA-460B-850D-4EF1C696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085"/>
                </a:solidFill>
              </a:defRPr>
            </a:pPr>
            <a:r>
              <a:rPr sz="1350" b="1">
                <a:solidFill>
                  <a:srgbClr val="667085"/>
                </a:solidFill>
              </a:rPr>
              <a:t>変更前</a:t>
            </a:r>
          </a:p>
        </p:txBody>
      </p:sp>
      <p:sp>
        <p:nvSpPr>
          <p:cNvPr id="6" name="fft-before-flow">
            <a:extLst xmlns:a="http://schemas.openxmlformats.org/drawingml/2006/main">
              <a:ext uri="{FF2B5EF4-FFF2-40B4-BE49-F238E27FC236}">
                <a16:creationId xmlns:a16="http://schemas.microsoft.com/office/drawing/2014/main" id="{FBA51FE9-D362-4729-9DDF-9619E357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Host → H2D → cuFFT → D2H → Host</a:t>
            </a:r>
          </a:p>
        </p:txBody>
      </p:sp>
      <p:sp>
        <p:nvSpPr>
          <p:cNvPr id="7" name="fft-after">
            <a:extLst xmlns:a="http://schemas.openxmlformats.org/drawingml/2006/main">
              <a:ext uri="{FF2B5EF4-FFF2-40B4-BE49-F238E27FC236}">
                <a16:creationId xmlns:a16="http://schemas.microsoft.com/office/drawing/2014/main" id="{FF003D6F-4FCB-4CAC-8D09-779C120C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8" name="fft-after-title">
            <a:extLst xmlns:a="http://schemas.openxmlformats.org/drawingml/2006/main">
              <a:ext uri="{FF2B5EF4-FFF2-40B4-BE49-F238E27FC236}">
                <a16:creationId xmlns:a16="http://schemas.microsoft.com/office/drawing/2014/main" id="{FAC21263-3DE5-4B13-9C42-AB2B2071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621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変更後</a:t>
            </a:r>
          </a:p>
        </p:txBody>
      </p:sp>
      <p:sp>
        <p:nvSpPr>
          <p:cNvPr id="9" name="fft-after-flow">
            <a:extLst xmlns:a="http://schemas.openxmlformats.org/drawingml/2006/main">
              <a:ext uri="{FF2B5EF4-FFF2-40B4-BE49-F238E27FC236}">
                <a16:creationId xmlns:a16="http://schemas.microsoft.com/office/drawing/2014/main" id="{AEC9919F-3B3F-436A-9A77-9A63F022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</a:defRPr>
            </a:pPr>
            <a:r>
              <a:rPr sz="1725" b="1">
                <a:solidFill>
                  <a:srgbClr val="17324D"/>
                </a:solidFill>
              </a:rPr>
              <a:t>Device配列 → cuFFT → Device配列</a:t>
            </a:r>
          </a:p>
        </p:txBody>
      </p:sp>
      <p:sp>
        <p:nvSpPr>
          <p:cNvPr id="10" name="fft-bullets">
            <a:extLst xmlns:a="http://schemas.openxmlformats.org/drawingml/2006/main">
              <a:ext uri="{FF2B5EF4-FFF2-40B4-BE49-F238E27FC236}">
                <a16:creationId xmlns:a16="http://schemas.microsoft.com/office/drawing/2014/main" id="{0D6FCCA1-1406-4844-AC7F-C6A30050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38500"/>
            <a:ext cx="666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host_data use_deviceでOpenACC管理配列を直接渡す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cufftPlanManyでlocal bandsを一括処理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S2局所FFTと電荷密度再構築をbatch化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CPU/FFTW側には互換entryを維持</a:t>
            </a:r>
          </a:p>
        </p:txBody>
      </p:sp>
      <p:sp>
        <p:nvSpPr>
          <p:cNvPr id="11" name="fft-s2-value">
            <a:extLst xmlns:a="http://schemas.openxmlformats.org/drawingml/2006/main">
              <a:ext uri="{FF2B5EF4-FFF2-40B4-BE49-F238E27FC236}">
                <a16:creationId xmlns:a16="http://schemas.microsoft.com/office/drawing/2014/main" id="{3C235F2B-E697-43D1-AAB6-1D486848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69AA"/>
                </a:solidFill>
              </a:defRPr>
            </a:pPr>
            <a:r>
              <a:rPr sz="2850" b="1">
                <a:solidFill>
                  <a:srgbClr val="1769AA"/>
                </a:solidFill>
              </a:rPr>
              <a:t>22.480 → 5.030秒</a:t>
            </a:r>
          </a:p>
        </p:txBody>
      </p:sp>
      <p:sp>
        <p:nvSpPr>
          <p:cNvPr id="12" name="fft-s2-label">
            <a:extLst xmlns:a="http://schemas.openxmlformats.org/drawingml/2006/main">
              <a:ext uri="{FF2B5EF4-FFF2-40B4-BE49-F238E27FC236}">
                <a16:creationId xmlns:a16="http://schemas.microsoft.com/office/drawing/2014/main" id="{758879EE-DD62-40A4-BB98-0DA8254F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862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s2_fft_local</a:t>
            </a:r>
          </a:p>
        </p:txBody>
      </p:sp>
      <p:sp>
        <p:nvSpPr>
          <p:cNvPr id="13" name="fft-rho-value">
            <a:extLst xmlns:a="http://schemas.openxmlformats.org/drawingml/2006/main">
              <a:ext uri="{FF2B5EF4-FFF2-40B4-BE49-F238E27FC236}">
                <a16:creationId xmlns:a16="http://schemas.microsoft.com/office/drawing/2014/main" id="{AFA7CD48-88B4-4EE9-8E5C-13B62DF1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24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E7D32"/>
                </a:solidFill>
              </a:defRPr>
            </a:pPr>
            <a:r>
              <a:rPr sz="2850" b="1">
                <a:solidFill>
                  <a:srgbClr val="2E7D32"/>
                </a:solidFill>
              </a:rPr>
              <a:t>14.510 → 0.730秒</a:t>
            </a:r>
          </a:p>
        </p:txBody>
      </p:sp>
      <p:sp>
        <p:nvSpPr>
          <p:cNvPr id="14" name="fft-rho-label">
            <a:extLst xmlns:a="http://schemas.openxmlformats.org/drawingml/2006/main">
              <a:ext uri="{FF2B5EF4-FFF2-40B4-BE49-F238E27FC236}">
                <a16:creationId xmlns:a16="http://schemas.microsoft.com/office/drawing/2014/main" id="{0A6D10F1-2EDE-45F7-BA49-669AC8CE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076825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frprmn_rhoofk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A0E6D20-CE0A-48BB-B80F-D9CF5B60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65C91B1-310A-4F04-95B5-1EA85A36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275206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BECB8CE-6902-41F5-8D5E-F3290B92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A9A5AC-8B9A-4C72-A720-2FFB04E3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非局所projectorはkernel融合で起動回数を減らした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0490E77-E03F-4F45-83D0-F673DB03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nonlocal-list">
            <a:extLst xmlns:a="http://schemas.openxmlformats.org/drawingml/2006/main">
              <a:ext uri="{FF2B5EF4-FFF2-40B4-BE49-F238E27FC236}">
                <a16:creationId xmlns:a16="http://schemas.microsoft.com/office/drawing/2014/main" id="{0714B813-1504-460D-9100-D3A3E073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619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dot productをOpenACC reduction化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coefficient更新を同一kernelへ融合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一時配列とゼロ初期化kernelを削除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bandをgangへ割り当て、band内のiaはseq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forward/reverse phaseでbufferを再利用</a:t>
            </a:r>
          </a:p>
        </p:txBody>
      </p:sp>
      <p:sp>
        <p:nvSpPr>
          <p:cNvPr id="5" name="nonlocal-launch-value">
            <a:extLst xmlns:a="http://schemas.openxmlformats.org/drawingml/2006/main">
              <a:ext uri="{FF2B5EF4-FFF2-40B4-BE49-F238E27FC236}">
                <a16:creationId xmlns:a16="http://schemas.microsoft.com/office/drawing/2014/main" id="{44B3331F-A327-4B3F-A67D-90CB281F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69AA"/>
                </a:solidFill>
              </a:defRPr>
            </a:pPr>
            <a:r>
              <a:rPr sz="2850" b="1">
                <a:solidFill>
                  <a:srgbClr val="1769AA"/>
                </a:solidFill>
              </a:rPr>
              <a:t>453,120 → 9,440回</a:t>
            </a:r>
          </a:p>
        </p:txBody>
      </p:sp>
      <p:sp>
        <p:nvSpPr>
          <p:cNvPr id="6" name="nonlocal-launch-label">
            <a:extLst xmlns:a="http://schemas.openxmlformats.org/drawingml/2006/main">
              <a:ext uri="{FF2B5EF4-FFF2-40B4-BE49-F238E27FC236}">
                <a16:creationId xmlns:a16="http://schemas.microsoft.com/office/drawing/2014/main" id="{E24B4F87-C055-4D2B-A2C8-FE65297E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05075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kernel起動回数</a:t>
            </a:r>
          </a:p>
        </p:txBody>
      </p:sp>
      <p:sp>
        <p:nvSpPr>
          <p:cNvPr id="7" name="nonlocal-time-value">
            <a:extLst xmlns:a="http://schemas.openxmlformats.org/drawingml/2006/main">
              <a:ext uri="{FF2B5EF4-FFF2-40B4-BE49-F238E27FC236}">
                <a16:creationId xmlns:a16="http://schemas.microsoft.com/office/drawing/2014/main" id="{013389F3-0F55-4F32-8239-710BB12D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766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E7D32"/>
                </a:solidFill>
              </a:defRPr>
            </a:pPr>
            <a:r>
              <a:rPr sz="2850" b="1">
                <a:solidFill>
                  <a:srgbClr val="2E7D32"/>
                </a:solidFill>
              </a:rPr>
              <a:t>18.370 → 8.440秒</a:t>
            </a:r>
          </a:p>
        </p:txBody>
      </p:sp>
      <p:sp>
        <p:nvSpPr>
          <p:cNvPr id="8" name="nonlocal-time-label">
            <a:extLst xmlns:a="http://schemas.openxmlformats.org/drawingml/2006/main">
              <a:ext uri="{FF2B5EF4-FFF2-40B4-BE49-F238E27FC236}">
                <a16:creationId xmlns:a16="http://schemas.microsoft.com/office/drawing/2014/main" id="{2664661D-7950-49B5-831E-5A46D7E5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29075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exnlp_gemm_dot</a:t>
            </a:r>
          </a:p>
        </p:txBody>
      </p:sp>
      <p:sp>
        <p:nvSpPr>
          <p:cNvPr id="9" name="nonlocal-note-box">
            <a:extLst xmlns:a="http://schemas.openxmlformats.org/drawingml/2006/main">
              <a:ext uri="{FF2B5EF4-FFF2-40B4-BE49-F238E27FC236}">
                <a16:creationId xmlns:a16="http://schemas.microsoft.com/office/drawing/2014/main" id="{A86EEA64-8FAF-4E04-A557-D506EFBD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90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C26A00"/>
            </a:solidFill>
            <a:prstDash val="solid"/>
          </a:ln>
        </p:spPr>
      </p:sp>
      <p:sp>
        <p:nvSpPr>
          <p:cNvPr id="10" name="nonlocal-note">
            <a:extLst xmlns:a="http://schemas.openxmlformats.org/drawingml/2006/main">
              <a:ext uri="{FF2B5EF4-FFF2-40B4-BE49-F238E27FC236}">
                <a16:creationId xmlns:a16="http://schemas.microsoft.com/office/drawing/2014/main" id="{9C42F417-EDE6-42AF-B44E-384102C0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24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26A00"/>
                </a:solidFill>
              </a:defRPr>
            </a:pPr>
            <a:r>
              <a:rPr sz="1725" b="1">
                <a:solidFill>
                  <a:srgbClr val="C26A00"/>
                </a:solidFill>
              </a:rPr>
              <a:t>原子適用順とreverse phaseの逆順は維持</a:t>
            </a:r>
          </a:p>
        </p:txBody>
      </p:sp>
      <p:sp>
        <p:nvSpPr>
          <p:cNvPr id="11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F09637D-7973-4A1B-BAA0-C87DF11E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2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7416732-7F83-4450-9C3B-0F1B3AB6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61786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92A9F36-C0F8-447B-91CA-A75C06E1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504737-D9C7-455E-8F9F-8CAE32CE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FRPRMNとpotential処理をGPU内でつないだ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5C0552E-235C-43A9-B1D1-F39B9EC4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frprmn-list">
            <a:extLst xmlns:a="http://schemas.openxmlformats.org/drawingml/2006/main">
              <a:ext uri="{FF2B5EF4-FFF2-40B4-BE49-F238E27FC236}">
                <a16:creationId xmlns:a16="http://schemas.microsoft.com/office/drawing/2014/main" id="{38E7B7AC-D231-4697-838B-23AF64BC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429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COEF／COEF0をpredictor-correctorからELECTFまで常駐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seed初期化をHost copy＋H2DからGPU内copyへ変更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band非依存のYLMとphase情報を事前計算・再利用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VPJ、LOCPOT、LDA交換相関、EWALDをOpenACC化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HLOCALを1つのdata領域で連続実行</a:t>
            </a:r>
          </a:p>
        </p:txBody>
      </p:sp>
      <p:sp>
        <p:nvSpPr>
          <p:cNvPr id="5" name="vpj-value">
            <a:extLst xmlns:a="http://schemas.openxmlformats.org/drawingml/2006/main">
              <a:ext uri="{FF2B5EF4-FFF2-40B4-BE49-F238E27FC236}">
                <a16:creationId xmlns:a16="http://schemas.microsoft.com/office/drawing/2014/main" id="{D9F9B0BE-BB51-4058-B1F0-712CEBF9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E7D32"/>
                </a:solidFill>
              </a:defRPr>
            </a:pPr>
            <a:r>
              <a:rPr sz="2325" b="1">
                <a:solidFill>
                  <a:srgbClr val="2E7D32"/>
                </a:solidFill>
              </a:rPr>
              <a:t>36.130 → 1.800秒</a:t>
            </a:r>
          </a:p>
        </p:txBody>
      </p:sp>
      <p:sp>
        <p:nvSpPr>
          <p:cNvPr id="6" name="vpj-label">
            <a:extLst xmlns:a="http://schemas.openxmlformats.org/drawingml/2006/main">
              <a:ext uri="{FF2B5EF4-FFF2-40B4-BE49-F238E27FC236}">
                <a16:creationId xmlns:a16="http://schemas.microsoft.com/office/drawing/2014/main" id="{73CB0216-64F1-451D-BB76-5EDFFB1D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193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VPJ積分</a:t>
            </a:r>
          </a:p>
        </p:txBody>
      </p:sp>
      <p:sp>
        <p:nvSpPr>
          <p:cNvPr id="7" name="locpot-value">
            <a:extLst xmlns:a="http://schemas.openxmlformats.org/drawingml/2006/main">
              <a:ext uri="{FF2B5EF4-FFF2-40B4-BE49-F238E27FC236}">
                <a16:creationId xmlns:a16="http://schemas.microsoft.com/office/drawing/2014/main" id="{13EF716A-0806-4CE9-A300-9653E889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003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69AA"/>
                </a:solidFill>
              </a:defRPr>
            </a:pPr>
            <a:r>
              <a:rPr sz="2325" b="1">
                <a:solidFill>
                  <a:srgbClr val="1769AA"/>
                </a:solidFill>
              </a:rPr>
              <a:t>2.765 → 0.305秒</a:t>
            </a:r>
          </a:p>
        </p:txBody>
      </p:sp>
      <p:sp>
        <p:nvSpPr>
          <p:cNvPr id="8" name="locpot-label">
            <a:extLst xmlns:a="http://schemas.openxmlformats.org/drawingml/2006/main">
              <a:ext uri="{FF2B5EF4-FFF2-40B4-BE49-F238E27FC236}">
                <a16:creationId xmlns:a16="http://schemas.microsoft.com/office/drawing/2014/main" id="{CA9519AE-3535-4A02-BF81-239A79E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528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LOCPOT</a:t>
            </a:r>
          </a:p>
        </p:txBody>
      </p:sp>
      <p:sp>
        <p:nvSpPr>
          <p:cNvPr id="9" name="restore-value">
            <a:extLst xmlns:a="http://schemas.openxmlformats.org/drawingml/2006/main">
              <a:ext uri="{FF2B5EF4-FFF2-40B4-BE49-F238E27FC236}">
                <a16:creationId xmlns:a16="http://schemas.microsoft.com/office/drawing/2014/main" id="{A0D4E12D-F42E-4F90-82B8-CAD8A650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338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9CDB"/>
                </a:solidFill>
              </a:defRPr>
            </a:pPr>
            <a:r>
              <a:rPr sz="2325" b="1">
                <a:solidFill>
                  <a:srgbClr val="2D9CDB"/>
                </a:solidFill>
              </a:rPr>
              <a:t>2.159 → 0.003秒</a:t>
            </a:r>
          </a:p>
        </p:txBody>
      </p:sp>
      <p:sp>
        <p:nvSpPr>
          <p:cNvPr id="10" name="restore-label">
            <a:extLst xmlns:a="http://schemas.openxmlformats.org/drawingml/2006/main">
              <a:ext uri="{FF2B5EF4-FFF2-40B4-BE49-F238E27FC236}">
                <a16:creationId xmlns:a16="http://schemas.microsoft.com/office/drawing/2014/main" id="{F9C807AB-B4FB-42EF-8D0D-A0389AD7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863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不要なHost復元</a:t>
            </a:r>
          </a:p>
        </p:txBody>
      </p:sp>
      <p:sp>
        <p:nvSpPr>
          <p:cNvPr id="11" name="frprmn-note-box">
            <a:extLst xmlns:a="http://schemas.openxmlformats.org/drawingml/2006/main">
              <a:ext uri="{FF2B5EF4-FFF2-40B4-BE49-F238E27FC236}">
                <a16:creationId xmlns:a16="http://schemas.microsoft.com/office/drawing/2014/main" id="{E44EAFA4-32C7-4B00-88DB-DA4DD598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981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2" name="frprmn-note">
            <a:extLst xmlns:a="http://schemas.openxmlformats.org/drawingml/2006/main">
              <a:ext uri="{FF2B5EF4-FFF2-40B4-BE49-F238E27FC236}">
                <a16:creationId xmlns:a16="http://schemas.microsoft.com/office/drawing/2014/main" id="{D44A038E-3843-4C29-86DD-EF0A897A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91175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Step 107の正式改善は限定COEF常駐によるもの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C803DF2-42DA-4FD0-B45E-F4A2DE13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5D7E17D-91F3-4045-9C02-3CABCB45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021544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A30AF6B-3F89-4CDC-8D1B-0D64FA3E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977C0B-4FC2-4AE5-AA3C-5FD28257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データ常駐化がGPU化の実効性を高めた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8D2D60E-0563-4E80-9606-E0373876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762000" y="1524000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7524750"/>
              </a:tblGrid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常駐対象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常駐範囲・狙い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TMEVL全体で保持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COEF / COEF0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predictor-correctorからELECTFまで保持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work2_ / cfac_ / ngnl_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非局所phase間で再利用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J2G / OCC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time-step loop全体で保持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pseudopotential表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static metadataとしてloop外へ移動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residency-results">
            <a:extLst xmlns:a="http://schemas.openxmlformats.org/drawingml/2006/main">
              <a:ext uri="{FF2B5EF4-FFF2-40B4-BE49-F238E27FC236}">
                <a16:creationId xmlns:a16="http://schemas.microsoft.com/office/drawing/2014/main" id="{8CEDA84D-1847-40A5-B6DF-FA715334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COEF D2H 944回を削除　｜　必須同期を約103回へ集約　｜　metadata copyinをloop外へ</a:t>
            </a:r>
          </a:p>
        </p:txBody>
      </p:sp>
      <p:sp>
        <p:nvSpPr>
          <p:cNvPr id="6" name="residency-memory">
            <a:extLst xmlns:a="http://schemas.openxmlformats.org/drawingml/2006/main">
              <a:ext uri="{FF2B5EF4-FFF2-40B4-BE49-F238E27FC236}">
                <a16:creationId xmlns:a16="http://schemas.microsoft.com/office/drawing/2014/main" id="{3593F2C5-26A0-4D29-B711-5B2051A4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6262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69AA"/>
                </a:solidFill>
              </a:defRPr>
            </a:pPr>
            <a:r>
              <a:rPr sz="1500" b="0">
                <a:solidFill>
                  <a:srgbClr val="1769AA"/>
                </a:solidFill>
              </a:rPr>
              <a:t>正式設定: separate memory + pinned host allocation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2C78EFE-93C7-4172-8F46-80469C32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5E36F13-209E-4767-BE19-703056A5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808932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6B2EBB83-8947-46F6-B1C8-0C109788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24B4F8-D8CC-46B1-B502-D8A297DA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A100では段階的に63.214秒まで短縮した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CBCE21F-6A66-4825-8C69-2C72C4CA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762000" y="1476375"/>
          <a:ext xmlns:a="http://schemas.openxmlformats.org/drawingml/2006/main" cx="106680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6a185de86648c5"/>
          </a:graphicData>
        </a:graphic>
      </p:graphicFrame>
      <p:sp>
        <p:nvSpPr>
          <p:cNvPr id="5" name="progress-result">
            <a:extLst xmlns:a="http://schemas.openxmlformats.org/drawingml/2006/main">
              <a:ext uri="{FF2B5EF4-FFF2-40B4-BE49-F238E27FC236}">
                <a16:creationId xmlns:a16="http://schemas.microsoft.com/office/drawing/2014/main" id="{1BEA4B77-362D-4396-86E7-58FD4304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324D"/>
                </a:solidFill>
              </a:defRPr>
            </a:pPr>
            <a:r>
              <a:rPr sz="1950" b="1">
                <a:solidFill>
                  <a:srgbClr val="17324D"/>
                </a:solidFill>
              </a:rPr>
              <a:t>146.540秒 → 63.214秒　｜　約2.32倍　｜　約56.9%短縮</a:t>
            </a:r>
          </a:p>
        </p:txBody>
      </p:sp>
      <p:sp>
        <p:nvSpPr>
          <p:cNvPr id="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18BF519-2DB9-4546-968C-D1C79BCF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3B3A1E7-AD27-414E-B8E7-C1C9F200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475008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63A79E99-B12A-4B2C-85A4-5D2C7A6B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8DED02-4F5A-4528-8BB8-565B4F8B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各プラットフォームで正式baselineを確立した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F3D3246-B4BB-474F-B375-92709765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23875" y="1619250"/>
          <a:ext xmlns:a="http://schemas.openxmlformats.org/drawingml/2006/main" cx="111442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62250"/>
                <a:gridCol w="4905375"/>
                <a:gridCol w="1333500"/>
                <a:gridCol w="1095375"/>
                <a:gridCol w="1047750"/>
              </a:tblGrid>
              <a:tr h="6191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プラットフォーム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実行構成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中央値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range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正常性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NVIDIA A100-PCIE-40GB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OpenACC/cuFFT、1 GPU / 1 MPI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</a:rPr>
                        <a:t>63.214秒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0.103秒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NVIDIA H100 PCIe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OpenACC/cuFFT、1 GPU / 1 MPI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</a:rPr>
                        <a:t>34.109秒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0.091秒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Intel Xeon 6980P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ifx/mpiifx、32 MPI × 8 OpenMP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</a:rPr>
                        <a:t>16.539秒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0.058秒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platform-note">
            <a:extLst xmlns:a="http://schemas.openxmlformats.org/drawingml/2006/main">
              <a:ext uri="{FF2B5EF4-FFF2-40B4-BE49-F238E27FC236}">
                <a16:creationId xmlns:a16="http://schemas.microsoft.com/office/drawing/2014/main" id="{2895AECB-066A-4839-AD24-92295202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9625"/>
            <a:ext cx="10287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platform-note-text">
            <a:extLst xmlns:a="http://schemas.openxmlformats.org/drawingml/2006/main">
              <a:ext uri="{FF2B5EF4-FFF2-40B4-BE49-F238E27FC236}">
                <a16:creationId xmlns:a16="http://schemas.microsoft.com/office/drawing/2014/main" id="{584BB144-B5D2-4D36-982A-5AF9CA6F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905375"/>
            <a:ext cx="962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H100はA100よりwall timeが約46.0%短く、比率は約1.85倍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x86は256 CPUコアを使用しており、1 GPUとの装置性能の直接比較ではない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8CDEAA4-22B7-4D5E-828F-78457EE4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3183B65-87AC-475E-9653-BAEFA5EF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331055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1054F5D-5DC4-40CD-A29B-410D26A4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664F8F-9BE3-4645-8A49-FE253E46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正しく動いてもwall timeが改善しない変更は残さなかった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5CDB264-102F-48CE-BBD3-9F833687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reject-name-0">
            <a:extLst xmlns:a="http://schemas.openxmlformats.org/drawingml/2006/main">
              <a:ext uri="{FF2B5EF4-FFF2-40B4-BE49-F238E27FC236}">
                <a16:creationId xmlns:a16="http://schemas.microsoft.com/office/drawing/2014/main" id="{4FB6FD29-B246-41ED-867E-A07CAE89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SEPPOTF batch</a:t>
            </a:r>
          </a:p>
        </p:txBody>
      </p:sp>
      <p:sp>
        <p:nvSpPr>
          <p:cNvPr id="5" name="reject-result-0">
            <a:extLst xmlns:a="http://schemas.openxmlformats.org/drawingml/2006/main">
              <a:ext uri="{FF2B5EF4-FFF2-40B4-BE49-F238E27FC236}">
                <a16:creationId xmlns:a16="http://schemas.microsoft.com/office/drawing/2014/main" id="{85E998DB-267D-4447-912F-66EB1E98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正常だがA100で遅化</a:t>
            </a:r>
          </a:p>
        </p:txBody>
      </p:sp>
      <p:sp>
        <p:nvSpPr>
          <p:cNvPr id="6" name="reject-name-1">
            <a:extLst xmlns:a="http://schemas.openxmlformats.org/drawingml/2006/main">
              <a:ext uri="{FF2B5EF4-FFF2-40B4-BE49-F238E27FC236}">
                <a16:creationId xmlns:a16="http://schemas.microsoft.com/office/drawing/2014/main" id="{2C1664FB-BE3F-4FB2-8628-4CD818EB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compiler flags</a:t>
            </a:r>
          </a:p>
        </p:txBody>
      </p:sp>
      <p:sp>
        <p:nvSpPr>
          <p:cNvPr id="7" name="reject-result-1">
            <a:extLst xmlns:a="http://schemas.openxmlformats.org/drawingml/2006/main">
              <a:ext uri="{FF2B5EF4-FFF2-40B4-BE49-F238E27FC236}">
                <a16:creationId xmlns:a16="http://schemas.microsoft.com/office/drawing/2014/main" id="{3C637635-A8EC-4CA4-97C0-444D4FE3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改善がrun幅付近</a:t>
            </a:r>
          </a:p>
        </p:txBody>
      </p:sp>
      <p:sp>
        <p:nvSpPr>
          <p:cNvPr id="8" name="reject-name-2">
            <a:extLst xmlns:a="http://schemas.openxmlformats.org/drawingml/2006/main">
              <a:ext uri="{FF2B5EF4-FFF2-40B4-BE49-F238E27FC236}">
                <a16:creationId xmlns:a16="http://schemas.microsoft.com/office/drawing/2014/main" id="{34211DAD-F08B-4B93-955C-7DA6256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managed / unified memory</a:t>
            </a:r>
          </a:p>
        </p:txBody>
      </p:sp>
      <p:sp>
        <p:nvSpPr>
          <p:cNvPr id="9" name="reject-result-2">
            <a:extLst xmlns:a="http://schemas.openxmlformats.org/drawingml/2006/main">
              <a:ext uri="{FF2B5EF4-FFF2-40B4-BE49-F238E27FC236}">
                <a16:creationId xmlns:a16="http://schemas.microsoft.com/office/drawing/2014/main" id="{AA712EBB-20BA-4DCE-B745-93B8009B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正式設定より2倍以上遅化</a:t>
            </a:r>
          </a:p>
        </p:txBody>
      </p:sp>
      <p:sp>
        <p:nvSpPr>
          <p:cNvPr id="10" name="reject-name-3">
            <a:extLst xmlns:a="http://schemas.openxmlformats.org/drawingml/2006/main">
              <a:ext uri="{FF2B5EF4-FFF2-40B4-BE49-F238E27FC236}">
                <a16:creationId xmlns:a16="http://schemas.microsoft.com/office/drawing/2014/main" id="{51C33A5E-C5A3-4D05-9DD5-B3263024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719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追加kernel融合・特殊化</a:t>
            </a:r>
          </a:p>
        </p:txBody>
      </p:sp>
      <p:sp>
        <p:nvSpPr>
          <p:cNvPr id="11" name="reject-result-3">
            <a:extLst xmlns:a="http://schemas.openxmlformats.org/drawingml/2006/main">
              <a:ext uri="{FF2B5EF4-FFF2-40B4-BE49-F238E27FC236}">
                <a16:creationId xmlns:a16="http://schemas.microsoft.com/office/drawing/2014/main" id="{9E374361-4B0A-45C1-9BAB-9BE7806B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7719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有意な改善なし</a:t>
            </a:r>
          </a:p>
        </p:txBody>
      </p:sp>
      <p:sp>
        <p:nvSpPr>
          <p:cNvPr id="12" name="reject-name-4">
            <a:extLst xmlns:a="http://schemas.openxmlformats.org/drawingml/2006/main">
              <a:ext uri="{FF2B5EF4-FFF2-40B4-BE49-F238E27FC236}">
                <a16:creationId xmlns:a16="http://schemas.microsoft.com/office/drawing/2014/main" id="{81E2887E-4B5E-42CF-8067-B3EAF047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053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Intel MPI scatter</a:t>
            </a:r>
          </a:p>
        </p:txBody>
      </p:sp>
      <p:sp>
        <p:nvSpPr>
          <p:cNvPr id="13" name="reject-result-4">
            <a:extLst xmlns:a="http://schemas.openxmlformats.org/drawingml/2006/main">
              <a:ext uri="{FF2B5EF4-FFF2-40B4-BE49-F238E27FC236}">
                <a16:creationId xmlns:a16="http://schemas.microsoft.com/office/drawing/2014/main" id="{8E17953A-8065-4786-BBCB-BD40C726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0532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IPL2 errorと大幅遅化</a:t>
            </a:r>
          </a:p>
        </p:txBody>
      </p:sp>
      <p:sp>
        <p:nvSpPr>
          <p:cNvPr id="14" name="reject-learning">
            <a:extLst xmlns:a="http://schemas.openxmlformats.org/drawingml/2006/main">
              <a:ext uri="{FF2B5EF4-FFF2-40B4-BE49-F238E27FC236}">
                <a16:creationId xmlns:a16="http://schemas.microsoft.com/office/drawing/2014/main" id="{0452599D-E1A9-4960-AA9F-0924C329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76875"/>
            <a:ext cx="1028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5" name="reject-learning-text">
            <a:extLst xmlns:a="http://schemas.openxmlformats.org/drawingml/2006/main">
              <a:ext uri="{FF2B5EF4-FFF2-40B4-BE49-F238E27FC236}">
                <a16:creationId xmlns:a16="http://schemas.microsoft.com/office/drawing/2014/main" id="{CAA35D88-2331-4D24-899E-3EAC3BBE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638800"/>
            <a:ext cx="962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</a:defRPr>
            </a:pPr>
            <a:r>
              <a:rPr sz="1725" b="1">
                <a:solidFill>
                  <a:srgbClr val="17324D"/>
                </a:solidFill>
              </a:rPr>
              <a:t>tutorial専用の小さなmicro tuningは改善上限が小さい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5D591D5-A4CC-4473-808A-40107AD3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85FB75A-39D3-47FA-8194-77D230E6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165189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3E93C04-F6BC-4774-A058-12E25F7B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41CC7B-987C-4D49-A037-690F6B30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次の課題はproduction規模での再評価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351C4A1-28DB-4BD6-B5A5-89731B68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next-challenges">
            <a:extLst xmlns:a="http://schemas.openxmlformats.org/drawingml/2006/main">
              <a:ext uri="{FF2B5EF4-FFF2-40B4-BE49-F238E27FC236}">
                <a16:creationId xmlns:a16="http://schemas.microsoft.com/office/drawing/2014/main" id="{D3A56CDE-32BF-4087-9FE7-91352C77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6191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融合非局所kernelが主要な残存処理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Host処理、MPI境界、同期・転送が一部残存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tutorial入力は32 bandsでGPU並列度が不足</a:t>
            </a:r>
          </a:p>
          <a:p xmlns:a="http://schemas.openxmlformats.org/drawingml/2006/main">
            <a:pPr algn="l"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production入力と対応する正解referenceが未準備</a:t>
            </a:r>
          </a:p>
        </p:txBody>
      </p:sp>
      <p:sp>
        <p:nvSpPr>
          <p:cNvPr id="5" name="next-actions-title">
            <a:extLst xmlns:a="http://schemas.openxmlformats.org/drawingml/2006/main">
              <a:ext uri="{FF2B5EF4-FFF2-40B4-BE49-F238E27FC236}">
                <a16:creationId xmlns:a16="http://schemas.microsoft.com/office/drawing/2014/main" id="{1CDDE931-09DC-4F66-9B88-4F0D2966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69AA"/>
                </a:solidFill>
              </a:defRPr>
            </a:pPr>
            <a:r>
              <a:rPr sz="1875" b="1">
                <a:solidFill>
                  <a:srgbClr val="1769AA"/>
                </a:solidFill>
              </a:rPr>
              <a:t>次の進め方</a:t>
            </a:r>
          </a:p>
        </p:txBody>
      </p:sp>
      <p:sp>
        <p:nvSpPr>
          <p:cNvPr id="6" name="next-actions">
            <a:extLst xmlns:a="http://schemas.openxmlformats.org/drawingml/2006/main">
              <a:ext uri="{FF2B5EF4-FFF2-40B4-BE49-F238E27FC236}">
                <a16:creationId xmlns:a16="http://schemas.microsoft.com/office/drawing/2014/main" id="{8D094D84-F2C8-4438-AEE1-31C2336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1　production入力と正解referenceを準備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2　A100／H100の新baselineを作成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3　kernel・同期・転送量を再分類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4　根拠のある箇所を1仮説ずつ最適化</a:t>
            </a:r>
          </a:p>
        </p:txBody>
      </p:sp>
      <p:sp>
        <p:nvSpPr>
          <p:cNvPr id="7" name="next-stop">
            <a:extLst xmlns:a="http://schemas.openxmlformats.org/drawingml/2006/main">
              <a:ext uri="{FF2B5EF4-FFF2-40B4-BE49-F238E27FC236}">
                <a16:creationId xmlns:a16="http://schemas.microsoft.com/office/drawing/2014/main" id="{BB919C33-B6DF-43C5-BAF8-09E5D532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76875"/>
            <a:ext cx="1028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C26A00"/>
            </a:solidFill>
            <a:prstDash val="solid"/>
          </a:ln>
        </p:spPr>
      </p:sp>
      <p:sp>
        <p:nvSpPr>
          <p:cNvPr id="8" name="next-stop-text">
            <a:extLst xmlns:a="http://schemas.openxmlformats.org/drawingml/2006/main">
              <a:ext uri="{FF2B5EF4-FFF2-40B4-BE49-F238E27FC236}">
                <a16:creationId xmlns:a16="http://schemas.microsoft.com/office/drawing/2014/main" id="{944EBB0C-B018-4E14-92EC-77B9683E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48325"/>
            <a:ext cx="971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26A00"/>
                </a:solidFill>
              </a:defRPr>
            </a:pPr>
            <a:r>
              <a:rPr sz="1650" b="1">
                <a:solidFill>
                  <a:srgbClr val="C26A00"/>
                </a:solidFill>
              </a:rPr>
              <a:t>新しいprofiler根拠なしにtutorialの微調整を再開しない</a:t>
            </a:r>
          </a:p>
        </p:txBody>
      </p:sp>
      <p:sp>
        <p:nvSpPr>
          <p:cNvPr id="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F17B940-E24C-4155-A668-87F7F050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B54114B-B970-43B8-85AE-5A2A234F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131740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A8437B8-1555-4FE5-AA0A-E081FFFE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 A1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90992B-E59A-466B-A272-8F6F1BD0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正式baselineの識別情報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FB81D52-1F2C-4840-A2FA-493925B8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714375" y="1666875"/>
          <a:ext xmlns:a="http://schemas.openxmlformats.org/drawingml/2006/main" cx="10763250" cy="2333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90813"/>
                <a:gridCol w="2690813"/>
                <a:gridCol w="2690813"/>
                <a:gridCol w="2690813"/>
              </a:tblGrid>
              <a:tr h="58340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系列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logical step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revision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条件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A100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Step 107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c46cfa9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cc80、1 GPU / 1 MPI、diagnostic OFF</a:t>
                      </a:r>
                    </a:p>
                  </a:txBody>
                  <a:tcPr marL="91440" marR="91440" marT="45720" marB="45720"/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H100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Step 115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e6ad059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cc90、1 GPU / 1 MPI、diagnostic OFF</a:t>
                      </a:r>
                    </a:p>
                  </a:txBody>
                  <a:tcPr marL="91440" marR="91440" marT="45720" marB="45720"/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x86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formal baseline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7318e59系列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ifx/mpiifx、32 MPI × 8 OpenMP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aseline-head">
            <a:extLst xmlns:a="http://schemas.openxmlformats.org/drawingml/2006/main">
              <a:ext uri="{FF2B5EF4-FFF2-40B4-BE49-F238E27FC236}">
                <a16:creationId xmlns:a16="http://schemas.microsoft.com/office/drawing/2014/main" id="{92FF11A6-EAE6-4B10-98F3-7440D5C1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69AA"/>
                </a:solidFill>
              </a:defRPr>
            </a:pPr>
            <a:r>
              <a:rPr sz="1575" b="1">
                <a:solidFill>
                  <a:srgbClr val="1769AA"/>
                </a:solidFill>
              </a:rPr>
              <a:t>原稿更新根拠のコードHEAD: 4ef4d7e</a:t>
            </a:r>
          </a:p>
        </p:txBody>
      </p:sp>
      <p:sp>
        <p:nvSpPr>
          <p:cNvPr id="6" name="baseline-notes">
            <a:extLst xmlns:a="http://schemas.openxmlformats.org/drawingml/2006/main">
              <a:ext uri="{FF2B5EF4-FFF2-40B4-BE49-F238E27FC236}">
                <a16:creationId xmlns:a16="http://schemas.microsoft.com/office/drawing/2014/main" id="{B84AE194-B582-4643-AD1D-674BE16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GPUの採用済み数値計算経路はc46cfa9と一致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H100とA100のbaselineは混合・置換しない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DF00594-DBC8-4D0D-935F-2B9648C6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67769A5-A013-499C-A33A-0FB54576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61524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C27FE8C-303F-49A5-9BFF-ADB88CA7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28DA77-866A-42BF-8449-8BAED87F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主な変更ファイル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C9CAB06-CE9B-445A-9CAA-852EEA40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5">
            <a:extLst xmlns:a="http://schemas.openxmlformats.org/drawingml/2006/main">
              <a:ext uri="{FF2B5EF4-FFF2-40B4-BE49-F238E27FC236}">
                <a16:creationId xmlns:a16="http://schemas.microsoft.com/office/drawing/2014/main" id="{4F4B25FE-AA20-478E-AC0B-7C9ACEBD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tmevl10_Avec_v4.f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S2、exkin、非局所kernel、P常駐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frprmn_tm12_check_Vext_Avec_v4.f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COEF常駐、密度再構築、再利用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electf4_Vext_Avec.f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ELECTF境界、EWALD、限定COEF常駐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fft_cufft.f / fpseid_cufft_wrap.c / fft_fftw.f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device pointer版・batch版cuFFT、CPU 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vpj_gen.f / lib4_ASL_2_check_Vext_SXACE.f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VPJ、LOCPOT、交換相関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73A585D-9CB8-4134-A065-D618AE3B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649AD84-8EBC-4EB9-A2CC-A3AC3298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5313882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28A243B-832E-4912-BF06-529BBDA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D8EA17-38E6-4889-8786-E7E0659E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cuFFTをdevice pointer版へ変更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561A741-E99C-4780-ADB6-8F8AA9E3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6">
            <a:extLst xmlns:a="http://schemas.openxmlformats.org/drawingml/2006/main">
              <a:ext uri="{FF2B5EF4-FFF2-40B4-BE49-F238E27FC236}">
                <a16:creationId xmlns:a16="http://schemas.microsoft.com/office/drawing/2014/main" id="{45939502-66A4-47C3-AF65-55E4D652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SUBROUTINE FFT3BX_fftwASL_ACC(...)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!$acc host_data use_device(RHOG)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call fpseid_cufft_exec_device(plancbp,RHOG,NG,1,ierr)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!$acc end host_data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・OpenACC管理配列のdevice pointerをcuFFTへ直接渡す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・forward FFTとbatch FFTにも同じ境界を使用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・CPU/FFTW側は互換entryを維持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F2AF1C3-DDC9-497D-BAA2-F6E45C4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B8939CB-C1E8-4B46-974A-FE8910DC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715568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4B4E883-DF11-4BD4-B1F4-A1E10278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BD94E5-9182-432D-9446-43C78D49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bandごとのFFTをbatch化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C08A73B-0490-4879-81E5-7E5F3D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7">
            <a:extLst xmlns:a="http://schemas.openxmlformats.org/drawingml/2006/main">
              <a:ext uri="{FF2B5EF4-FFF2-40B4-BE49-F238E27FC236}">
                <a16:creationId xmlns:a16="http://schemas.microsoft.com/office/drawing/2014/main" id="{62BCD346-01F0-48AA-BCDC-02DB6CD4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変更前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do ib=nbegin,nend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CALL FFT3BX_fftwASL_ACC(...,RHO1_(1,iib),...)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enddo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変更後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CALL FFT3BX_fftwASL_ACC_BATCH(...,nbndloc,RHO1_,RHO2_,...)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・複数bandをcufftPlanManyで一括実行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・wrapper呼出しと同期を削減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89A4963-06E2-4B98-B21A-0A6025CB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E769A55-258F-4BD1-AAFC-90E18FDF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0001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A04F031-BE36-4A40-BA87-5479E1B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CF7A7A-DD23-49D0-ACCF-A10A2FCD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非局所kernelで原子順序を保持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7BE41CC-FF60-40F6-AF84-6DFBFA7A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8">
            <a:extLst xmlns:a="http://schemas.openxmlformats.org/drawingml/2006/main">
              <a:ext uri="{FF2B5EF4-FFF2-40B4-BE49-F238E27FC236}">
                <a16:creationId xmlns:a16="http://schemas.microsoft.com/office/drawing/2014/main" id="{46B7FA34-5331-455D-AF14-AE5134DC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!$acc parallel loop gang vector_length(256)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do iib = 1, nbndloc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!$acc loop seq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do ia = 1, loopcnt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ja = ia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if (reverse_order) ja = loopcnt-ia+1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...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!$acc loop vector reduction(+:sr,si)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do ig = 1, ngnl(ja)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  ...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end do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end do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end 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・band間を並列化し、各band内の逐次ia適用順を維持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90E35C0-278C-4F00-917E-FC47F644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1172A96-D25B-4716-8B9D-22F9B306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0274895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E65BC86-F47E-441C-940B-84BDE12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E0F755-5A6D-4071-959F-7685790A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OpenACC時の不要なHost復元を省略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835735E-0F36-408B-9C68-8F30C9A7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9">
            <a:extLst xmlns:a="http://schemas.openxmlformats.org/drawingml/2006/main">
              <a:ext uri="{FF2B5EF4-FFF2-40B4-BE49-F238E27FC236}">
                <a16:creationId xmlns:a16="http://schemas.microsoft.com/office/drawing/2014/main" id="{1E6F87B0-697B-44BF-B3DD-E5DCA59C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#ifndef _OPENACC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call coefcp(coef0(1,1,ik0),coef(1,1,ik0),ng2q*nblng)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#endif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OpenACC経路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device上のCOEF0が正本 → Host復元を省略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CPU/FFTW経路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従来のHost copyを維持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結果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約2.159秒 → 0.003秒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C030E2C-5F25-48C1-AD51-9E05A230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BA8FED6-52F9-44A8-B8B3-23194377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599974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9CA88DB-E3F0-4A90-BA57-85DB487E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C46058-0ECD-4528-BA18-1A7B674F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別テンプレートへ移す際の推奨手順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EA63416-4344-42CB-BB44-338FB446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20">
            <a:extLst xmlns:a="http://schemas.openxmlformats.org/drawingml/2006/main">
              <a:ext uri="{FF2B5EF4-FFF2-40B4-BE49-F238E27FC236}">
                <a16:creationId xmlns:a16="http://schemas.microsoft.com/office/drawing/2014/main" id="{0F7DA07B-C705-490D-AB95-75C9AC79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1　移行先テンプレートで新しいスライドを作成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2　本ファイルからタイトル、本文、図表をスライド単位でコピー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3　移行先のレイアウトに合わせて「貼り付け先のテーマを使用」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4　グラフと表はPowerPointオブジェクトのまま貼り付け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5　発表者ノートをコピーし、末尾の[Sources]も保持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本ファイルは背景画像、特殊フォント、複雑なマスター依存を使用していない。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C5B6680-10B9-4E14-861D-129C9551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40A4DE4-D609-453F-8BB5-1C30DC0D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9838963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20C4C20-8F1A-4000-8C56-B7DB3AE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D1357E-22AF-48AA-989A-BA64E0E2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数値と実装情報の出典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07782F1-28B2-42F3-A772-B7611A35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21">
            <a:extLst xmlns:a="http://schemas.openxmlformats.org/drawingml/2006/main">
              <a:ext uri="{FF2B5EF4-FFF2-40B4-BE49-F238E27FC236}">
                <a16:creationId xmlns:a16="http://schemas.microsoft.com/office/drawing/2014/main" id="{098B2947-1F0B-4B75-851E-6B99CFD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正式baseline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docs/PERFORMANCE_BASELINE.md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採否と各Stepの履歴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docs/EXPERIMENT_LOG.md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現在地点と保留事項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docs/HANDOFF.md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GPU化率と実装履歴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docs/tddft_gpu_progress_summary_ja.md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原稿</a:t>
            </a:r>
          </a:p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docs/POWERPOINT_GPU_IMPLEMENTATION_SUMMARY_JA.md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02D539D-B291-4671-9D0B-2DAD3682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832C4F7-FB58-48DC-A06F-937A346A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903263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2026-08-04T00:01:59.2530000Z</dcterms:created>
  <dcterms:modified xsi:type="dcterms:W3CDTF">2026-08-04T00:01:59.2530000Z</dcterms:modified>
</coreProperties>
</file>